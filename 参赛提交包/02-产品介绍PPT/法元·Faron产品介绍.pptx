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57" r:id="rId3"/>
    <p:sldId id="270" r:id="rId4"/>
    <p:sldId id="260" r:id="rId5"/>
    <p:sldId id="264" r:id="rId6"/>
    <p:sldId id="265" r:id="rId7"/>
    <p:sldId id="272" r:id="rId8"/>
    <p:sldId id="304" r:id="rId9"/>
    <p:sldId id="261" r:id="rId10"/>
    <p:sldId id="308" r:id="rId11"/>
    <p:sldId id="309" r:id="rId12"/>
    <p:sldId id="310" r:id="rId13"/>
    <p:sldId id="312" r:id="rId14"/>
    <p:sldId id="311" r:id="rId15"/>
    <p:sldId id="305" r:id="rId16"/>
    <p:sldId id="271" r:id="rId17"/>
    <p:sldId id="259" r:id="rId18"/>
    <p:sldId id="269" r:id="rId19"/>
    <p:sldId id="262" r:id="rId20"/>
    <p:sldId id="267" r:id="rId21"/>
    <p:sldId id="263" r:id="rId22"/>
    <p:sldId id="307" r:id="rId23"/>
    <p:sldId id="276" r:id="rId24"/>
    <p:sldId id="306" r:id="rId25"/>
    <p:sldId id="274" r:id="rId26"/>
    <p:sldId id="268" r:id="rId27"/>
    <p:sldId id="313" r:id="rId28"/>
    <p:sldId id="277" r:id="rId29"/>
  </p:sldIdLst>
  <p:sldSz cx="12192000" cy="6858000"/>
  <p:notesSz cx="6858000" cy="9144000"/>
  <p:embeddedFontLst>
    <p:embeddedFont>
      <p:font typeface="Source Han Sans CN Bold" panose="02010600030101010101" charset="-122"/>
      <p:bold r:id="rId31"/>
    </p:embeddedFont>
    <p:embeddedFont>
      <p:font typeface="Noto Sans SC" panose="020B0200000000000000" pitchFamily="34" charset="-122"/>
      <p:regular r:id="rId32"/>
      <p:bold r:id="rId33"/>
    </p:embeddedFont>
    <p:embeddedFont>
      <p:font typeface="Noto Serif SC" panose="02020200000000000000" pitchFamily="18" charset="-122"/>
      <p:regular r:id="rId34"/>
      <p:bold r:id="rId35"/>
    </p:embeddedFont>
    <p:embeddedFont>
      <p:font typeface="等线" panose="02010600030101010101" pitchFamily="2" charset="-122"/>
      <p:regular r:id="rId36"/>
      <p:bold r:id="rId37"/>
    </p:embeddedFont>
    <p:embeddedFont>
      <p:font typeface="等线" panose="02010600030101010101" pitchFamily="2" charset="-122"/>
      <p:regular r:id="rId36"/>
      <p:bold r:id="rId37"/>
    </p:embeddedFont>
    <p:embeddedFont>
      <p:font typeface="华文细黑" panose="02010600040101010101" pitchFamily="2" charset="-122"/>
      <p:regular r:id="rId38"/>
    </p:embeddedFont>
  </p:embeddedFontLst>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5242159365 姜雪贞" initials="1姜" lastIdx="0" clrIdx="0">
    <p:extLst>
      <p:ext uri="{19B8F6BF-5375-455C-9EA6-DF929625EA0E}">
        <p15:presenceInfo xmlns:p15="http://schemas.microsoft.com/office/powerpoint/2012/main" userId="9bfebb2776d7f3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5E5"/>
    <a:srgbClr val="FF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5625" autoAdjust="0"/>
  </p:normalViewPr>
  <p:slideViewPr>
    <p:cSldViewPr snapToGrid="0" showGuides="1">
      <p:cViewPr varScale="1">
        <p:scale>
          <a:sx n="109" d="100"/>
          <a:sy n="109" d="100"/>
        </p:scale>
        <p:origin x="80" y="352"/>
      </p:cViewPr>
      <p:guideLst>
        <p:guide orient="horz" pos="2137"/>
        <p:guide pos="3840"/>
      </p:guideLst>
    </p:cSldViewPr>
  </p:slideViewPr>
  <p:notesTextViewPr>
    <p:cViewPr>
      <p:scale>
        <a:sx n="1" d="1"/>
        <a:sy n="1" d="1"/>
      </p:scale>
      <p:origin x="0" y="0"/>
    </p:cViewPr>
  </p:notesTextViewPr>
  <p:sorterViewPr>
    <p:cViewPr>
      <p:scale>
        <a:sx n="100" d="100"/>
        <a:sy n="100" d="100"/>
      </p:scale>
      <p:origin x="0" y="-4584"/>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子航 林" userId="4d45f459c19708da" providerId="LiveId" clId="{BF745768-D1BB-4E64-ADB1-75FA09ED285C}"/>
    <pc:docChg chg="custSel modSld">
      <pc:chgData name="子航 林" userId="4d45f459c19708da" providerId="LiveId" clId="{BF745768-D1BB-4E64-ADB1-75FA09ED285C}" dt="2026-09-17T08:17:25.261" v="5" actId="478"/>
      <pc:docMkLst>
        <pc:docMk/>
      </pc:docMkLst>
      <pc:sldChg chg="delSp modSp mod">
        <pc:chgData name="子航 林" userId="4d45f459c19708da" providerId="LiveId" clId="{BF745768-D1BB-4E64-ADB1-75FA09ED285C}" dt="2026-09-17T08:17:25.261" v="5" actId="478"/>
        <pc:sldMkLst>
          <pc:docMk/>
          <pc:sldMk cId="1311568334" sldId="313"/>
        </pc:sldMkLst>
        <pc:spChg chg="mod">
          <ac:chgData name="子航 林" userId="4d45f459c19708da" providerId="LiveId" clId="{BF745768-D1BB-4E64-ADB1-75FA09ED285C}" dt="2026-09-17T08:17:17.610" v="2" actId="20577"/>
          <ac:spMkLst>
            <pc:docMk/>
            <pc:sldMk cId="1311568334" sldId="313"/>
            <ac:spMk id="25" creationId="{333CEFE6-D892-BF36-93AE-38E963AB8080}"/>
          </ac:spMkLst>
        </pc:spChg>
        <pc:spChg chg="del">
          <ac:chgData name="子航 林" userId="4d45f459c19708da" providerId="LiveId" clId="{BF745768-D1BB-4E64-ADB1-75FA09ED285C}" dt="2026-09-17T08:17:25.261" v="5" actId="478"/>
          <ac:spMkLst>
            <pc:docMk/>
            <pc:sldMk cId="1311568334" sldId="313"/>
            <ac:spMk id="46" creationId="{496126C0-5A6F-339B-F027-2FDA021FD058}"/>
          </ac:spMkLst>
        </pc:spChg>
        <pc:spChg chg="mod">
          <ac:chgData name="子航 林" userId="4d45f459c19708da" providerId="LiveId" clId="{BF745768-D1BB-4E64-ADB1-75FA09ED285C}" dt="2026-09-17T08:16:59.532" v="0" actId="404"/>
          <ac:spMkLst>
            <pc:docMk/>
            <pc:sldMk cId="1311568334" sldId="313"/>
            <ac:spMk id="48" creationId="{036BB2D7-B910-36B9-159D-5E0307770C80}"/>
          </ac:spMkLst>
        </pc:spChg>
        <pc:spChg chg="del mod">
          <ac:chgData name="子航 林" userId="4d45f459c19708da" providerId="LiveId" clId="{BF745768-D1BB-4E64-ADB1-75FA09ED285C}" dt="2026-09-17T08:17:23.563" v="4" actId="478"/>
          <ac:spMkLst>
            <pc:docMk/>
            <pc:sldMk cId="1311568334" sldId="313"/>
            <ac:spMk id="52" creationId="{1EF35A42-2D40-9000-7147-B6FDAACD74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DDCC76-4B9B-4320-9779-1CD0C97B30D2}" type="datetimeFigureOut">
              <a:rPr lang="zh-CN" altLang="en-US" smtClean="0"/>
              <a:t>2026/9/18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6666B-BDFA-456C-A655-68742A1AA57D}" type="slidenum">
              <a:rPr lang="zh-CN" altLang="en-US" smtClean="0"/>
              <a:t>‹#›</a:t>
            </a:fld>
            <a:endParaRPr lang="zh-CN" altLang="en-US"/>
          </a:p>
        </p:txBody>
      </p:sp>
    </p:spTree>
    <p:extLst>
      <p:ext uri="{BB962C8B-B14F-4D97-AF65-F5344CB8AC3E}">
        <p14:creationId xmlns:p14="http://schemas.microsoft.com/office/powerpoint/2010/main" val="186828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7D6666B-BDFA-456C-A655-68742A1AA57D}" type="slidenum">
              <a:rPr lang="zh-CN" altLang="en-US" smtClean="0"/>
              <a:t>2</a:t>
            </a:fld>
            <a:endParaRPr lang="zh-CN" altLang="en-US"/>
          </a:p>
        </p:txBody>
      </p:sp>
    </p:spTree>
    <p:extLst>
      <p:ext uri="{BB962C8B-B14F-4D97-AF65-F5344CB8AC3E}">
        <p14:creationId xmlns:p14="http://schemas.microsoft.com/office/powerpoint/2010/main" val="1432246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7C1093-8FDC-482A-932D-CBF02DB5CCC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4CC49BA-58B4-48A3-8E08-C9E4246CD6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E5F72F4-0388-414E-BC8C-896CFB0BD7BD}"/>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4D37161C-7E34-4AFF-8D52-31FB5F5D07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C6B8C3-9459-4DBE-91BA-527CB4619CC3}"/>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312646517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E94F8-90C3-4319-AA0B-51BB617ADB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EF3AEE2-0602-4099-900D-D9925CF03BD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DC335F-3867-46E2-BCC9-D9507F8D3CA2}"/>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84E315EF-0D84-4CBC-BAB8-D9590CBDFD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DB5BA4-3654-4FBE-9621-B085B5F33B62}"/>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285043145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C1F4E1-CE17-467A-90A1-B254896533C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BDE7AB1-8D7B-4E66-AC30-133881C5D8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ED18C43-C68F-4A56-94FB-E9E3AF94F51A}"/>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F1DD979F-BCE3-41AC-AD4A-8ADF71B508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1B3322-04AE-4229-AE10-F8BDC26C647E}"/>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379975049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5A909-DAD8-4BAE-81DA-E5257C95DB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EF24505-B234-4F47-B5C8-7D82B053273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CB01B82-A339-4956-953D-5AF051549F2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2D13200-F128-4E90-9C5A-44CA39B5F902}"/>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6" name="页脚占位符 5">
            <a:extLst>
              <a:ext uri="{FF2B5EF4-FFF2-40B4-BE49-F238E27FC236}">
                <a16:creationId xmlns:a16="http://schemas.microsoft.com/office/drawing/2014/main" id="{2155CAC3-6924-4487-A6C9-92D6664307F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1A20D93-D616-4941-B451-D370CEBBE92A}"/>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361568988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E1E7D-CBEC-438D-9B93-2B3016390B6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CB2AC8-7F08-49A6-B962-736489C09F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30FA438-C410-47FD-96BD-6B472EB550A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E1CFEBD-601C-41FF-94E7-04C112845C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9E81C43-2923-48C1-A773-38185EE278E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4DB32B8-EE99-4D80-B673-32EA431395B4}"/>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8" name="页脚占位符 7">
            <a:extLst>
              <a:ext uri="{FF2B5EF4-FFF2-40B4-BE49-F238E27FC236}">
                <a16:creationId xmlns:a16="http://schemas.microsoft.com/office/drawing/2014/main" id="{51871A55-80C6-4AC3-A1FF-DAE0805C8EC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C6F7770-6D0B-4F0B-B01C-B61EABBE461B}"/>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33987725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59B642-1A9E-46E8-B7C0-7CB37CC4D74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2C726FF-84B3-4375-868D-B63945B0C4B2}"/>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4" name="页脚占位符 3">
            <a:extLst>
              <a:ext uri="{FF2B5EF4-FFF2-40B4-BE49-F238E27FC236}">
                <a16:creationId xmlns:a16="http://schemas.microsoft.com/office/drawing/2014/main" id="{360B8D24-5164-4084-86E9-55D2D3C6E35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F5F09D0-1DEA-4B9C-B7ED-0AD7C94D9FC1}"/>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9474456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D2F45A-D632-4843-B99F-CD04542700FB}"/>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3" name="页脚占位符 2">
            <a:extLst>
              <a:ext uri="{FF2B5EF4-FFF2-40B4-BE49-F238E27FC236}">
                <a16:creationId xmlns:a16="http://schemas.microsoft.com/office/drawing/2014/main" id="{710EC1C8-277F-4169-A25A-DA2900C78EF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506B928-FDA0-44BF-A360-05FE145339B3}"/>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27154936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8B2B41-1B2C-4B32-8E55-AC399707DCE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B29849-AE89-4DE6-BEF2-E396C98120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408D456-C351-4053-9A5A-CE29A833B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2220658-AC59-4533-BCFA-65BD81778CE8}"/>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6" name="页脚占位符 5">
            <a:extLst>
              <a:ext uri="{FF2B5EF4-FFF2-40B4-BE49-F238E27FC236}">
                <a16:creationId xmlns:a16="http://schemas.microsoft.com/office/drawing/2014/main" id="{2288EF41-6AF4-45AD-AE78-B1E70BC99BA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32ED63-A43E-4DC4-9576-5D7AED299A80}"/>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217789813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8E3457-58CE-46CB-A467-11D233E5EF0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EB921D0-1DAB-4001-B838-507869A79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E0506AA-9BA8-4118-BA1A-4512CBCC8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098DE5-6544-4229-8C20-D485E19CE931}"/>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6" name="页脚占位符 5">
            <a:extLst>
              <a:ext uri="{FF2B5EF4-FFF2-40B4-BE49-F238E27FC236}">
                <a16:creationId xmlns:a16="http://schemas.microsoft.com/office/drawing/2014/main" id="{5B8E1418-BE38-46ED-A2A5-EA940A3D0FA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122C8BD-1EAF-472F-BE7F-76F8524735FD}"/>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331066669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954BB-EA6F-48DA-A971-D89C6995EA6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56409B9-FBE7-483E-91A8-42FEEFDE104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2442A1-B674-4EB4-9E37-AFB4EE9EB689}"/>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A631AFDE-934A-496A-AE00-D64381B81B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1263E2-F80A-4F77-9A10-18C6AFEE4881}"/>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76347575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5CEF7C2-32D0-4E7F-8DF1-553668C8B00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C247EA0-691B-416E-974C-0E490BE90B9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C90B7E-B669-4451-B1E9-0C19CDA39585}"/>
              </a:ext>
            </a:extLst>
          </p:cNvPr>
          <p:cNvSpPr>
            <a:spLocks noGrp="1"/>
          </p:cNvSpPr>
          <p:nvPr>
            <p:ph type="dt" sz="half" idx="10"/>
          </p:nvPr>
        </p:nvSpPr>
        <p:spPr/>
        <p:txBody>
          <a:bodyPr/>
          <a:lstStyle/>
          <a:p>
            <a:fld id="{7C5B18FD-58A5-4BDB-966B-974BF6779501}"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C30AE42B-C1F4-44B5-9977-3F06E98085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93AD25-79EA-477B-BFB3-F5F722810823}"/>
              </a:ext>
            </a:extLst>
          </p:cNvPr>
          <p:cNvSpPr>
            <a:spLocks noGrp="1"/>
          </p:cNvSpPr>
          <p:nvPr>
            <p:ph type="sldNum" sz="quarter" idx="12"/>
          </p:nvPr>
        </p:nvSpPr>
        <p:spPr/>
        <p:txBody>
          <a:body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52488834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35B4134-E19E-4527-A71A-95A93FAEA9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5A1B97F-A39C-44DD-AD3F-6981021A5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A8AB24-558B-4E30-8B40-927A3AD090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5B18FD-58A5-4BDB-966B-974BF6779501}" type="datetimeFigureOut">
              <a:rPr lang="zh-CN" altLang="en-US" smtClean="0"/>
              <a:t>2026/9/18</a:t>
            </a:fld>
            <a:endParaRPr lang="zh-CN" altLang="en-US"/>
          </a:p>
        </p:txBody>
      </p:sp>
      <p:sp>
        <p:nvSpPr>
          <p:cNvPr id="5" name="页脚占位符 4">
            <a:extLst>
              <a:ext uri="{FF2B5EF4-FFF2-40B4-BE49-F238E27FC236}">
                <a16:creationId xmlns:a16="http://schemas.microsoft.com/office/drawing/2014/main" id="{DA3E41DF-60CF-437E-BD74-3FE933C8D4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CE44DEF-851F-4DF9-A0F9-DE3ADD245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1F254E-6790-49C1-8D20-46ADB9CC6638}" type="slidenum">
              <a:rPr lang="zh-CN" altLang="en-US" smtClean="0"/>
              <a:t>‹#›</a:t>
            </a:fld>
            <a:endParaRPr lang="zh-CN" altLang="en-US"/>
          </a:p>
        </p:txBody>
      </p:sp>
    </p:spTree>
    <p:extLst>
      <p:ext uri="{BB962C8B-B14F-4D97-AF65-F5344CB8AC3E}">
        <p14:creationId xmlns:p14="http://schemas.microsoft.com/office/powerpoint/2010/main" val="2144333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4.svg"/><Relationship Id="rId7" Type="http://schemas.openxmlformats.org/officeDocument/2006/relationships/image" Target="../media/image3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29.svg"/><Relationship Id="rId4" Type="http://schemas.openxmlformats.org/officeDocument/2006/relationships/image" Target="../media/image35.svg"/></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2.emf"/></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2.emf"/></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2.emf"/></Relationships>
</file>

<file path=ppt/slides/_rels/slide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2A02BF2-B5FA-40E0-B0AE-07D2BBBB75E6}"/>
              </a:ext>
            </a:extLst>
          </p:cNvPr>
          <p:cNvSpPr/>
          <p:nvPr/>
        </p:nvSpPr>
        <p:spPr>
          <a:xfrm>
            <a:off x="0" y="0"/>
            <a:ext cx="12192000"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2BF98602-F2CA-458E-BD30-EAD46A261B44}"/>
              </a:ext>
            </a:extLst>
          </p:cNvPr>
          <p:cNvPicPr>
            <a:picLocks noChangeAspect="1"/>
          </p:cNvPicPr>
          <p:nvPr/>
        </p:nvPicPr>
        <p:blipFill>
          <a:blip r:embed="rId2"/>
          <a:stretch>
            <a:fillRect/>
          </a:stretch>
        </p:blipFill>
        <p:spPr>
          <a:xfrm>
            <a:off x="-3290" y="-1"/>
            <a:ext cx="5090196" cy="5992427"/>
          </a:xfrm>
          <a:prstGeom prst="rect">
            <a:avLst/>
          </a:prstGeom>
        </p:spPr>
      </p:pic>
      <p:pic>
        <p:nvPicPr>
          <p:cNvPr id="10" name="图片 9">
            <a:extLst>
              <a:ext uri="{FF2B5EF4-FFF2-40B4-BE49-F238E27FC236}">
                <a16:creationId xmlns:a16="http://schemas.microsoft.com/office/drawing/2014/main" id="{74CAF214-996F-4710-8AC1-C0081DBFBC72}"/>
              </a:ext>
            </a:extLst>
          </p:cNvPr>
          <p:cNvPicPr>
            <a:picLocks noChangeAspect="1"/>
          </p:cNvPicPr>
          <p:nvPr/>
        </p:nvPicPr>
        <p:blipFill>
          <a:blip r:embed="rId3"/>
          <a:stretch>
            <a:fillRect/>
          </a:stretch>
        </p:blipFill>
        <p:spPr>
          <a:xfrm>
            <a:off x="983229" y="3012637"/>
            <a:ext cx="2860802" cy="3845363"/>
          </a:xfrm>
          <a:prstGeom prst="rect">
            <a:avLst/>
          </a:prstGeom>
        </p:spPr>
      </p:pic>
      <p:pic>
        <p:nvPicPr>
          <p:cNvPr id="12" name="图片 11">
            <a:extLst>
              <a:ext uri="{FF2B5EF4-FFF2-40B4-BE49-F238E27FC236}">
                <a16:creationId xmlns:a16="http://schemas.microsoft.com/office/drawing/2014/main" id="{E875A63C-B805-4410-B53C-388D4060ED02}"/>
              </a:ext>
            </a:extLst>
          </p:cNvPr>
          <p:cNvPicPr>
            <a:picLocks noChangeAspect="1"/>
          </p:cNvPicPr>
          <p:nvPr/>
        </p:nvPicPr>
        <p:blipFill>
          <a:blip r:embed="rId4"/>
          <a:stretch>
            <a:fillRect/>
          </a:stretch>
        </p:blipFill>
        <p:spPr>
          <a:xfrm>
            <a:off x="3574697" y="8878"/>
            <a:ext cx="8643938" cy="6858000"/>
          </a:xfrm>
          <a:prstGeom prst="rect">
            <a:avLst/>
          </a:prstGeom>
        </p:spPr>
      </p:pic>
      <p:pic>
        <p:nvPicPr>
          <p:cNvPr id="14" name="图片 13">
            <a:extLst>
              <a:ext uri="{FF2B5EF4-FFF2-40B4-BE49-F238E27FC236}">
                <a16:creationId xmlns:a16="http://schemas.microsoft.com/office/drawing/2014/main" id="{E970FD8E-997F-4078-B496-AB5ED2040D74}"/>
              </a:ext>
            </a:extLst>
          </p:cNvPr>
          <p:cNvPicPr>
            <a:picLocks noChangeAspect="1"/>
          </p:cNvPicPr>
          <p:nvPr/>
        </p:nvPicPr>
        <p:blipFill>
          <a:blip r:embed="rId5"/>
          <a:stretch>
            <a:fillRect/>
          </a:stretch>
        </p:blipFill>
        <p:spPr>
          <a:xfrm>
            <a:off x="6312171" y="3977278"/>
            <a:ext cx="5879829" cy="2880722"/>
          </a:xfrm>
          <a:prstGeom prst="rect">
            <a:avLst/>
          </a:prstGeom>
        </p:spPr>
      </p:pic>
      <p:sp>
        <p:nvSpPr>
          <p:cNvPr id="15" name="文本框 14">
            <a:extLst>
              <a:ext uri="{FF2B5EF4-FFF2-40B4-BE49-F238E27FC236}">
                <a16:creationId xmlns:a16="http://schemas.microsoft.com/office/drawing/2014/main" id="{80CB48B0-31F7-4CC9-8D61-CF80DB2DC81C}"/>
              </a:ext>
            </a:extLst>
          </p:cNvPr>
          <p:cNvSpPr txBox="1"/>
          <p:nvPr/>
        </p:nvSpPr>
        <p:spPr>
          <a:xfrm>
            <a:off x="1271821" y="1346625"/>
            <a:ext cx="8904111" cy="1514197"/>
          </a:xfrm>
          <a:prstGeom prst="rect">
            <a:avLst/>
          </a:prstGeom>
          <a:noFill/>
        </p:spPr>
        <p:txBody>
          <a:bodyPr wrap="square" rtlCol="0">
            <a:spAutoFit/>
          </a:bodyPr>
          <a:lstStyle/>
          <a:p>
            <a:pPr>
              <a:lnSpc>
                <a:spcPct val="125000"/>
              </a:lnSpc>
              <a:defRPr/>
            </a:pPr>
            <a:r>
              <a:rPr lang="en-US" altLang="zh-CN" sz="8000" b="1" dirty="0">
                <a:solidFill>
                  <a:srgbClr val="FFFFFF"/>
                </a:solidFill>
                <a:latin typeface="Noto Sans SC"/>
                <a:ea typeface="Noto Sans SC"/>
                <a:cs typeface="Noto Sans SC"/>
                <a:sym typeface="Noto Sans SC"/>
              </a:rPr>
              <a:t>法元 · Faron</a:t>
            </a:r>
            <a:endParaRPr lang="en-US" altLang="zh-CN" sz="8000" dirty="0"/>
          </a:p>
        </p:txBody>
      </p:sp>
      <p:sp>
        <p:nvSpPr>
          <p:cNvPr id="16" name="文本框 15">
            <a:extLst>
              <a:ext uri="{FF2B5EF4-FFF2-40B4-BE49-F238E27FC236}">
                <a16:creationId xmlns:a16="http://schemas.microsoft.com/office/drawing/2014/main" id="{84E74801-8495-4372-8E48-06F9EC6DEE8B}"/>
              </a:ext>
            </a:extLst>
          </p:cNvPr>
          <p:cNvSpPr txBox="1"/>
          <p:nvPr/>
        </p:nvSpPr>
        <p:spPr>
          <a:xfrm>
            <a:off x="1328230" y="3131139"/>
            <a:ext cx="7656805" cy="661015"/>
          </a:xfrm>
          <a:prstGeom prst="rect">
            <a:avLst/>
          </a:prstGeom>
          <a:noFill/>
        </p:spPr>
        <p:txBody>
          <a:bodyPr wrap="square" rtlCol="0">
            <a:spAutoFit/>
          </a:bodyPr>
          <a:lstStyle/>
          <a:p>
            <a:pPr>
              <a:lnSpc>
                <a:spcPct val="125000"/>
              </a:lnSpc>
              <a:defRPr/>
            </a:pPr>
            <a:r>
              <a:rPr lang="en-US" altLang="zh-CN" sz="3200" b="1" dirty="0" err="1">
                <a:solidFill>
                  <a:srgbClr val="FFFFFF"/>
                </a:solidFill>
                <a:latin typeface="Noto Sans SC"/>
                <a:ea typeface="Noto Sans SC"/>
                <a:cs typeface="Noto Sans SC"/>
                <a:sym typeface="Noto Sans SC"/>
              </a:rPr>
              <a:t>智能听懂</a:t>
            </a:r>
            <a:r>
              <a:rPr lang="en-US" altLang="zh-CN" sz="3200" b="1" dirty="0">
                <a:solidFill>
                  <a:srgbClr val="FFFFFF"/>
                </a:solidFill>
                <a:latin typeface="Noto Sans SC"/>
                <a:ea typeface="Noto Sans SC"/>
                <a:cs typeface="Noto Sans SC"/>
                <a:sym typeface="Noto Sans SC"/>
              </a:rPr>
              <a:t> | </a:t>
            </a:r>
            <a:r>
              <a:rPr lang="en-US" altLang="zh-CN" sz="3200" b="1" dirty="0" err="1">
                <a:solidFill>
                  <a:srgbClr val="FFFFFF"/>
                </a:solidFill>
                <a:latin typeface="Noto Sans SC"/>
                <a:ea typeface="Noto Sans SC"/>
                <a:cs typeface="Noto Sans SC"/>
                <a:sym typeface="Noto Sans SC"/>
              </a:rPr>
              <a:t>权威检索</a:t>
            </a:r>
            <a:r>
              <a:rPr lang="en-US" altLang="zh-CN" sz="3200" b="1" dirty="0">
                <a:solidFill>
                  <a:srgbClr val="FFFFFF"/>
                </a:solidFill>
                <a:latin typeface="Noto Sans SC"/>
                <a:ea typeface="Noto Sans SC"/>
                <a:cs typeface="Noto Sans SC"/>
                <a:sym typeface="Noto Sans SC"/>
              </a:rPr>
              <a:t> | </a:t>
            </a:r>
            <a:r>
              <a:rPr lang="en-US" altLang="zh-CN" sz="3200" b="1" dirty="0" err="1">
                <a:solidFill>
                  <a:srgbClr val="FFFFFF"/>
                </a:solidFill>
                <a:latin typeface="Noto Sans SC"/>
                <a:ea typeface="Noto Sans SC"/>
                <a:cs typeface="Noto Sans SC"/>
                <a:sym typeface="Noto Sans SC"/>
              </a:rPr>
              <a:t>文书智造</a:t>
            </a:r>
            <a:r>
              <a:rPr lang="en-US" altLang="zh-CN" sz="3200" b="1" dirty="0">
                <a:solidFill>
                  <a:srgbClr val="FFFFFF"/>
                </a:solidFill>
                <a:latin typeface="Noto Sans SC"/>
                <a:ea typeface="Noto Sans SC"/>
                <a:cs typeface="Noto Sans SC"/>
                <a:sym typeface="Noto Sans SC"/>
              </a:rPr>
              <a:t> | </a:t>
            </a:r>
            <a:r>
              <a:rPr lang="en-US" altLang="zh-CN" sz="3200" b="1" dirty="0" err="1">
                <a:solidFill>
                  <a:srgbClr val="FFFFFF"/>
                </a:solidFill>
                <a:latin typeface="Noto Sans SC"/>
                <a:ea typeface="Noto Sans SC"/>
                <a:cs typeface="Noto Sans SC"/>
                <a:sym typeface="Noto Sans SC"/>
              </a:rPr>
              <a:t>安全可控</a:t>
            </a:r>
            <a:endParaRPr lang="en-US" altLang="zh-CN" sz="3200" dirty="0"/>
          </a:p>
        </p:txBody>
      </p:sp>
      <p:sp>
        <p:nvSpPr>
          <p:cNvPr id="20" name="文本框 19">
            <a:extLst>
              <a:ext uri="{FF2B5EF4-FFF2-40B4-BE49-F238E27FC236}">
                <a16:creationId xmlns:a16="http://schemas.microsoft.com/office/drawing/2014/main" id="{F0368627-4B0E-47D9-85C3-E0F432106D3C}"/>
              </a:ext>
            </a:extLst>
          </p:cNvPr>
          <p:cNvSpPr txBox="1"/>
          <p:nvPr/>
        </p:nvSpPr>
        <p:spPr>
          <a:xfrm>
            <a:off x="1328230" y="4198569"/>
            <a:ext cx="5464763" cy="581185"/>
          </a:xfrm>
          <a:prstGeom prst="rect">
            <a:avLst/>
          </a:prstGeom>
          <a:noFill/>
        </p:spPr>
        <p:txBody>
          <a:bodyPr wrap="square" rtlCol="0">
            <a:spAutoFit/>
          </a:bodyPr>
          <a:lstStyle/>
          <a:p>
            <a:pPr>
              <a:lnSpc>
                <a:spcPct val="150000"/>
              </a:lnSpc>
            </a:pPr>
            <a:r>
              <a:rPr lang="en-US" altLang="zh-CN" sz="2400" b="1" spc="200" dirty="0" err="1">
                <a:solidFill>
                  <a:srgbClr val="C00000"/>
                </a:solidFill>
                <a:latin typeface="Noto Sans SC"/>
                <a:ea typeface="Noto Sans SC"/>
                <a:cs typeface="Noto Sans SC"/>
                <a:sym typeface="Noto Sans SC"/>
              </a:rPr>
              <a:t>本地化涉外办案「数字员工</a:t>
            </a:r>
            <a:r>
              <a:rPr lang="en-US" altLang="zh-CN" sz="2400" b="1" spc="200" dirty="0">
                <a:solidFill>
                  <a:srgbClr val="C00000"/>
                </a:solidFill>
                <a:latin typeface="Noto Sans SC"/>
                <a:ea typeface="Noto Sans SC"/>
                <a:cs typeface="Noto Sans SC"/>
                <a:sym typeface="Noto Sans SC"/>
              </a:rPr>
              <a:t> 」</a:t>
            </a:r>
            <a:endParaRPr lang="zh-CN" altLang="en-US" sz="2400" b="1" dirty="0">
              <a:solidFill>
                <a:srgbClr val="C00000"/>
              </a:solidFill>
              <a:latin typeface="思源黑体 CN ExtraLight" panose="020B0200000000000000" pitchFamily="34" charset="-122"/>
              <a:ea typeface="思源黑体 CN ExtraLight" panose="020B0200000000000000" pitchFamily="34" charset="-122"/>
            </a:endParaRPr>
          </a:p>
        </p:txBody>
      </p:sp>
      <p:sp>
        <p:nvSpPr>
          <p:cNvPr id="21" name="文本框 20">
            <a:extLst>
              <a:ext uri="{FF2B5EF4-FFF2-40B4-BE49-F238E27FC236}">
                <a16:creationId xmlns:a16="http://schemas.microsoft.com/office/drawing/2014/main" id="{78B3B4A4-6790-4833-9084-D587C6DBA10D}"/>
              </a:ext>
            </a:extLst>
          </p:cNvPr>
          <p:cNvSpPr txBox="1"/>
          <p:nvPr/>
        </p:nvSpPr>
        <p:spPr>
          <a:xfrm>
            <a:off x="1328230" y="5172821"/>
            <a:ext cx="8259463" cy="338554"/>
          </a:xfrm>
          <a:prstGeom prst="rect">
            <a:avLst/>
          </a:prstGeom>
          <a:noFill/>
        </p:spPr>
        <p:txBody>
          <a:bodyPr wrap="square" rtlCol="0">
            <a:spAutoFit/>
          </a:bodyPr>
          <a:lstStyle/>
          <a:p>
            <a:r>
              <a:rPr lang="zh-CN" altLang="en-US" sz="1600" dirty="0">
                <a:solidFill>
                  <a:schemeClr val="bg1"/>
                </a:solidFill>
                <a:latin typeface="华文细黑" panose="02010600040101010101" pitchFamily="2" charset="-122"/>
                <a:ea typeface="华文细黑" panose="02010600040101010101" pitchFamily="2" charset="-122"/>
              </a:rPr>
              <a:t>参赛人员：</a:t>
            </a:r>
            <a:r>
              <a:rPr lang="en-US" altLang="zh-CN" sz="1600" dirty="0">
                <a:solidFill>
                  <a:schemeClr val="bg1"/>
                </a:solidFill>
                <a:latin typeface="华文细黑" panose="02010600040101010101" pitchFamily="2" charset="-122"/>
                <a:ea typeface="华文细黑" panose="02010600040101010101" pitchFamily="2" charset="-122"/>
              </a:rPr>
              <a:t>      </a:t>
            </a:r>
            <a:r>
              <a:rPr lang="zh-CN" altLang="en-US" sz="1600" dirty="0">
                <a:solidFill>
                  <a:schemeClr val="bg1"/>
                </a:solidFill>
                <a:latin typeface="华文细黑" panose="02010600040101010101" pitchFamily="2" charset="-122"/>
                <a:ea typeface="华文细黑" panose="02010600040101010101" pitchFamily="2" charset="-122"/>
              </a:rPr>
              <a:t>时间：</a:t>
            </a:r>
            <a:r>
              <a:rPr lang="en-US" altLang="zh-CN" sz="1600" dirty="0">
                <a:solidFill>
                  <a:schemeClr val="bg1"/>
                </a:solidFill>
                <a:latin typeface="华文细黑" panose="02010600040101010101" pitchFamily="2" charset="-122"/>
                <a:ea typeface="华文细黑" panose="02010600040101010101" pitchFamily="2" charset="-122"/>
              </a:rPr>
              <a:t>2026 </a:t>
            </a:r>
            <a:r>
              <a:rPr lang="zh-CN" altLang="en-US" sz="1600" dirty="0">
                <a:solidFill>
                  <a:schemeClr val="bg1"/>
                </a:solidFill>
                <a:latin typeface="华文细黑" panose="02010600040101010101" pitchFamily="2" charset="-122"/>
                <a:ea typeface="华文细黑" panose="02010600040101010101" pitchFamily="2" charset="-122"/>
              </a:rPr>
              <a:t>年 </a:t>
            </a:r>
            <a:r>
              <a:rPr lang="en-US" altLang="zh-CN" sz="1600" dirty="0">
                <a:solidFill>
                  <a:schemeClr val="bg1"/>
                </a:solidFill>
                <a:latin typeface="华文细黑" panose="02010600040101010101" pitchFamily="2" charset="-122"/>
                <a:ea typeface="华文细黑" panose="02010600040101010101" pitchFamily="2" charset="-122"/>
              </a:rPr>
              <a:t>9 </a:t>
            </a:r>
            <a:r>
              <a:rPr lang="zh-CN" altLang="en-US" sz="1600" dirty="0">
                <a:solidFill>
                  <a:schemeClr val="bg1"/>
                </a:solidFill>
                <a:latin typeface="华文细黑" panose="02010600040101010101" pitchFamily="2" charset="-122"/>
                <a:ea typeface="华文细黑" panose="02010600040101010101" pitchFamily="2" charset="-122"/>
              </a:rPr>
              <a:t>月 </a:t>
            </a:r>
            <a:r>
              <a:rPr lang="en-US" altLang="zh-CN" sz="1600" dirty="0">
                <a:solidFill>
                  <a:schemeClr val="bg1"/>
                </a:solidFill>
                <a:latin typeface="华文细黑" panose="02010600040101010101" pitchFamily="2" charset="-122"/>
                <a:ea typeface="华文细黑" panose="02010600040101010101" pitchFamily="2" charset="-122"/>
              </a:rPr>
              <a:t>14 </a:t>
            </a:r>
            <a:r>
              <a:rPr lang="zh-CN" altLang="en-US" sz="1600" dirty="0">
                <a:solidFill>
                  <a:schemeClr val="bg1"/>
                </a:solidFill>
                <a:latin typeface="华文细黑" panose="02010600040101010101" pitchFamily="2" charset="-122"/>
                <a:ea typeface="华文细黑" panose="02010600040101010101" pitchFamily="2" charset="-122"/>
              </a:rPr>
              <a:t>日          </a:t>
            </a:r>
          </a:p>
        </p:txBody>
      </p:sp>
      <p:pic>
        <p:nvPicPr>
          <p:cNvPr id="3" name="图片 2">
            <a:extLst>
              <a:ext uri="{FF2B5EF4-FFF2-40B4-BE49-F238E27FC236}">
                <a16:creationId xmlns:a16="http://schemas.microsoft.com/office/drawing/2014/main" id="{A0ED4281-F2ED-BD9D-2843-C7ED7FADFC76}"/>
              </a:ext>
            </a:extLst>
          </p:cNvPr>
          <p:cNvPicPr>
            <a:picLocks noChangeAspect="1"/>
          </p:cNvPicPr>
          <p:nvPr/>
        </p:nvPicPr>
        <p:blipFill>
          <a:blip r:embed="rId6">
            <a:extLst>
              <a:ext uri="{28A0092B-C50C-407E-A947-70E740481C1C}">
                <a14:useLocalDpi xmlns:a14="http://schemas.microsoft.com/office/drawing/2010/main" val="0"/>
              </a:ext>
            </a:extLst>
          </a:blip>
          <a:srcRect l="6724" t="4896" r="54348" b="57397"/>
          <a:stretch>
            <a:fillRect/>
          </a:stretch>
        </p:blipFill>
        <p:spPr>
          <a:xfrm>
            <a:off x="102451" y="138859"/>
            <a:ext cx="1123265" cy="1087975"/>
          </a:xfrm>
          <a:prstGeom prst="rect">
            <a:avLst/>
          </a:prstGeom>
        </p:spPr>
      </p:pic>
    </p:spTree>
    <p:extLst>
      <p:ext uri="{BB962C8B-B14F-4D97-AF65-F5344CB8AC3E}">
        <p14:creationId xmlns:p14="http://schemas.microsoft.com/office/powerpoint/2010/main" val="372161275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22736436-6ACB-4F04-B852-F05FF3A8BEDB}"/>
              </a:ext>
            </a:extLst>
          </p:cNvPr>
          <p:cNvSpPr/>
          <p:nvPr/>
        </p:nvSpPr>
        <p:spPr>
          <a:xfrm>
            <a:off x="0" y="-21866"/>
            <a:ext cx="12192000" cy="688874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A98CC6CB-3BB1-3951-3D75-950624FB268C}"/>
              </a:ext>
            </a:extLst>
          </p:cNvPr>
          <p:cNvSpPr/>
          <p:nvPr/>
        </p:nvSpPr>
        <p:spPr>
          <a:xfrm>
            <a:off x="-48415" y="431514"/>
            <a:ext cx="3086640" cy="209367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6B65FD0C-D760-4F6C-96BD-6BBE2F8AADF1}"/>
              </a:ext>
            </a:extLst>
          </p:cNvPr>
          <p:cNvPicPr>
            <a:picLocks noChangeAspect="1"/>
          </p:cNvPicPr>
          <p:nvPr/>
        </p:nvPicPr>
        <p:blipFill>
          <a:blip r:embed="rId3"/>
          <a:stretch>
            <a:fillRect/>
          </a:stretch>
        </p:blipFill>
        <p:spPr>
          <a:xfrm>
            <a:off x="3587820" y="8878"/>
            <a:ext cx="8643938" cy="6858000"/>
          </a:xfrm>
          <a:prstGeom prst="rect">
            <a:avLst/>
          </a:prstGeom>
        </p:spPr>
      </p:pic>
      <p:pic>
        <p:nvPicPr>
          <p:cNvPr id="7" name="图片 6">
            <a:extLst>
              <a:ext uri="{FF2B5EF4-FFF2-40B4-BE49-F238E27FC236}">
                <a16:creationId xmlns:a16="http://schemas.microsoft.com/office/drawing/2014/main" id="{5F1458E1-F506-4A15-A3EC-40BBC2C20655}"/>
              </a:ext>
            </a:extLst>
          </p:cNvPr>
          <p:cNvPicPr>
            <a:picLocks noChangeAspect="1"/>
          </p:cNvPicPr>
          <p:nvPr/>
        </p:nvPicPr>
        <p:blipFill>
          <a:blip r:embed="rId4"/>
          <a:stretch>
            <a:fillRect/>
          </a:stretch>
        </p:blipFill>
        <p:spPr>
          <a:xfrm>
            <a:off x="6312171" y="3977278"/>
            <a:ext cx="5879829" cy="2880722"/>
          </a:xfrm>
          <a:prstGeom prst="rect">
            <a:avLst/>
          </a:prstGeom>
        </p:spPr>
      </p:pic>
      <p:sp>
        <p:nvSpPr>
          <p:cNvPr id="9" name="文本框 8">
            <a:extLst>
              <a:ext uri="{FF2B5EF4-FFF2-40B4-BE49-F238E27FC236}">
                <a16:creationId xmlns:a16="http://schemas.microsoft.com/office/drawing/2014/main" id="{92D215A5-86FF-4B83-8277-083818422D29}"/>
              </a:ext>
            </a:extLst>
          </p:cNvPr>
          <p:cNvSpPr txBox="1"/>
          <p:nvPr/>
        </p:nvSpPr>
        <p:spPr>
          <a:xfrm>
            <a:off x="346883" y="645780"/>
            <a:ext cx="2296044" cy="1200329"/>
          </a:xfrm>
          <a:prstGeom prst="rect">
            <a:avLst/>
          </a:prstGeom>
          <a:noFill/>
        </p:spPr>
        <p:txBody>
          <a:bodyPr wrap="square" rtlCol="0">
            <a:spAutoFit/>
          </a:bodyPr>
          <a:lstStyle/>
          <a:p>
            <a:r>
              <a:rPr lang="zh-CN" altLang="en-US" sz="7200" dirty="0">
                <a:solidFill>
                  <a:schemeClr val="bg1"/>
                </a:solidFill>
                <a:latin typeface="Source Han Sans CN Bold"/>
                <a:ea typeface="Source Han Sans CN Bold"/>
              </a:rPr>
              <a:t>目录</a:t>
            </a:r>
          </a:p>
        </p:txBody>
      </p:sp>
      <p:sp>
        <p:nvSpPr>
          <p:cNvPr id="10" name="文本框 9">
            <a:extLst>
              <a:ext uri="{FF2B5EF4-FFF2-40B4-BE49-F238E27FC236}">
                <a16:creationId xmlns:a16="http://schemas.microsoft.com/office/drawing/2014/main" id="{E2666FAB-B762-4F44-B1EB-B3112FF31F5A}"/>
              </a:ext>
            </a:extLst>
          </p:cNvPr>
          <p:cNvSpPr txBox="1"/>
          <p:nvPr/>
        </p:nvSpPr>
        <p:spPr>
          <a:xfrm>
            <a:off x="548170" y="1840038"/>
            <a:ext cx="1625756" cy="265705"/>
          </a:xfrm>
          <a:prstGeom prst="rect">
            <a:avLst/>
          </a:prstGeom>
          <a:noFill/>
        </p:spPr>
        <p:txBody>
          <a:bodyPr wrap="square" rtlCol="0">
            <a:spAutoFit/>
          </a:bodyPr>
          <a:lstStyle/>
          <a:p>
            <a:pPr algn="dist"/>
            <a:r>
              <a:rPr lang="en-US" altLang="zh-CN" sz="1100" dirty="0">
                <a:solidFill>
                  <a:schemeClr val="bg1"/>
                </a:solidFill>
                <a:latin typeface="华文细黑" panose="02010600040101010101" pitchFamily="2" charset="-122"/>
                <a:ea typeface="华文细黑" panose="02010600040101010101" pitchFamily="2" charset="-122"/>
              </a:rPr>
              <a:t>CONTENTS</a:t>
            </a:r>
            <a:endParaRPr lang="zh-CN" altLang="en-US" sz="1100" dirty="0">
              <a:solidFill>
                <a:schemeClr val="bg1"/>
              </a:solidFill>
              <a:latin typeface="华文细黑" panose="02010600040101010101" pitchFamily="2" charset="-122"/>
              <a:ea typeface="华文细黑" panose="02010600040101010101" pitchFamily="2" charset="-122"/>
            </a:endParaRPr>
          </a:p>
        </p:txBody>
      </p:sp>
      <p:grpSp>
        <p:nvGrpSpPr>
          <p:cNvPr id="13" name="组合 12">
            <a:extLst>
              <a:ext uri="{FF2B5EF4-FFF2-40B4-BE49-F238E27FC236}">
                <a16:creationId xmlns:a16="http://schemas.microsoft.com/office/drawing/2014/main" id="{A3807C59-2DCF-44B2-9BB2-14865565621C}"/>
              </a:ext>
            </a:extLst>
          </p:cNvPr>
          <p:cNvGrpSpPr/>
          <p:nvPr/>
        </p:nvGrpSpPr>
        <p:grpSpPr>
          <a:xfrm>
            <a:off x="3878784" y="469011"/>
            <a:ext cx="856346" cy="762070"/>
            <a:chOff x="4723153" y="807868"/>
            <a:chExt cx="648071" cy="674704"/>
          </a:xfrm>
        </p:grpSpPr>
        <p:sp>
          <p:nvSpPr>
            <p:cNvPr id="11" name="矩形 10">
              <a:extLst>
                <a:ext uri="{FF2B5EF4-FFF2-40B4-BE49-F238E27FC236}">
                  <a16:creationId xmlns:a16="http://schemas.microsoft.com/office/drawing/2014/main" id="{AE25C846-728F-4B97-8F32-42D06E08A7B6}"/>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A497880-D6A8-4774-823F-0F1F6D64F919}"/>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a:extLst>
              <a:ext uri="{FF2B5EF4-FFF2-40B4-BE49-F238E27FC236}">
                <a16:creationId xmlns:a16="http://schemas.microsoft.com/office/drawing/2014/main" id="{09512DBB-37DA-429F-BB95-82850FD239D1}"/>
              </a:ext>
            </a:extLst>
          </p:cNvPr>
          <p:cNvGrpSpPr/>
          <p:nvPr/>
        </p:nvGrpSpPr>
        <p:grpSpPr>
          <a:xfrm>
            <a:off x="3882338" y="1558970"/>
            <a:ext cx="856346" cy="762070"/>
            <a:chOff x="4723153" y="807868"/>
            <a:chExt cx="648071" cy="674704"/>
          </a:xfrm>
        </p:grpSpPr>
        <p:sp>
          <p:nvSpPr>
            <p:cNvPr id="19" name="矩形 18">
              <a:extLst>
                <a:ext uri="{FF2B5EF4-FFF2-40B4-BE49-F238E27FC236}">
                  <a16:creationId xmlns:a16="http://schemas.microsoft.com/office/drawing/2014/main" id="{99F2686D-767A-4E30-847F-775B9E357BED}"/>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41634B92-DBE7-4296-9A6F-73D4B01E7A1B}"/>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F0D0E03A-AEC9-4C07-BCE8-CE9FCF83C8A6}"/>
              </a:ext>
            </a:extLst>
          </p:cNvPr>
          <p:cNvGrpSpPr/>
          <p:nvPr/>
        </p:nvGrpSpPr>
        <p:grpSpPr>
          <a:xfrm>
            <a:off x="3878784" y="2612994"/>
            <a:ext cx="856346" cy="762070"/>
            <a:chOff x="4723153" y="807868"/>
            <a:chExt cx="648071" cy="674704"/>
          </a:xfrm>
        </p:grpSpPr>
        <p:sp>
          <p:nvSpPr>
            <p:cNvPr id="22" name="矩形 21">
              <a:extLst>
                <a:ext uri="{FF2B5EF4-FFF2-40B4-BE49-F238E27FC236}">
                  <a16:creationId xmlns:a16="http://schemas.microsoft.com/office/drawing/2014/main" id="{7A782FBA-AE18-45EE-A4D0-8B0BF9FE3C11}"/>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919789B-B68C-4B54-8EC4-7F012EAF2C95}"/>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74777799-D508-47B5-9260-50171CA26752}"/>
              </a:ext>
            </a:extLst>
          </p:cNvPr>
          <p:cNvGrpSpPr/>
          <p:nvPr/>
        </p:nvGrpSpPr>
        <p:grpSpPr>
          <a:xfrm>
            <a:off x="3878784" y="3662872"/>
            <a:ext cx="856346" cy="762070"/>
            <a:chOff x="4723153" y="807868"/>
            <a:chExt cx="648071" cy="674704"/>
          </a:xfrm>
        </p:grpSpPr>
        <p:sp>
          <p:nvSpPr>
            <p:cNvPr id="26" name="矩形 25">
              <a:extLst>
                <a:ext uri="{FF2B5EF4-FFF2-40B4-BE49-F238E27FC236}">
                  <a16:creationId xmlns:a16="http://schemas.microsoft.com/office/drawing/2014/main" id="{BEB0FD3E-4613-4015-88AE-3BA9FE028AFF}"/>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20552D42-182A-40CE-91FA-770C27906993}"/>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文本框 27">
            <a:extLst>
              <a:ext uri="{FF2B5EF4-FFF2-40B4-BE49-F238E27FC236}">
                <a16:creationId xmlns:a16="http://schemas.microsoft.com/office/drawing/2014/main" id="{D84D1F40-D8A2-4EEE-A110-18F292E52B29}"/>
              </a:ext>
            </a:extLst>
          </p:cNvPr>
          <p:cNvSpPr txBox="1"/>
          <p:nvPr/>
        </p:nvSpPr>
        <p:spPr>
          <a:xfrm>
            <a:off x="4072753" y="662176"/>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01</a:t>
            </a:r>
            <a:endParaRPr lang="zh-CN" altLang="en-US" sz="2400" dirty="0">
              <a:solidFill>
                <a:schemeClr val="bg1"/>
              </a:solidFill>
              <a:latin typeface="Source Han Sans CN Bold"/>
              <a:ea typeface="Source Han Sans CN Bold"/>
            </a:endParaRPr>
          </a:p>
        </p:txBody>
      </p:sp>
      <p:sp>
        <p:nvSpPr>
          <p:cNvPr id="29" name="文本框 28">
            <a:extLst>
              <a:ext uri="{FF2B5EF4-FFF2-40B4-BE49-F238E27FC236}">
                <a16:creationId xmlns:a16="http://schemas.microsoft.com/office/drawing/2014/main" id="{B7F2FF7C-79BC-422C-A797-68868C901A77}"/>
              </a:ext>
            </a:extLst>
          </p:cNvPr>
          <p:cNvSpPr txBox="1"/>
          <p:nvPr/>
        </p:nvSpPr>
        <p:spPr>
          <a:xfrm>
            <a:off x="5132370" y="541138"/>
            <a:ext cx="2682533"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项目概述</a:t>
            </a:r>
            <a:endParaRPr lang="en-US" altLang="zh-CN" sz="2800" dirty="0"/>
          </a:p>
        </p:txBody>
      </p:sp>
      <p:sp>
        <p:nvSpPr>
          <p:cNvPr id="31" name="文本框 30">
            <a:extLst>
              <a:ext uri="{FF2B5EF4-FFF2-40B4-BE49-F238E27FC236}">
                <a16:creationId xmlns:a16="http://schemas.microsoft.com/office/drawing/2014/main" id="{0A05E1AA-293E-48A9-A70E-1865B4D40AAF}"/>
              </a:ext>
            </a:extLst>
          </p:cNvPr>
          <p:cNvSpPr txBox="1"/>
          <p:nvPr/>
        </p:nvSpPr>
        <p:spPr>
          <a:xfrm>
            <a:off x="4103878" y="1742352"/>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02</a:t>
            </a:r>
            <a:endParaRPr lang="zh-CN" altLang="en-US" sz="2400" dirty="0">
              <a:solidFill>
                <a:schemeClr val="bg1"/>
              </a:solidFill>
              <a:latin typeface="Source Han Sans CN Bold"/>
              <a:ea typeface="Source Han Sans CN Bold"/>
            </a:endParaRPr>
          </a:p>
        </p:txBody>
      </p:sp>
      <p:sp>
        <p:nvSpPr>
          <p:cNvPr id="32" name="文本框 31">
            <a:extLst>
              <a:ext uri="{FF2B5EF4-FFF2-40B4-BE49-F238E27FC236}">
                <a16:creationId xmlns:a16="http://schemas.microsoft.com/office/drawing/2014/main" id="{D0A7FFBF-841A-48FF-8FFE-78CCD571A4E1}"/>
              </a:ext>
            </a:extLst>
          </p:cNvPr>
          <p:cNvSpPr txBox="1"/>
          <p:nvPr/>
        </p:nvSpPr>
        <p:spPr>
          <a:xfrm>
            <a:off x="5133078" y="1684659"/>
            <a:ext cx="1925011"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痛点分析</a:t>
            </a:r>
            <a:endParaRPr lang="en-US" altLang="zh-CN" dirty="0"/>
          </a:p>
        </p:txBody>
      </p:sp>
      <p:sp>
        <p:nvSpPr>
          <p:cNvPr id="34" name="文本框 33">
            <a:extLst>
              <a:ext uri="{FF2B5EF4-FFF2-40B4-BE49-F238E27FC236}">
                <a16:creationId xmlns:a16="http://schemas.microsoft.com/office/drawing/2014/main" id="{9CC9DC99-4307-481B-997A-4A44F7A6E24E}"/>
              </a:ext>
            </a:extLst>
          </p:cNvPr>
          <p:cNvSpPr txBox="1"/>
          <p:nvPr/>
        </p:nvSpPr>
        <p:spPr>
          <a:xfrm>
            <a:off x="4084635" y="2791923"/>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03</a:t>
            </a:r>
            <a:endParaRPr lang="zh-CN" altLang="en-US" sz="2400" dirty="0">
              <a:solidFill>
                <a:schemeClr val="bg1"/>
              </a:solidFill>
              <a:latin typeface="Source Han Sans CN Bold"/>
              <a:ea typeface="Source Han Sans CN Bold"/>
            </a:endParaRPr>
          </a:p>
        </p:txBody>
      </p:sp>
      <p:sp>
        <p:nvSpPr>
          <p:cNvPr id="35" name="文本框 34">
            <a:extLst>
              <a:ext uri="{FF2B5EF4-FFF2-40B4-BE49-F238E27FC236}">
                <a16:creationId xmlns:a16="http://schemas.microsoft.com/office/drawing/2014/main" id="{22E50EC0-E8B5-4C8B-9DB2-F03D394DE901}"/>
              </a:ext>
            </a:extLst>
          </p:cNvPr>
          <p:cNvSpPr txBox="1"/>
          <p:nvPr/>
        </p:nvSpPr>
        <p:spPr>
          <a:xfrm>
            <a:off x="5132370" y="2678684"/>
            <a:ext cx="1670199"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市场调研</a:t>
            </a:r>
            <a:endParaRPr lang="en-US" altLang="zh-CN" dirty="0"/>
          </a:p>
        </p:txBody>
      </p:sp>
      <p:sp>
        <p:nvSpPr>
          <p:cNvPr id="37" name="文本框 36">
            <a:extLst>
              <a:ext uri="{FF2B5EF4-FFF2-40B4-BE49-F238E27FC236}">
                <a16:creationId xmlns:a16="http://schemas.microsoft.com/office/drawing/2014/main" id="{7F1945A6-80E5-442C-8943-15DCFFB56EBB}"/>
              </a:ext>
            </a:extLst>
          </p:cNvPr>
          <p:cNvSpPr txBox="1"/>
          <p:nvPr/>
        </p:nvSpPr>
        <p:spPr>
          <a:xfrm>
            <a:off x="4082993" y="3857891"/>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04</a:t>
            </a:r>
            <a:endParaRPr lang="zh-CN" altLang="en-US" sz="2400" dirty="0">
              <a:solidFill>
                <a:schemeClr val="bg1"/>
              </a:solidFill>
              <a:latin typeface="Source Han Sans CN Bold"/>
              <a:ea typeface="Source Han Sans CN Bold"/>
            </a:endParaRPr>
          </a:p>
        </p:txBody>
      </p:sp>
      <p:sp>
        <p:nvSpPr>
          <p:cNvPr id="38" name="文本框 37">
            <a:extLst>
              <a:ext uri="{FF2B5EF4-FFF2-40B4-BE49-F238E27FC236}">
                <a16:creationId xmlns:a16="http://schemas.microsoft.com/office/drawing/2014/main" id="{094B2DE9-4874-43DF-BEB5-203E4B0744F3}"/>
              </a:ext>
            </a:extLst>
          </p:cNvPr>
          <p:cNvSpPr txBox="1"/>
          <p:nvPr/>
        </p:nvSpPr>
        <p:spPr>
          <a:xfrm>
            <a:off x="5095092" y="3814099"/>
            <a:ext cx="2682533"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竞品分析</a:t>
            </a:r>
            <a:endParaRPr lang="en-US" altLang="zh-CN" dirty="0"/>
          </a:p>
        </p:txBody>
      </p:sp>
      <p:grpSp>
        <p:nvGrpSpPr>
          <p:cNvPr id="4" name="组合 3">
            <a:extLst>
              <a:ext uri="{FF2B5EF4-FFF2-40B4-BE49-F238E27FC236}">
                <a16:creationId xmlns:a16="http://schemas.microsoft.com/office/drawing/2014/main" id="{84640C8B-FC3C-4855-EA97-1A83DD75BB13}"/>
              </a:ext>
            </a:extLst>
          </p:cNvPr>
          <p:cNvGrpSpPr/>
          <p:nvPr/>
        </p:nvGrpSpPr>
        <p:grpSpPr>
          <a:xfrm>
            <a:off x="3882114" y="4758433"/>
            <a:ext cx="856346" cy="762070"/>
            <a:chOff x="4723153" y="807868"/>
            <a:chExt cx="648071" cy="674704"/>
          </a:xfrm>
        </p:grpSpPr>
        <p:sp>
          <p:nvSpPr>
            <p:cNvPr id="5" name="矩形 4">
              <a:extLst>
                <a:ext uri="{FF2B5EF4-FFF2-40B4-BE49-F238E27FC236}">
                  <a16:creationId xmlns:a16="http://schemas.microsoft.com/office/drawing/2014/main" id="{79ED25D8-CB75-D06C-30A6-BA3C857CCECA}"/>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B5FE51A0-FBD4-C2B8-5D10-C2253A51C0D8}"/>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0DB15F89-93E7-2A55-42B1-954BC3865F42}"/>
              </a:ext>
            </a:extLst>
          </p:cNvPr>
          <p:cNvGrpSpPr/>
          <p:nvPr/>
        </p:nvGrpSpPr>
        <p:grpSpPr>
          <a:xfrm>
            <a:off x="3878784" y="5785865"/>
            <a:ext cx="856346" cy="762070"/>
            <a:chOff x="4723153" y="807868"/>
            <a:chExt cx="648071" cy="674704"/>
          </a:xfrm>
        </p:grpSpPr>
        <p:sp>
          <p:nvSpPr>
            <p:cNvPr id="16" name="矩形 15">
              <a:extLst>
                <a:ext uri="{FF2B5EF4-FFF2-40B4-BE49-F238E27FC236}">
                  <a16:creationId xmlns:a16="http://schemas.microsoft.com/office/drawing/2014/main" id="{2A43CF56-5CF2-B45C-4C22-5958663B90A0}"/>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AC43887F-48B8-BF76-4C6C-47BD6FB10235}"/>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a:extLst>
              <a:ext uri="{FF2B5EF4-FFF2-40B4-BE49-F238E27FC236}">
                <a16:creationId xmlns:a16="http://schemas.microsoft.com/office/drawing/2014/main" id="{5E73A04D-DF44-0CCA-DAFD-276E01516B54}"/>
              </a:ext>
            </a:extLst>
          </p:cNvPr>
          <p:cNvSpPr txBox="1"/>
          <p:nvPr/>
        </p:nvSpPr>
        <p:spPr>
          <a:xfrm>
            <a:off x="4082992" y="5953284"/>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06</a:t>
            </a:r>
            <a:endParaRPr lang="zh-CN" altLang="en-US" sz="2400" dirty="0">
              <a:solidFill>
                <a:schemeClr val="bg1"/>
              </a:solidFill>
              <a:latin typeface="Source Han Sans CN Bold"/>
              <a:ea typeface="Source Han Sans CN Bold"/>
            </a:endParaRPr>
          </a:p>
        </p:txBody>
      </p:sp>
      <p:sp>
        <p:nvSpPr>
          <p:cNvPr id="42" name="文本框 41">
            <a:extLst>
              <a:ext uri="{FF2B5EF4-FFF2-40B4-BE49-F238E27FC236}">
                <a16:creationId xmlns:a16="http://schemas.microsoft.com/office/drawing/2014/main" id="{524B8F88-7329-E55A-3551-18E749157F90}"/>
              </a:ext>
            </a:extLst>
          </p:cNvPr>
          <p:cNvSpPr txBox="1"/>
          <p:nvPr/>
        </p:nvSpPr>
        <p:spPr>
          <a:xfrm>
            <a:off x="4081038" y="4901003"/>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05</a:t>
            </a:r>
            <a:endParaRPr lang="zh-CN" altLang="en-US" sz="2400" dirty="0">
              <a:solidFill>
                <a:schemeClr val="bg1"/>
              </a:solidFill>
              <a:latin typeface="Source Han Sans CN Bold"/>
              <a:ea typeface="Source Han Sans CN Bold"/>
            </a:endParaRPr>
          </a:p>
        </p:txBody>
      </p:sp>
      <p:pic>
        <p:nvPicPr>
          <p:cNvPr id="24" name="图片 23">
            <a:extLst>
              <a:ext uri="{FF2B5EF4-FFF2-40B4-BE49-F238E27FC236}">
                <a16:creationId xmlns:a16="http://schemas.microsoft.com/office/drawing/2014/main" id="{AD3406D1-1F3D-6887-AD6B-A36300AA056F}"/>
              </a:ext>
            </a:extLst>
          </p:cNvPr>
          <p:cNvPicPr>
            <a:picLocks noChangeAspect="1"/>
          </p:cNvPicPr>
          <p:nvPr/>
        </p:nvPicPr>
        <p:blipFill>
          <a:blip r:embed="rId5">
            <a:extLst>
              <a:ext uri="{28A0092B-C50C-407E-A947-70E740481C1C}">
                <a14:useLocalDpi xmlns:a14="http://schemas.microsoft.com/office/drawing/2010/main" val="0"/>
              </a:ext>
            </a:extLst>
          </a:blip>
          <a:srcRect l="6724" t="4896" r="54348" b="57397"/>
          <a:stretch>
            <a:fillRect/>
          </a:stretch>
        </p:blipFill>
        <p:spPr>
          <a:xfrm>
            <a:off x="580907" y="2738221"/>
            <a:ext cx="2285143" cy="2213350"/>
          </a:xfrm>
          <a:prstGeom prst="rect">
            <a:avLst/>
          </a:prstGeom>
        </p:spPr>
      </p:pic>
      <p:pic>
        <p:nvPicPr>
          <p:cNvPr id="43" name="图片 42">
            <a:extLst>
              <a:ext uri="{FF2B5EF4-FFF2-40B4-BE49-F238E27FC236}">
                <a16:creationId xmlns:a16="http://schemas.microsoft.com/office/drawing/2014/main" id="{5D430EFB-F6E0-9C46-C7E6-858138ED333C}"/>
              </a:ext>
            </a:extLst>
          </p:cNvPr>
          <p:cNvPicPr>
            <a:picLocks noChangeAspect="1"/>
          </p:cNvPicPr>
          <p:nvPr/>
        </p:nvPicPr>
        <p:blipFill>
          <a:blip r:embed="rId6">
            <a:extLst>
              <a:ext uri="{28A0092B-C50C-407E-A947-70E740481C1C}">
                <a14:useLocalDpi xmlns:a14="http://schemas.microsoft.com/office/drawing/2010/main" val="0"/>
              </a:ext>
            </a:extLst>
          </a:blip>
          <a:srcRect l="8502" t="57195" r="23526" b="22300"/>
          <a:stretch>
            <a:fillRect/>
          </a:stretch>
        </p:blipFill>
        <p:spPr>
          <a:xfrm>
            <a:off x="352259" y="4586690"/>
            <a:ext cx="2965844" cy="894706"/>
          </a:xfrm>
          <a:prstGeom prst="rect">
            <a:avLst/>
          </a:prstGeom>
        </p:spPr>
      </p:pic>
      <p:sp>
        <p:nvSpPr>
          <p:cNvPr id="46" name="文本框 45">
            <a:extLst>
              <a:ext uri="{FF2B5EF4-FFF2-40B4-BE49-F238E27FC236}">
                <a16:creationId xmlns:a16="http://schemas.microsoft.com/office/drawing/2014/main" id="{15641885-87D3-46DA-B421-F22988914AA7}"/>
              </a:ext>
            </a:extLst>
          </p:cNvPr>
          <p:cNvSpPr txBox="1"/>
          <p:nvPr/>
        </p:nvSpPr>
        <p:spPr>
          <a:xfrm>
            <a:off x="272744" y="5481396"/>
            <a:ext cx="3124875" cy="580352"/>
          </a:xfrm>
          <a:prstGeom prst="rect">
            <a:avLst/>
          </a:prstGeom>
          <a:noFill/>
        </p:spPr>
        <p:txBody>
          <a:bodyPr wrap="square">
            <a:spAutoFit/>
          </a:bodyPr>
          <a:lstStyle/>
          <a:p>
            <a:pPr marL="0" indent="0" algn="ctr">
              <a:lnSpc>
                <a:spcPct val="116666"/>
              </a:lnSpc>
              <a:defRPr/>
            </a:pPr>
            <a:r>
              <a:rPr lang="en-US" altLang="zh-CN" sz="1400" b="0" i="0" u="none" strike="noStrike" dirty="0" err="1">
                <a:solidFill>
                  <a:srgbClr val="FFFFFF">
                    <a:alpha val="70196"/>
                  </a:srgbClr>
                </a:solidFill>
                <a:latin typeface="Noto Sans SC"/>
                <a:ea typeface="Noto Sans SC"/>
                <a:cs typeface="Noto Sans SC"/>
                <a:sym typeface="Noto Sans SC"/>
              </a:rPr>
              <a:t>以创新驱动发展，以价值创造未来</a:t>
            </a:r>
            <a:r>
              <a:rPr lang="en-US" altLang="zh-CN" sz="1400" b="0" i="0" u="none" strike="noStrike" dirty="0">
                <a:solidFill>
                  <a:srgbClr val="FFFFFF">
                    <a:alpha val="70196"/>
                  </a:srgbClr>
                </a:solidFill>
                <a:latin typeface="Noto Sans SC"/>
                <a:ea typeface="Noto Sans SC"/>
                <a:cs typeface="Noto Sans SC"/>
                <a:sym typeface="Noto Sans SC"/>
              </a:rPr>
              <a:t>。</a:t>
            </a:r>
            <a:br>
              <a:rPr lang="en-US" altLang="zh-CN" sz="1400" b="0" i="0" u="none" strike="noStrike" dirty="0">
                <a:solidFill>
                  <a:srgbClr val="FFFFFF">
                    <a:alpha val="70196"/>
                  </a:srgbClr>
                </a:solidFill>
                <a:latin typeface="Noto Sans SC"/>
                <a:ea typeface="Noto Sans SC"/>
                <a:cs typeface="Noto Sans SC"/>
                <a:sym typeface="Noto Sans SC"/>
              </a:rPr>
            </a:br>
            <a:r>
              <a:rPr lang="en-US" altLang="zh-CN" sz="1400" b="0" i="0" u="none" strike="noStrike" dirty="0" err="1">
                <a:solidFill>
                  <a:srgbClr val="FFFFFF">
                    <a:alpha val="70196"/>
                  </a:srgbClr>
                </a:solidFill>
                <a:latin typeface="Noto Sans SC"/>
                <a:ea typeface="Noto Sans SC"/>
                <a:cs typeface="Noto Sans SC"/>
                <a:sym typeface="Noto Sans SC"/>
              </a:rPr>
              <a:t>法元·Faron，开启无限可能</a:t>
            </a:r>
            <a:r>
              <a:rPr lang="en-US" altLang="zh-CN" sz="1400" b="0" i="0" u="none" strike="noStrike" dirty="0">
                <a:solidFill>
                  <a:srgbClr val="FFFFFF">
                    <a:alpha val="70196"/>
                  </a:srgbClr>
                </a:solidFill>
                <a:latin typeface="Noto Sans SC"/>
                <a:ea typeface="Noto Sans SC"/>
                <a:cs typeface="Noto Sans SC"/>
                <a:sym typeface="Noto Sans SC"/>
              </a:rPr>
              <a:t>。</a:t>
            </a:r>
            <a:endParaRPr lang="en-US" altLang="zh-CN" sz="1100" dirty="0"/>
          </a:p>
        </p:txBody>
      </p:sp>
      <p:sp>
        <p:nvSpPr>
          <p:cNvPr id="48" name="文本框 47">
            <a:extLst>
              <a:ext uri="{FF2B5EF4-FFF2-40B4-BE49-F238E27FC236}">
                <a16:creationId xmlns:a16="http://schemas.microsoft.com/office/drawing/2014/main" id="{8EEF202F-8CD1-9553-7D52-C1E5BE372BAC}"/>
              </a:ext>
            </a:extLst>
          </p:cNvPr>
          <p:cNvSpPr txBox="1"/>
          <p:nvPr/>
        </p:nvSpPr>
        <p:spPr>
          <a:xfrm>
            <a:off x="5095092" y="4836850"/>
            <a:ext cx="2682533"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功能介绍</a:t>
            </a:r>
            <a:endParaRPr lang="en-US" altLang="zh-CN" dirty="0"/>
          </a:p>
        </p:txBody>
      </p:sp>
      <p:sp>
        <p:nvSpPr>
          <p:cNvPr id="50" name="文本框 49">
            <a:extLst>
              <a:ext uri="{FF2B5EF4-FFF2-40B4-BE49-F238E27FC236}">
                <a16:creationId xmlns:a16="http://schemas.microsoft.com/office/drawing/2014/main" id="{64453C92-2119-62BF-9965-5F8643452E80}"/>
              </a:ext>
            </a:extLst>
          </p:cNvPr>
          <p:cNvSpPr txBox="1"/>
          <p:nvPr/>
        </p:nvSpPr>
        <p:spPr>
          <a:xfrm>
            <a:off x="5085933" y="5916219"/>
            <a:ext cx="2682533"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技术介绍</a:t>
            </a:r>
            <a:endParaRPr lang="en-US" altLang="zh-CN" dirty="0"/>
          </a:p>
        </p:txBody>
      </p:sp>
      <p:grpSp>
        <p:nvGrpSpPr>
          <p:cNvPr id="36" name="组合 35">
            <a:extLst>
              <a:ext uri="{FF2B5EF4-FFF2-40B4-BE49-F238E27FC236}">
                <a16:creationId xmlns:a16="http://schemas.microsoft.com/office/drawing/2014/main" id="{D96A6491-E82D-B8AA-84E3-1F7817AF7616}"/>
              </a:ext>
            </a:extLst>
          </p:cNvPr>
          <p:cNvGrpSpPr/>
          <p:nvPr/>
        </p:nvGrpSpPr>
        <p:grpSpPr>
          <a:xfrm>
            <a:off x="7338892" y="877502"/>
            <a:ext cx="856346" cy="762070"/>
            <a:chOff x="4723153" y="807868"/>
            <a:chExt cx="648071" cy="674704"/>
          </a:xfrm>
        </p:grpSpPr>
        <p:sp>
          <p:nvSpPr>
            <p:cNvPr id="39" name="矩形 38">
              <a:extLst>
                <a:ext uri="{FF2B5EF4-FFF2-40B4-BE49-F238E27FC236}">
                  <a16:creationId xmlns:a16="http://schemas.microsoft.com/office/drawing/2014/main" id="{70ADBD61-7C8B-5FF0-1FB4-EE299D462BBE}"/>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51E3C547-54DF-F726-5B33-319DC875E1E0}"/>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a:extLst>
              <a:ext uri="{FF2B5EF4-FFF2-40B4-BE49-F238E27FC236}">
                <a16:creationId xmlns:a16="http://schemas.microsoft.com/office/drawing/2014/main" id="{D39F0B58-5696-3DC9-E1A0-59C8E5F11B32}"/>
              </a:ext>
            </a:extLst>
          </p:cNvPr>
          <p:cNvGrpSpPr/>
          <p:nvPr/>
        </p:nvGrpSpPr>
        <p:grpSpPr>
          <a:xfrm>
            <a:off x="7341688" y="1950042"/>
            <a:ext cx="856346" cy="762070"/>
            <a:chOff x="4723153" y="807868"/>
            <a:chExt cx="648071" cy="674704"/>
          </a:xfrm>
        </p:grpSpPr>
        <p:sp>
          <p:nvSpPr>
            <p:cNvPr id="45" name="矩形 44">
              <a:extLst>
                <a:ext uri="{FF2B5EF4-FFF2-40B4-BE49-F238E27FC236}">
                  <a16:creationId xmlns:a16="http://schemas.microsoft.com/office/drawing/2014/main" id="{C1ED5AAF-BDE0-40D3-E7A1-692301CE6EBB}"/>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ECB0CC59-3A8B-BDFA-9021-6E21D3224E2D}"/>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a:extLst>
              <a:ext uri="{FF2B5EF4-FFF2-40B4-BE49-F238E27FC236}">
                <a16:creationId xmlns:a16="http://schemas.microsoft.com/office/drawing/2014/main" id="{90D4A425-66DE-2F71-3A53-B4AFC50C5192}"/>
              </a:ext>
            </a:extLst>
          </p:cNvPr>
          <p:cNvGrpSpPr/>
          <p:nvPr/>
        </p:nvGrpSpPr>
        <p:grpSpPr>
          <a:xfrm>
            <a:off x="7341688" y="2977887"/>
            <a:ext cx="856346" cy="762070"/>
            <a:chOff x="4723153" y="807868"/>
            <a:chExt cx="648071" cy="674704"/>
          </a:xfrm>
        </p:grpSpPr>
        <p:sp>
          <p:nvSpPr>
            <p:cNvPr id="51" name="矩形 50">
              <a:extLst>
                <a:ext uri="{FF2B5EF4-FFF2-40B4-BE49-F238E27FC236}">
                  <a16:creationId xmlns:a16="http://schemas.microsoft.com/office/drawing/2014/main" id="{64BD1C4D-C497-BD18-3CCA-22E72AE3B977}"/>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D36683B7-CF63-DCE6-947C-AA412FDEBCDA}"/>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文本框 52">
            <a:extLst>
              <a:ext uri="{FF2B5EF4-FFF2-40B4-BE49-F238E27FC236}">
                <a16:creationId xmlns:a16="http://schemas.microsoft.com/office/drawing/2014/main" id="{874BEFCD-4D8A-D298-6697-D8A148E5F38D}"/>
              </a:ext>
            </a:extLst>
          </p:cNvPr>
          <p:cNvSpPr txBox="1"/>
          <p:nvPr/>
        </p:nvSpPr>
        <p:spPr>
          <a:xfrm>
            <a:off x="7560432" y="1060884"/>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07</a:t>
            </a:r>
            <a:endParaRPr lang="zh-CN" altLang="en-US" sz="2400" dirty="0">
              <a:solidFill>
                <a:schemeClr val="bg1"/>
              </a:solidFill>
              <a:latin typeface="Source Han Sans CN Bold"/>
              <a:ea typeface="Source Han Sans CN Bold"/>
            </a:endParaRPr>
          </a:p>
        </p:txBody>
      </p:sp>
      <p:sp>
        <p:nvSpPr>
          <p:cNvPr id="54" name="文本框 53">
            <a:extLst>
              <a:ext uri="{FF2B5EF4-FFF2-40B4-BE49-F238E27FC236}">
                <a16:creationId xmlns:a16="http://schemas.microsoft.com/office/drawing/2014/main" id="{68962710-3AA0-83C1-65EB-57080D2F8076}"/>
              </a:ext>
            </a:extLst>
          </p:cNvPr>
          <p:cNvSpPr txBox="1"/>
          <p:nvPr/>
        </p:nvSpPr>
        <p:spPr>
          <a:xfrm>
            <a:off x="7547539" y="2128971"/>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08</a:t>
            </a:r>
            <a:endParaRPr lang="zh-CN" altLang="en-US" sz="2400" dirty="0">
              <a:solidFill>
                <a:schemeClr val="bg1"/>
              </a:solidFill>
              <a:latin typeface="Source Han Sans CN Bold"/>
              <a:ea typeface="Source Han Sans CN Bold"/>
            </a:endParaRPr>
          </a:p>
        </p:txBody>
      </p:sp>
      <p:sp>
        <p:nvSpPr>
          <p:cNvPr id="55" name="文本框 54">
            <a:extLst>
              <a:ext uri="{FF2B5EF4-FFF2-40B4-BE49-F238E27FC236}">
                <a16:creationId xmlns:a16="http://schemas.microsoft.com/office/drawing/2014/main" id="{26BBE9C6-3CD5-03CE-79F1-23E2CE384688}"/>
              </a:ext>
            </a:extLst>
          </p:cNvPr>
          <p:cNvSpPr txBox="1"/>
          <p:nvPr/>
        </p:nvSpPr>
        <p:spPr>
          <a:xfrm>
            <a:off x="7545897" y="3172906"/>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09</a:t>
            </a:r>
            <a:endParaRPr lang="zh-CN" altLang="en-US" sz="2400" dirty="0">
              <a:solidFill>
                <a:schemeClr val="bg1"/>
              </a:solidFill>
              <a:latin typeface="Source Han Sans CN Bold"/>
              <a:ea typeface="Source Han Sans CN Bold"/>
            </a:endParaRPr>
          </a:p>
        </p:txBody>
      </p:sp>
      <p:grpSp>
        <p:nvGrpSpPr>
          <p:cNvPr id="56" name="组合 55">
            <a:extLst>
              <a:ext uri="{FF2B5EF4-FFF2-40B4-BE49-F238E27FC236}">
                <a16:creationId xmlns:a16="http://schemas.microsoft.com/office/drawing/2014/main" id="{B54316B2-D88D-723F-45EC-2FA6259F34F3}"/>
              </a:ext>
            </a:extLst>
          </p:cNvPr>
          <p:cNvGrpSpPr/>
          <p:nvPr/>
        </p:nvGrpSpPr>
        <p:grpSpPr>
          <a:xfrm>
            <a:off x="7341688" y="4005732"/>
            <a:ext cx="856346" cy="762070"/>
            <a:chOff x="4723153" y="807868"/>
            <a:chExt cx="648071" cy="674704"/>
          </a:xfrm>
        </p:grpSpPr>
        <p:sp>
          <p:nvSpPr>
            <p:cNvPr id="57" name="矩形 56">
              <a:extLst>
                <a:ext uri="{FF2B5EF4-FFF2-40B4-BE49-F238E27FC236}">
                  <a16:creationId xmlns:a16="http://schemas.microsoft.com/office/drawing/2014/main" id="{29D96E73-A120-0675-D01C-86DB9538CD72}"/>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72DC465E-E72B-AF0B-7822-4CF1A6E840E8}"/>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a:extLst>
              <a:ext uri="{FF2B5EF4-FFF2-40B4-BE49-F238E27FC236}">
                <a16:creationId xmlns:a16="http://schemas.microsoft.com/office/drawing/2014/main" id="{348DDA8C-126A-1B09-A269-F40F6A86D03D}"/>
              </a:ext>
            </a:extLst>
          </p:cNvPr>
          <p:cNvGrpSpPr/>
          <p:nvPr/>
        </p:nvGrpSpPr>
        <p:grpSpPr>
          <a:xfrm>
            <a:off x="7356023" y="5045793"/>
            <a:ext cx="856346" cy="762070"/>
            <a:chOff x="4723153" y="807868"/>
            <a:chExt cx="648071" cy="674704"/>
          </a:xfrm>
        </p:grpSpPr>
        <p:sp>
          <p:nvSpPr>
            <p:cNvPr id="60" name="矩形 59">
              <a:extLst>
                <a:ext uri="{FF2B5EF4-FFF2-40B4-BE49-F238E27FC236}">
                  <a16:creationId xmlns:a16="http://schemas.microsoft.com/office/drawing/2014/main" id="{7801467F-97E1-C1CF-F638-684A31EFEDC4}"/>
                </a:ext>
              </a:extLst>
            </p:cNvPr>
            <p:cNvSpPr/>
            <p:nvPr/>
          </p:nvSpPr>
          <p:spPr>
            <a:xfrm>
              <a:off x="4723153" y="80786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33155321-1677-02D6-0C76-61674F5638AF}"/>
                </a:ext>
              </a:extLst>
            </p:cNvPr>
            <p:cNvSpPr/>
            <p:nvPr/>
          </p:nvSpPr>
          <p:spPr>
            <a:xfrm>
              <a:off x="4811930" y="923278"/>
              <a:ext cx="559294" cy="55929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 name="文本框 61">
            <a:extLst>
              <a:ext uri="{FF2B5EF4-FFF2-40B4-BE49-F238E27FC236}">
                <a16:creationId xmlns:a16="http://schemas.microsoft.com/office/drawing/2014/main" id="{268FBB20-FB85-B1C7-AD42-93C5600A765D}"/>
              </a:ext>
            </a:extLst>
          </p:cNvPr>
          <p:cNvSpPr txBox="1"/>
          <p:nvPr/>
        </p:nvSpPr>
        <p:spPr>
          <a:xfrm>
            <a:off x="7560231" y="5213212"/>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11</a:t>
            </a:r>
            <a:endParaRPr lang="zh-CN" altLang="en-US" sz="2400" dirty="0">
              <a:solidFill>
                <a:schemeClr val="bg1"/>
              </a:solidFill>
              <a:latin typeface="Source Han Sans CN Bold"/>
              <a:ea typeface="Source Han Sans CN Bold"/>
            </a:endParaRPr>
          </a:p>
        </p:txBody>
      </p:sp>
      <p:sp>
        <p:nvSpPr>
          <p:cNvPr id="63" name="文本框 62">
            <a:extLst>
              <a:ext uri="{FF2B5EF4-FFF2-40B4-BE49-F238E27FC236}">
                <a16:creationId xmlns:a16="http://schemas.microsoft.com/office/drawing/2014/main" id="{64A6E44C-7A43-D561-349C-A6425D8072F9}"/>
              </a:ext>
            </a:extLst>
          </p:cNvPr>
          <p:cNvSpPr txBox="1"/>
          <p:nvPr/>
        </p:nvSpPr>
        <p:spPr>
          <a:xfrm>
            <a:off x="7540612" y="4148302"/>
            <a:ext cx="1186967" cy="461665"/>
          </a:xfrm>
          <a:prstGeom prst="rect">
            <a:avLst/>
          </a:prstGeom>
          <a:noFill/>
        </p:spPr>
        <p:txBody>
          <a:bodyPr wrap="square" rtlCol="0">
            <a:spAutoFit/>
          </a:bodyPr>
          <a:lstStyle/>
          <a:p>
            <a:r>
              <a:rPr lang="en-US" altLang="zh-CN" sz="2400" dirty="0">
                <a:solidFill>
                  <a:schemeClr val="bg1"/>
                </a:solidFill>
                <a:latin typeface="Source Han Sans CN Bold"/>
                <a:ea typeface="Source Han Sans CN Bold"/>
              </a:rPr>
              <a:t>10</a:t>
            </a:r>
            <a:endParaRPr lang="zh-CN" altLang="en-US" sz="2400" dirty="0">
              <a:solidFill>
                <a:schemeClr val="bg1"/>
              </a:solidFill>
              <a:latin typeface="Source Han Sans CN Bold"/>
              <a:ea typeface="Source Han Sans CN Bold"/>
            </a:endParaRPr>
          </a:p>
        </p:txBody>
      </p:sp>
      <p:sp>
        <p:nvSpPr>
          <p:cNvPr id="64" name="文本框 63">
            <a:extLst>
              <a:ext uri="{FF2B5EF4-FFF2-40B4-BE49-F238E27FC236}">
                <a16:creationId xmlns:a16="http://schemas.microsoft.com/office/drawing/2014/main" id="{33567557-149A-923E-75F4-6B6746ED53EF}"/>
              </a:ext>
            </a:extLst>
          </p:cNvPr>
          <p:cNvSpPr txBox="1"/>
          <p:nvPr/>
        </p:nvSpPr>
        <p:spPr>
          <a:xfrm>
            <a:off x="8589211" y="940805"/>
            <a:ext cx="2682533" cy="589970"/>
          </a:xfrm>
          <a:prstGeom prst="rect">
            <a:avLst/>
          </a:prstGeom>
          <a:noFill/>
        </p:spPr>
        <p:txBody>
          <a:bodyPr wrap="square" rtlCol="0">
            <a:spAutoFit/>
          </a:bodyPr>
          <a:lstStyle/>
          <a:p>
            <a:pPr>
              <a:lnSpc>
                <a:spcPct val="125000"/>
              </a:lnSpc>
              <a:defRPr/>
            </a:pPr>
            <a:r>
              <a:rPr lang="en-US" altLang="zh-CN" sz="2800" b="1" dirty="0" err="1">
                <a:solidFill>
                  <a:srgbClr val="FFFFFF"/>
                </a:solidFill>
                <a:latin typeface="Noto Sans SC"/>
                <a:ea typeface="Noto Sans SC"/>
                <a:cs typeface="Noto Sans SC"/>
                <a:sym typeface="Noto Sans SC"/>
              </a:rPr>
              <a:t>项目创新点</a:t>
            </a:r>
            <a:endParaRPr lang="en-US" altLang="zh-CN" dirty="0"/>
          </a:p>
        </p:txBody>
      </p:sp>
      <p:sp>
        <p:nvSpPr>
          <p:cNvPr id="65" name="文本框 64">
            <a:extLst>
              <a:ext uri="{FF2B5EF4-FFF2-40B4-BE49-F238E27FC236}">
                <a16:creationId xmlns:a16="http://schemas.microsoft.com/office/drawing/2014/main" id="{FC789C7D-4891-9CB7-70F2-07BA0FA531CF}"/>
              </a:ext>
            </a:extLst>
          </p:cNvPr>
          <p:cNvSpPr txBox="1"/>
          <p:nvPr/>
        </p:nvSpPr>
        <p:spPr>
          <a:xfrm>
            <a:off x="8595176" y="2027710"/>
            <a:ext cx="1744371" cy="589970"/>
          </a:xfrm>
          <a:prstGeom prst="rect">
            <a:avLst/>
          </a:prstGeom>
          <a:noFill/>
        </p:spPr>
        <p:txBody>
          <a:bodyPr wrap="square">
            <a:spAutoFit/>
          </a:bodyPr>
          <a:lstStyle/>
          <a:p>
            <a:pPr marL="0" indent="0" algn="l">
              <a:lnSpc>
                <a:spcPct val="125000"/>
              </a:lnSpc>
              <a:defRPr/>
            </a:pPr>
            <a:r>
              <a:rPr lang="en-US" altLang="zh-CN" sz="2800" b="1" i="0" u="none" strike="noStrike" dirty="0" err="1">
                <a:solidFill>
                  <a:srgbClr val="FFFFFF"/>
                </a:solidFill>
                <a:latin typeface="Noto Sans SC"/>
                <a:ea typeface="Noto Sans SC"/>
                <a:cs typeface="Noto Sans SC"/>
                <a:sym typeface="Noto Sans SC"/>
              </a:rPr>
              <a:t>商业模式</a:t>
            </a:r>
            <a:endParaRPr lang="en-US" altLang="zh-CN" dirty="0"/>
          </a:p>
        </p:txBody>
      </p:sp>
      <p:sp>
        <p:nvSpPr>
          <p:cNvPr id="66" name="文本框 65">
            <a:extLst>
              <a:ext uri="{FF2B5EF4-FFF2-40B4-BE49-F238E27FC236}">
                <a16:creationId xmlns:a16="http://schemas.microsoft.com/office/drawing/2014/main" id="{E215CF5E-6774-C436-A894-8E3058D818EE}"/>
              </a:ext>
            </a:extLst>
          </p:cNvPr>
          <p:cNvSpPr txBox="1"/>
          <p:nvPr/>
        </p:nvSpPr>
        <p:spPr>
          <a:xfrm>
            <a:off x="8625905" y="3107710"/>
            <a:ext cx="1931895" cy="589970"/>
          </a:xfrm>
          <a:prstGeom prst="rect">
            <a:avLst/>
          </a:prstGeom>
          <a:noFill/>
        </p:spPr>
        <p:txBody>
          <a:bodyPr wrap="square">
            <a:spAutoFit/>
          </a:bodyPr>
          <a:lstStyle/>
          <a:p>
            <a:pPr marL="0" indent="0" algn="l">
              <a:lnSpc>
                <a:spcPct val="125000"/>
              </a:lnSpc>
              <a:defRPr/>
            </a:pPr>
            <a:r>
              <a:rPr lang="en-US" altLang="zh-CN" sz="2800" b="1" i="0" u="none" strike="noStrike" dirty="0" err="1">
                <a:solidFill>
                  <a:srgbClr val="FFFFFF"/>
                </a:solidFill>
                <a:latin typeface="Noto Sans SC"/>
                <a:ea typeface="Noto Sans SC"/>
                <a:cs typeface="Noto Sans SC"/>
                <a:sym typeface="Noto Sans SC"/>
              </a:rPr>
              <a:t>财务分析</a:t>
            </a:r>
            <a:endParaRPr lang="en-US" altLang="zh-CN" dirty="0"/>
          </a:p>
        </p:txBody>
      </p:sp>
      <p:sp>
        <p:nvSpPr>
          <p:cNvPr id="67" name="文本框 66">
            <a:extLst>
              <a:ext uri="{FF2B5EF4-FFF2-40B4-BE49-F238E27FC236}">
                <a16:creationId xmlns:a16="http://schemas.microsoft.com/office/drawing/2014/main" id="{29D2D851-4D0F-83FF-D2CE-9A69870DDD18}"/>
              </a:ext>
            </a:extLst>
          </p:cNvPr>
          <p:cNvSpPr txBox="1"/>
          <p:nvPr/>
        </p:nvSpPr>
        <p:spPr>
          <a:xfrm>
            <a:off x="8627139" y="4129957"/>
            <a:ext cx="2606675" cy="589970"/>
          </a:xfrm>
          <a:prstGeom prst="rect">
            <a:avLst/>
          </a:prstGeom>
          <a:noFill/>
        </p:spPr>
        <p:txBody>
          <a:bodyPr wrap="square">
            <a:spAutoFit/>
          </a:bodyPr>
          <a:lstStyle/>
          <a:p>
            <a:pPr marL="0" indent="0" algn="l">
              <a:lnSpc>
                <a:spcPct val="125000"/>
              </a:lnSpc>
              <a:defRPr/>
            </a:pPr>
            <a:r>
              <a:rPr lang="en-US" altLang="zh-CN" sz="2800" b="1" i="0" u="none" strike="noStrike" dirty="0" err="1">
                <a:solidFill>
                  <a:srgbClr val="FFFFFF"/>
                </a:solidFill>
                <a:latin typeface="Noto Sans SC"/>
                <a:ea typeface="Noto Sans SC"/>
                <a:cs typeface="Noto Sans SC"/>
                <a:sym typeface="Noto Sans SC"/>
              </a:rPr>
              <a:t>用户反馈</a:t>
            </a:r>
            <a:endParaRPr lang="en-US" altLang="zh-CN" dirty="0"/>
          </a:p>
        </p:txBody>
      </p:sp>
      <p:sp>
        <p:nvSpPr>
          <p:cNvPr id="68" name="文本框 67">
            <a:extLst>
              <a:ext uri="{FF2B5EF4-FFF2-40B4-BE49-F238E27FC236}">
                <a16:creationId xmlns:a16="http://schemas.microsoft.com/office/drawing/2014/main" id="{3193087B-58CD-F263-81FD-E46F26B0F817}"/>
              </a:ext>
            </a:extLst>
          </p:cNvPr>
          <p:cNvSpPr txBox="1"/>
          <p:nvPr/>
        </p:nvSpPr>
        <p:spPr>
          <a:xfrm>
            <a:off x="8589211" y="5070573"/>
            <a:ext cx="1667693" cy="589970"/>
          </a:xfrm>
          <a:prstGeom prst="rect">
            <a:avLst/>
          </a:prstGeom>
          <a:noFill/>
        </p:spPr>
        <p:txBody>
          <a:bodyPr wrap="square">
            <a:spAutoFit/>
          </a:bodyPr>
          <a:lstStyle/>
          <a:p>
            <a:pPr marL="0" indent="0" algn="l">
              <a:lnSpc>
                <a:spcPct val="125000"/>
              </a:lnSpc>
              <a:defRPr/>
            </a:pPr>
            <a:r>
              <a:rPr lang="en-US" altLang="zh-CN" sz="2800" b="1" i="0" u="none" strike="noStrike" dirty="0" err="1">
                <a:solidFill>
                  <a:srgbClr val="FFFFFF"/>
                </a:solidFill>
                <a:latin typeface="Noto Sans SC"/>
                <a:ea typeface="Noto Sans SC"/>
                <a:cs typeface="Noto Sans SC"/>
                <a:sym typeface="Noto Sans SC"/>
              </a:rPr>
              <a:t>未来规划</a:t>
            </a:r>
            <a:endParaRPr lang="en-US" altLang="zh-CN" dirty="0"/>
          </a:p>
        </p:txBody>
      </p:sp>
    </p:spTree>
    <p:extLst>
      <p:ext uri="{BB962C8B-B14F-4D97-AF65-F5344CB8AC3E}">
        <p14:creationId xmlns:p14="http://schemas.microsoft.com/office/powerpoint/2010/main" val="282084503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B5A1A46-BD1F-41BA-8210-5B3C48A42D0E}"/>
              </a:ext>
            </a:extLst>
          </p:cNvPr>
          <p:cNvSpPr txBox="1"/>
          <p:nvPr/>
        </p:nvSpPr>
        <p:spPr>
          <a:xfrm>
            <a:off x="531738" y="1124304"/>
            <a:ext cx="5877924" cy="589970"/>
          </a:xfrm>
          <a:prstGeom prst="rect">
            <a:avLst/>
          </a:prstGeom>
          <a:noFill/>
        </p:spPr>
        <p:txBody>
          <a:bodyPr wrap="square" rtlCol="0">
            <a:spAutoFit/>
          </a:bodyPr>
          <a:lstStyle/>
          <a:p>
            <a:pPr>
              <a:lnSpc>
                <a:spcPct val="125000"/>
              </a:lnSpc>
              <a:defRPr/>
            </a:pPr>
            <a:r>
              <a:rPr lang="en-US" altLang="zh-CN" sz="2800" b="1" dirty="0" err="1">
                <a:latin typeface="Noto Sans SC"/>
                <a:ea typeface="Noto Sans SC"/>
                <a:cs typeface="Noto Sans SC"/>
                <a:sym typeface="Noto Sans SC"/>
              </a:rPr>
              <a:t>一款会交作业的数字员工</a:t>
            </a:r>
            <a:endParaRPr lang="en-US" altLang="zh-CN" sz="2800" dirty="0"/>
          </a:p>
        </p:txBody>
      </p:sp>
      <p:sp>
        <p:nvSpPr>
          <p:cNvPr id="7" name="矩形 6">
            <a:extLst>
              <a:ext uri="{FF2B5EF4-FFF2-40B4-BE49-F238E27FC236}">
                <a16:creationId xmlns:a16="http://schemas.microsoft.com/office/drawing/2014/main" id="{EE352518-65EA-410F-91C0-1721AD528436}"/>
              </a:ext>
            </a:extLst>
          </p:cNvPr>
          <p:cNvSpPr/>
          <p:nvPr/>
        </p:nvSpPr>
        <p:spPr>
          <a:xfrm>
            <a:off x="615656" y="1889576"/>
            <a:ext cx="11045467" cy="1871195"/>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85C71F6-2C8F-4CCD-AB4E-7B85BC798E21}"/>
              </a:ext>
            </a:extLst>
          </p:cNvPr>
          <p:cNvSpPr/>
          <p:nvPr/>
        </p:nvSpPr>
        <p:spPr>
          <a:xfrm>
            <a:off x="797021" y="1829158"/>
            <a:ext cx="193040" cy="1871195"/>
          </a:xfrm>
          <a:prstGeom prst="rect">
            <a:avLst/>
          </a:prstGeom>
          <a:solidFill>
            <a:srgbClr val="B02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C8273C0-5919-42DF-A64C-BB8FDFD69BFC}"/>
              </a:ext>
            </a:extLst>
          </p:cNvPr>
          <p:cNvSpPr/>
          <p:nvPr/>
        </p:nvSpPr>
        <p:spPr>
          <a:xfrm>
            <a:off x="615656" y="3366995"/>
            <a:ext cx="11045467" cy="3155213"/>
          </a:xfrm>
          <a:prstGeom prst="rect">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A8FF550A-E107-487D-8B0E-7DBF6FDC25FE}"/>
              </a:ext>
            </a:extLst>
          </p:cNvPr>
          <p:cNvSpPr/>
          <p:nvPr/>
        </p:nvSpPr>
        <p:spPr>
          <a:xfrm>
            <a:off x="11197598" y="2239480"/>
            <a:ext cx="193040" cy="11275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F8547F51-4169-4233-92C6-C13C5B7C377E}"/>
              </a:ext>
            </a:extLst>
          </p:cNvPr>
          <p:cNvSpPr txBox="1"/>
          <p:nvPr/>
        </p:nvSpPr>
        <p:spPr>
          <a:xfrm>
            <a:off x="1449262" y="2519647"/>
            <a:ext cx="8891281" cy="719749"/>
          </a:xfrm>
          <a:prstGeom prst="rect">
            <a:avLst/>
          </a:prstGeom>
          <a:noFill/>
        </p:spPr>
        <p:txBody>
          <a:bodyPr wrap="square" rtlCol="0">
            <a:spAutoFit/>
          </a:bodyPr>
          <a:lstStyle/>
          <a:p>
            <a:pPr>
              <a:lnSpc>
                <a:spcPct val="116666"/>
              </a:lnSpc>
              <a:defRPr/>
            </a:pPr>
            <a:r>
              <a:rPr lang="en-US" altLang="zh-CN" b="1" dirty="0" err="1">
                <a:solidFill>
                  <a:srgbClr val="FFFFFF">
                    <a:alpha val="90196"/>
                  </a:srgbClr>
                </a:solidFill>
                <a:latin typeface="Noto Sans SC"/>
                <a:ea typeface="Noto Sans SC"/>
                <a:cs typeface="Noto Sans SC"/>
                <a:sym typeface="Noto Sans SC"/>
              </a:rPr>
              <a:t>听懂委托</a:t>
            </a:r>
            <a:r>
              <a:rPr lang="en-US" altLang="zh-CN" b="1" dirty="0">
                <a:solidFill>
                  <a:srgbClr val="FFFFFF">
                    <a:alpha val="90196"/>
                  </a:srgbClr>
                </a:solidFill>
                <a:latin typeface="Noto Sans SC"/>
                <a:ea typeface="Noto Sans SC"/>
                <a:cs typeface="Noto Sans SC"/>
                <a:sym typeface="Noto Sans SC"/>
              </a:rPr>
              <a:t> → </a:t>
            </a:r>
            <a:r>
              <a:rPr lang="en-US" altLang="zh-CN" b="1" dirty="0" err="1">
                <a:solidFill>
                  <a:srgbClr val="FFFFFF">
                    <a:alpha val="90196"/>
                  </a:srgbClr>
                </a:solidFill>
                <a:latin typeface="Noto Sans SC"/>
                <a:ea typeface="Noto Sans SC"/>
                <a:cs typeface="Noto Sans SC"/>
                <a:sym typeface="Noto Sans SC"/>
              </a:rPr>
              <a:t>自主检索</a:t>
            </a:r>
            <a:r>
              <a:rPr lang="en-US" altLang="zh-CN" b="1" dirty="0">
                <a:solidFill>
                  <a:srgbClr val="FFFFFF">
                    <a:alpha val="90196"/>
                  </a:srgbClr>
                </a:solidFill>
                <a:latin typeface="Noto Sans SC"/>
                <a:ea typeface="Noto Sans SC"/>
                <a:cs typeface="Noto Sans SC"/>
                <a:sym typeface="Noto Sans SC"/>
              </a:rPr>
              <a:t> 15 </a:t>
            </a:r>
            <a:r>
              <a:rPr lang="en-US" altLang="zh-CN" b="1" dirty="0" err="1">
                <a:solidFill>
                  <a:srgbClr val="FFFFFF">
                    <a:alpha val="90196"/>
                  </a:srgbClr>
                </a:solidFill>
                <a:latin typeface="Noto Sans SC"/>
                <a:ea typeface="Noto Sans SC"/>
                <a:cs typeface="Noto Sans SC"/>
                <a:sym typeface="Noto Sans SC"/>
              </a:rPr>
              <a:t>万条真实日美法条</a:t>
            </a:r>
            <a:r>
              <a:rPr lang="en-US" altLang="zh-CN" b="1" dirty="0">
                <a:solidFill>
                  <a:srgbClr val="FFFFFF">
                    <a:alpha val="90196"/>
                  </a:srgbClr>
                </a:solidFill>
                <a:latin typeface="Noto Sans SC"/>
                <a:ea typeface="Noto Sans SC"/>
                <a:cs typeface="Noto Sans SC"/>
                <a:sym typeface="Noto Sans SC"/>
              </a:rPr>
              <a:t> → </a:t>
            </a:r>
            <a:r>
              <a:rPr lang="en-US" altLang="zh-CN" b="1" dirty="0" err="1">
                <a:solidFill>
                  <a:srgbClr val="FFFFFF">
                    <a:alpha val="90196"/>
                  </a:srgbClr>
                </a:solidFill>
                <a:latin typeface="Noto Sans SC"/>
                <a:ea typeface="Noto Sans SC"/>
                <a:cs typeface="Noto Sans SC"/>
                <a:sym typeface="Noto Sans SC"/>
              </a:rPr>
              <a:t>智能起草与质检</a:t>
            </a:r>
            <a:r>
              <a:rPr lang="en-US" altLang="zh-CN" b="1" dirty="0">
                <a:solidFill>
                  <a:srgbClr val="FFFFFF">
                    <a:alpha val="90196"/>
                  </a:srgbClr>
                </a:solidFill>
                <a:latin typeface="Noto Sans SC"/>
                <a:ea typeface="Noto Sans SC"/>
                <a:cs typeface="Noto Sans SC"/>
                <a:sym typeface="Noto Sans SC"/>
              </a:rPr>
              <a:t> → </a:t>
            </a:r>
            <a:r>
              <a:rPr lang="en-US" altLang="zh-CN" b="1" dirty="0" err="1">
                <a:solidFill>
                  <a:srgbClr val="FFFFFF">
                    <a:alpha val="90196"/>
                  </a:srgbClr>
                </a:solidFill>
                <a:latin typeface="Noto Sans SC"/>
                <a:ea typeface="Noto Sans SC"/>
                <a:cs typeface="Noto Sans SC"/>
                <a:sym typeface="Noto Sans SC"/>
              </a:rPr>
              <a:t>交付可溯源的</a:t>
            </a:r>
            <a:r>
              <a:rPr lang="en-US" altLang="zh-CN" b="1" dirty="0">
                <a:solidFill>
                  <a:srgbClr val="FFFFFF">
                    <a:alpha val="90196"/>
                  </a:srgbClr>
                </a:solidFill>
                <a:latin typeface="Noto Sans SC"/>
                <a:ea typeface="Noto Sans SC"/>
                <a:cs typeface="Noto Sans SC"/>
                <a:sym typeface="Noto Sans SC"/>
              </a:rPr>
              <a:t> .docx </a:t>
            </a:r>
            <a:r>
              <a:rPr lang="en-US" altLang="zh-CN" b="1" dirty="0" err="1">
                <a:solidFill>
                  <a:srgbClr val="FFFFFF">
                    <a:alpha val="90196"/>
                  </a:srgbClr>
                </a:solidFill>
                <a:latin typeface="Noto Sans SC"/>
                <a:ea typeface="Noto Sans SC"/>
                <a:cs typeface="Noto Sans SC"/>
                <a:sym typeface="Noto Sans SC"/>
              </a:rPr>
              <a:t>文书，全流程数据不出本机，安全可控</a:t>
            </a:r>
            <a:r>
              <a:rPr lang="en-US" altLang="zh-CN" b="1" dirty="0">
                <a:solidFill>
                  <a:srgbClr val="FFFFFF">
                    <a:alpha val="90196"/>
                  </a:srgbClr>
                </a:solidFill>
                <a:latin typeface="Noto Sans SC"/>
                <a:ea typeface="Noto Sans SC"/>
                <a:cs typeface="Noto Sans SC"/>
                <a:sym typeface="Noto Sans SC"/>
              </a:rPr>
              <a:t>。</a:t>
            </a:r>
            <a:endParaRPr lang="en-US" altLang="zh-CN" b="1" dirty="0"/>
          </a:p>
        </p:txBody>
      </p:sp>
      <p:sp>
        <p:nvSpPr>
          <p:cNvPr id="12" name="文本框 11">
            <a:extLst>
              <a:ext uri="{FF2B5EF4-FFF2-40B4-BE49-F238E27FC236}">
                <a16:creationId xmlns:a16="http://schemas.microsoft.com/office/drawing/2014/main" id="{49DBE764-8078-4D88-ACCA-536608867A6C}"/>
              </a:ext>
            </a:extLst>
          </p:cNvPr>
          <p:cNvSpPr txBox="1"/>
          <p:nvPr/>
        </p:nvSpPr>
        <p:spPr>
          <a:xfrm>
            <a:off x="1449262" y="2026779"/>
            <a:ext cx="2682533" cy="518860"/>
          </a:xfrm>
          <a:prstGeom prst="rect">
            <a:avLst/>
          </a:prstGeom>
          <a:noFill/>
        </p:spPr>
        <p:txBody>
          <a:bodyPr wrap="square" rtlCol="0">
            <a:spAutoFit/>
          </a:bodyPr>
          <a:lstStyle/>
          <a:p>
            <a:pPr>
              <a:lnSpc>
                <a:spcPct val="125000"/>
              </a:lnSpc>
              <a:defRPr/>
            </a:pPr>
            <a:r>
              <a:rPr lang="en-US" altLang="zh-CN" sz="2400" b="1" dirty="0">
                <a:solidFill>
                  <a:schemeClr val="bg1"/>
                </a:solidFill>
                <a:latin typeface="Noto Sans SC"/>
                <a:ea typeface="Noto Sans SC"/>
                <a:cs typeface="Noto Sans SC"/>
                <a:sym typeface="Noto Sans SC"/>
              </a:rPr>
              <a:t>法元 · Faron</a:t>
            </a:r>
            <a:endParaRPr lang="en-US" altLang="zh-CN" sz="2400" dirty="0">
              <a:solidFill>
                <a:schemeClr val="bg1"/>
              </a:solidFill>
            </a:endParaRPr>
          </a:p>
        </p:txBody>
      </p:sp>
      <p:sp>
        <p:nvSpPr>
          <p:cNvPr id="3" name="矩形 2">
            <a:extLst>
              <a:ext uri="{FF2B5EF4-FFF2-40B4-BE49-F238E27FC236}">
                <a16:creationId xmlns:a16="http://schemas.microsoft.com/office/drawing/2014/main" id="{9460CF3B-48EE-01ED-9025-43992B1B0681}"/>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3" name="平行四边形 22">
            <a:extLst>
              <a:ext uri="{FF2B5EF4-FFF2-40B4-BE49-F238E27FC236}">
                <a16:creationId xmlns:a16="http://schemas.microsoft.com/office/drawing/2014/main" id="{15B8D4FC-2799-4796-5C72-60C026267FF8}"/>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a:extLst>
              <a:ext uri="{FF2B5EF4-FFF2-40B4-BE49-F238E27FC236}">
                <a16:creationId xmlns:a16="http://schemas.microsoft.com/office/drawing/2014/main" id="{CDCAA9F1-3970-7564-7223-241C058DABDA}"/>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5BAFB27F-2E52-9957-A41F-582FA6BAB329}"/>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项目概述</a:t>
            </a:r>
            <a:endParaRPr lang="en-US" altLang="zh-CN" sz="3600" dirty="0"/>
          </a:p>
        </p:txBody>
      </p:sp>
      <p:pic>
        <p:nvPicPr>
          <p:cNvPr id="29" name="图片 28">
            <a:extLst>
              <a:ext uri="{FF2B5EF4-FFF2-40B4-BE49-F238E27FC236}">
                <a16:creationId xmlns:a16="http://schemas.microsoft.com/office/drawing/2014/main" id="{4081C481-2A50-7DA4-0F02-7D5EB9FCF0FB}"/>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1" name="矩形 30">
            <a:extLst>
              <a:ext uri="{FF2B5EF4-FFF2-40B4-BE49-F238E27FC236}">
                <a16:creationId xmlns:a16="http://schemas.microsoft.com/office/drawing/2014/main" id="{C5D9BA55-5AA1-BD9B-4531-D0599EE06B3D}"/>
              </a:ext>
            </a:extLst>
          </p:cNvPr>
          <p:cNvSpPr/>
          <p:nvPr/>
        </p:nvSpPr>
        <p:spPr>
          <a:xfrm>
            <a:off x="10847073" y="2647246"/>
            <a:ext cx="160080" cy="7197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AutoShape 7">
            <a:extLst>
              <a:ext uri="{FF2B5EF4-FFF2-40B4-BE49-F238E27FC236}">
                <a16:creationId xmlns:a16="http://schemas.microsoft.com/office/drawing/2014/main" id="{FBDB00DC-3B6F-EA99-B33E-627C0CC9E80A}"/>
              </a:ext>
            </a:extLst>
          </p:cNvPr>
          <p:cNvSpPr/>
          <p:nvPr/>
        </p:nvSpPr>
        <p:spPr>
          <a:xfrm>
            <a:off x="797021" y="3815237"/>
            <a:ext cx="3429000" cy="2286000"/>
          </a:xfrm>
          <a:prstGeom prst="roundRect">
            <a:avLst>
              <a:gd name="adj" fmla="val 0"/>
            </a:avLst>
          </a:prstGeom>
          <a:solidFill>
            <a:srgbClr val="C00000">
              <a:alpha val="0"/>
            </a:srgbClr>
          </a:solidFill>
          <a:ln w="12700" cap="flat" cmpd="sng">
            <a:solidFill>
              <a:srgbClr val="C00000"/>
            </a:solidFill>
            <a:prstDash val="solid"/>
            <a:round/>
          </a:ln>
        </p:spPr>
        <p:txBody>
          <a:bodyPr vert="horz" wrap="square" lIns="63500" tIns="63500" rIns="63500" bIns="63500" rtlCol="0" anchor="ctr"/>
          <a:lstStyle/>
          <a:p>
            <a:pPr algn="ctr">
              <a:defRPr/>
            </a:pPr>
            <a:endParaRPr/>
          </a:p>
        </p:txBody>
      </p:sp>
      <p:pic>
        <p:nvPicPr>
          <p:cNvPr id="35" name="Picture 8">
            <a:extLst>
              <a:ext uri="{FF2B5EF4-FFF2-40B4-BE49-F238E27FC236}">
                <a16:creationId xmlns:a16="http://schemas.microsoft.com/office/drawing/2014/main" id="{0A360E48-29E9-EED4-A84E-6BE01D05EE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021" y="4069237"/>
            <a:ext cx="406400" cy="406400"/>
          </a:xfrm>
          <a:prstGeom prst="rect">
            <a:avLst/>
          </a:prstGeom>
        </p:spPr>
      </p:pic>
      <p:sp>
        <p:nvSpPr>
          <p:cNvPr id="37" name="AutoShape 9">
            <a:extLst>
              <a:ext uri="{FF2B5EF4-FFF2-40B4-BE49-F238E27FC236}">
                <a16:creationId xmlns:a16="http://schemas.microsoft.com/office/drawing/2014/main" id="{E577C8FD-851E-96F2-9F68-720F11CF3351}"/>
              </a:ext>
            </a:extLst>
          </p:cNvPr>
          <p:cNvSpPr/>
          <p:nvPr/>
        </p:nvSpPr>
        <p:spPr>
          <a:xfrm>
            <a:off x="1559021" y="4094637"/>
            <a:ext cx="2540000" cy="381000"/>
          </a:xfrm>
          <a:prstGeom prst="rect">
            <a:avLst/>
          </a:prstGeom>
          <a:solidFill>
            <a:srgbClr val="C00000">
              <a:alpha val="0"/>
            </a:srgbClr>
          </a:solid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C00000"/>
                </a:solidFill>
                <a:latin typeface="Noto Sans SC"/>
                <a:ea typeface="Noto Sans SC"/>
                <a:cs typeface="Noto Sans SC"/>
                <a:sym typeface="Noto Sans SC"/>
              </a:rPr>
              <a:t>桌面端</a:t>
            </a:r>
            <a:r>
              <a:rPr lang="en-US" sz="2000" b="1" i="0" u="none" strike="noStrike" dirty="0">
                <a:solidFill>
                  <a:srgbClr val="C00000"/>
                </a:solidFill>
                <a:latin typeface="Noto Sans SC"/>
                <a:ea typeface="Noto Sans SC"/>
                <a:cs typeface="Noto Sans SC"/>
                <a:sym typeface="Noto Sans SC"/>
              </a:rPr>
              <a:t> (Tauri 2)</a:t>
            </a:r>
            <a:endParaRPr lang="en-US" sz="1200" dirty="0">
              <a:solidFill>
                <a:srgbClr val="C00000"/>
              </a:solidFill>
            </a:endParaRPr>
          </a:p>
        </p:txBody>
      </p:sp>
      <p:sp>
        <p:nvSpPr>
          <p:cNvPr id="39" name="AutoShape 10">
            <a:extLst>
              <a:ext uri="{FF2B5EF4-FFF2-40B4-BE49-F238E27FC236}">
                <a16:creationId xmlns:a16="http://schemas.microsoft.com/office/drawing/2014/main" id="{E1E413E2-CF1B-64E7-DC58-FF86410F4C7B}"/>
              </a:ext>
            </a:extLst>
          </p:cNvPr>
          <p:cNvSpPr/>
          <p:nvPr/>
        </p:nvSpPr>
        <p:spPr>
          <a:xfrm>
            <a:off x="1025082" y="4646860"/>
            <a:ext cx="2921000" cy="1270000"/>
          </a:xfrm>
          <a:prstGeom prst="rect">
            <a:avLst/>
          </a:prstGeom>
          <a:solidFill>
            <a:srgbClr val="C00000">
              <a:alpha val="0"/>
            </a:srgbClr>
          </a:solidFill>
          <a:ln w="12700" cap="flat" cmpd="sng">
            <a:noFill/>
            <a:prstDash val="solid"/>
            <a:round/>
          </a:ln>
        </p:spPr>
        <p:txBody>
          <a:bodyPr vert="horz" wrap="square" lIns="0" tIns="0" rIns="0" bIns="0" rtlCol="0" anchor="ctr" anchorCtr="0"/>
          <a:lstStyle/>
          <a:p>
            <a:pPr marL="0" indent="0" algn="l">
              <a:lnSpc>
                <a:spcPct val="116666"/>
              </a:lnSpc>
              <a:defRPr/>
            </a:pPr>
            <a:r>
              <a:rPr lang="en-US" sz="1600" i="0" u="none" strike="noStrike" dirty="0" err="1">
                <a:latin typeface="Noto Sans SC"/>
                <a:ea typeface="Noto Sans SC"/>
                <a:cs typeface="Noto Sans SC"/>
                <a:sym typeface="Noto Sans SC"/>
              </a:rPr>
              <a:t>功能完整的主应用载体，集成法条检索、文书起草、智能质检等全部核心功能，支持本地数据私有化部署，兼顾效率与安全</a:t>
            </a:r>
            <a:r>
              <a:rPr lang="en-US" sz="1600" i="0" u="none" strike="noStrike" dirty="0">
                <a:latin typeface="Noto Sans SC"/>
                <a:ea typeface="Noto Sans SC"/>
                <a:cs typeface="Noto Sans SC"/>
                <a:sym typeface="Noto Sans SC"/>
              </a:rPr>
              <a:t>。</a:t>
            </a:r>
            <a:endParaRPr lang="en-US" sz="1600" dirty="0"/>
          </a:p>
        </p:txBody>
      </p:sp>
      <p:sp>
        <p:nvSpPr>
          <p:cNvPr id="41" name="AutoShape 11">
            <a:extLst>
              <a:ext uri="{FF2B5EF4-FFF2-40B4-BE49-F238E27FC236}">
                <a16:creationId xmlns:a16="http://schemas.microsoft.com/office/drawing/2014/main" id="{45A0A769-F751-FE94-D6F2-B2AA78348871}"/>
              </a:ext>
            </a:extLst>
          </p:cNvPr>
          <p:cNvSpPr/>
          <p:nvPr/>
        </p:nvSpPr>
        <p:spPr>
          <a:xfrm>
            <a:off x="4416521" y="3815237"/>
            <a:ext cx="3429000" cy="2286000"/>
          </a:xfrm>
          <a:prstGeom prst="roundRect">
            <a:avLst>
              <a:gd name="adj" fmla="val 0"/>
            </a:avLst>
          </a:prstGeom>
          <a:solidFill>
            <a:srgbClr val="C00000">
              <a:alpha val="0"/>
            </a:srgbClr>
          </a:solidFill>
          <a:ln w="12700" cap="flat" cmpd="sng">
            <a:solidFill>
              <a:srgbClr val="C00000"/>
            </a:solidFill>
            <a:prstDash val="solid"/>
            <a:round/>
          </a:ln>
        </p:spPr>
        <p:txBody>
          <a:bodyPr vert="horz" wrap="square" lIns="63500" tIns="63500" rIns="63500" bIns="63500" rtlCol="0" anchor="ctr"/>
          <a:lstStyle/>
          <a:p>
            <a:pPr algn="ctr">
              <a:defRPr/>
            </a:pPr>
            <a:endParaRPr/>
          </a:p>
        </p:txBody>
      </p:sp>
      <p:pic>
        <p:nvPicPr>
          <p:cNvPr id="43" name="Picture 12">
            <a:extLst>
              <a:ext uri="{FF2B5EF4-FFF2-40B4-BE49-F238E27FC236}">
                <a16:creationId xmlns:a16="http://schemas.microsoft.com/office/drawing/2014/main" id="{DBFB630B-3993-C221-AC9F-0663648F8C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70521" y="4069237"/>
            <a:ext cx="406400" cy="406400"/>
          </a:xfrm>
          <a:prstGeom prst="rect">
            <a:avLst/>
          </a:prstGeom>
        </p:spPr>
      </p:pic>
      <p:sp>
        <p:nvSpPr>
          <p:cNvPr id="45" name="AutoShape 13">
            <a:extLst>
              <a:ext uri="{FF2B5EF4-FFF2-40B4-BE49-F238E27FC236}">
                <a16:creationId xmlns:a16="http://schemas.microsoft.com/office/drawing/2014/main" id="{53D3F9A4-D401-63AF-9A33-7B0B138303FC}"/>
              </a:ext>
            </a:extLst>
          </p:cNvPr>
          <p:cNvSpPr/>
          <p:nvPr/>
        </p:nvSpPr>
        <p:spPr>
          <a:xfrm>
            <a:off x="5178521" y="4094637"/>
            <a:ext cx="2540000" cy="381000"/>
          </a:xfrm>
          <a:prstGeom prst="rect">
            <a:avLst/>
          </a:prstGeom>
          <a:solidFill>
            <a:srgbClr val="C00000">
              <a:alpha val="0"/>
            </a:srgbClr>
          </a:solid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C00000"/>
                </a:solidFill>
                <a:latin typeface="Noto Sans SC"/>
                <a:ea typeface="Noto Sans SC"/>
                <a:cs typeface="Noto Sans SC"/>
                <a:sym typeface="Noto Sans SC"/>
              </a:rPr>
              <a:t>悬浮球</a:t>
            </a:r>
            <a:r>
              <a:rPr lang="en-US" sz="2000" b="1" i="0" u="none" strike="noStrike" dirty="0">
                <a:solidFill>
                  <a:srgbClr val="C00000"/>
                </a:solidFill>
                <a:latin typeface="Noto Sans SC"/>
                <a:ea typeface="Noto Sans SC"/>
                <a:cs typeface="Noto Sans SC"/>
                <a:sym typeface="Noto Sans SC"/>
              </a:rPr>
              <a:t> (Electron)</a:t>
            </a:r>
            <a:endParaRPr lang="en-US" sz="1200" dirty="0">
              <a:solidFill>
                <a:srgbClr val="C00000"/>
              </a:solidFill>
            </a:endParaRPr>
          </a:p>
        </p:txBody>
      </p:sp>
      <p:sp>
        <p:nvSpPr>
          <p:cNvPr id="47" name="AutoShape 14">
            <a:extLst>
              <a:ext uri="{FF2B5EF4-FFF2-40B4-BE49-F238E27FC236}">
                <a16:creationId xmlns:a16="http://schemas.microsoft.com/office/drawing/2014/main" id="{0E657077-239A-74F2-68D0-EBCCF794BB30}"/>
              </a:ext>
            </a:extLst>
          </p:cNvPr>
          <p:cNvSpPr/>
          <p:nvPr/>
        </p:nvSpPr>
        <p:spPr>
          <a:xfrm>
            <a:off x="4670521" y="4646860"/>
            <a:ext cx="2921000" cy="1270000"/>
          </a:xfrm>
          <a:prstGeom prst="rect">
            <a:avLst/>
          </a:prstGeom>
          <a:solidFill>
            <a:srgbClr val="C00000">
              <a:alpha val="0"/>
            </a:srgbClr>
          </a:solid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dirty="0" err="1">
                <a:latin typeface="Noto Sans SC"/>
                <a:ea typeface="Noto Sans SC"/>
                <a:cs typeface="Noto Sans SC"/>
                <a:sym typeface="Noto Sans SC"/>
              </a:rPr>
              <a:t>轻量级侧边悬浮组件，支持划词唤起，提供快速翻译、法条速查、任务预填等便捷功能，无缝融入日常办公场景，提升效率</a:t>
            </a:r>
            <a:r>
              <a:rPr lang="en-US" sz="1600" b="0" i="0" u="none" strike="noStrike" dirty="0">
                <a:latin typeface="Noto Sans SC"/>
                <a:ea typeface="Noto Sans SC"/>
                <a:cs typeface="Noto Sans SC"/>
                <a:sym typeface="Noto Sans SC"/>
              </a:rPr>
              <a:t>。</a:t>
            </a:r>
            <a:endParaRPr lang="en-US" sz="1200" dirty="0"/>
          </a:p>
        </p:txBody>
      </p:sp>
      <p:sp>
        <p:nvSpPr>
          <p:cNvPr id="49" name="AutoShape 15">
            <a:extLst>
              <a:ext uri="{FF2B5EF4-FFF2-40B4-BE49-F238E27FC236}">
                <a16:creationId xmlns:a16="http://schemas.microsoft.com/office/drawing/2014/main" id="{71C4A8CE-4174-732C-2833-669925238C9D}"/>
              </a:ext>
            </a:extLst>
          </p:cNvPr>
          <p:cNvSpPr/>
          <p:nvPr/>
        </p:nvSpPr>
        <p:spPr>
          <a:xfrm>
            <a:off x="8036021" y="3815237"/>
            <a:ext cx="3429000" cy="2286000"/>
          </a:xfrm>
          <a:prstGeom prst="roundRect">
            <a:avLst>
              <a:gd name="adj" fmla="val 0"/>
            </a:avLst>
          </a:prstGeom>
          <a:solidFill>
            <a:srgbClr val="C00000">
              <a:alpha val="0"/>
            </a:srgbClr>
          </a:solidFill>
          <a:ln w="12700" cap="flat" cmpd="sng">
            <a:solidFill>
              <a:srgbClr val="C00000"/>
            </a:solidFill>
            <a:prstDash val="solid"/>
            <a:round/>
          </a:ln>
        </p:spPr>
        <p:txBody>
          <a:bodyPr vert="horz" wrap="square" lIns="63500" tIns="63500" rIns="63500" bIns="63500" rtlCol="0" anchor="ctr"/>
          <a:lstStyle/>
          <a:p>
            <a:pPr algn="ctr">
              <a:defRPr/>
            </a:pPr>
            <a:endParaRPr/>
          </a:p>
        </p:txBody>
      </p:sp>
      <p:pic>
        <p:nvPicPr>
          <p:cNvPr id="51" name="Picture 16">
            <a:extLst>
              <a:ext uri="{FF2B5EF4-FFF2-40B4-BE49-F238E27FC236}">
                <a16:creationId xmlns:a16="http://schemas.microsoft.com/office/drawing/2014/main" id="{F65186A5-0C50-DFBD-8A54-EB90532AC6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90021" y="4069237"/>
            <a:ext cx="406400" cy="406400"/>
          </a:xfrm>
          <a:prstGeom prst="rect">
            <a:avLst/>
          </a:prstGeom>
        </p:spPr>
      </p:pic>
      <p:sp>
        <p:nvSpPr>
          <p:cNvPr id="53" name="AutoShape 17">
            <a:extLst>
              <a:ext uri="{FF2B5EF4-FFF2-40B4-BE49-F238E27FC236}">
                <a16:creationId xmlns:a16="http://schemas.microsoft.com/office/drawing/2014/main" id="{F2F6363D-5284-DA54-18F4-C9BCA87006B9}"/>
              </a:ext>
            </a:extLst>
          </p:cNvPr>
          <p:cNvSpPr/>
          <p:nvPr/>
        </p:nvSpPr>
        <p:spPr>
          <a:xfrm>
            <a:off x="8798021" y="4094637"/>
            <a:ext cx="2540000" cy="381000"/>
          </a:xfrm>
          <a:prstGeom prst="rect">
            <a:avLst/>
          </a:prstGeom>
          <a:solidFill>
            <a:srgbClr val="C00000">
              <a:alpha val="0"/>
            </a:srgbClr>
          </a:solid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C00000"/>
                </a:solidFill>
                <a:latin typeface="Noto Sans SC"/>
                <a:ea typeface="Noto Sans SC"/>
                <a:cs typeface="Noto Sans SC"/>
                <a:sym typeface="Noto Sans SC"/>
              </a:rPr>
              <a:t>移动端</a:t>
            </a:r>
            <a:r>
              <a:rPr lang="en-US" sz="2000" b="1" i="0" u="none" strike="noStrike" dirty="0">
                <a:solidFill>
                  <a:srgbClr val="C00000"/>
                </a:solidFill>
                <a:latin typeface="Noto Sans SC"/>
                <a:ea typeface="Noto Sans SC"/>
                <a:cs typeface="Noto Sans SC"/>
                <a:sym typeface="Noto Sans SC"/>
              </a:rPr>
              <a:t> (Capacitor)</a:t>
            </a:r>
            <a:endParaRPr lang="en-US" sz="1200" dirty="0">
              <a:solidFill>
                <a:srgbClr val="C00000"/>
              </a:solidFill>
            </a:endParaRPr>
          </a:p>
        </p:txBody>
      </p:sp>
      <p:sp>
        <p:nvSpPr>
          <p:cNvPr id="55" name="AutoShape 18">
            <a:extLst>
              <a:ext uri="{FF2B5EF4-FFF2-40B4-BE49-F238E27FC236}">
                <a16:creationId xmlns:a16="http://schemas.microsoft.com/office/drawing/2014/main" id="{69A3A807-4A42-1E74-BF69-324ADFDEF225}"/>
              </a:ext>
            </a:extLst>
          </p:cNvPr>
          <p:cNvSpPr/>
          <p:nvPr/>
        </p:nvSpPr>
        <p:spPr>
          <a:xfrm>
            <a:off x="8290021" y="4646860"/>
            <a:ext cx="2921000" cy="1270000"/>
          </a:xfrm>
          <a:prstGeom prst="rect">
            <a:avLst/>
          </a:prstGeom>
          <a:solidFill>
            <a:srgbClr val="C00000">
              <a:alpha val="0"/>
            </a:srgbClr>
          </a:solidFill>
          <a:ln w="12700" cap="flat" cmpd="sng">
            <a:noFill/>
            <a:prstDash val="solid"/>
            <a:round/>
          </a:ln>
        </p:spPr>
        <p:txBody>
          <a:bodyPr vert="horz" wrap="square" lIns="0" tIns="0" rIns="0" bIns="0" rtlCol="0" anchor="ctr" anchorCtr="0"/>
          <a:lstStyle/>
          <a:p>
            <a:pPr>
              <a:defRPr/>
            </a:pPr>
            <a:r>
              <a:rPr lang="en-US" sz="1600" b="0" i="0" u="none" strike="noStrike" dirty="0" err="1">
                <a:latin typeface="Noto Sans SC"/>
                <a:ea typeface="Noto Sans SC"/>
                <a:cs typeface="Noto Sans SC"/>
                <a:sym typeface="Noto Sans SC"/>
              </a:rPr>
              <a:t>跨平台版本</a:t>
            </a:r>
            <a:r>
              <a:rPr lang="zh-CN" altLang="en-US" sz="1600" dirty="0">
                <a:latin typeface="Noto Sans SC"/>
                <a:ea typeface="Noto Sans SC"/>
                <a:cs typeface="Noto Sans SC"/>
                <a:sym typeface="Noto Sans SC"/>
              </a:rPr>
              <a:t>，</a:t>
            </a:r>
            <a:r>
              <a:rPr lang="en-US" sz="1600" b="0" i="0" u="none" strike="noStrike" dirty="0" err="1">
                <a:latin typeface="Noto Sans SC"/>
                <a:ea typeface="Noto Sans SC"/>
                <a:cs typeface="Noto Sans SC"/>
                <a:sym typeface="Noto Sans SC"/>
              </a:rPr>
              <a:t>便于移动场景下的快速体验与功能演示，随时随地查看进度</a:t>
            </a:r>
            <a:r>
              <a:rPr lang="zh-CN" altLang="en-US" sz="1600" dirty="0">
                <a:latin typeface="Noto Sans SC"/>
                <a:ea typeface="Noto Sans SC"/>
                <a:cs typeface="Noto Sans SC"/>
                <a:sym typeface="Noto Sans SC"/>
              </a:rPr>
              <a:t>，后续将随云端数据库搭建一同完善。</a:t>
            </a:r>
            <a:endParaRPr lang="en-US" sz="1200" dirty="0"/>
          </a:p>
        </p:txBody>
      </p:sp>
    </p:spTree>
    <p:extLst>
      <p:ext uri="{BB962C8B-B14F-4D97-AF65-F5344CB8AC3E}">
        <p14:creationId xmlns:p14="http://schemas.microsoft.com/office/powerpoint/2010/main" val="417354091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9BE0742-84FC-4640-8733-9B8F2FFECBB1}"/>
              </a:ext>
            </a:extLst>
          </p:cNvPr>
          <p:cNvSpPr/>
          <p:nvPr/>
        </p:nvSpPr>
        <p:spPr>
          <a:xfrm>
            <a:off x="0" y="4493276"/>
            <a:ext cx="12192000" cy="2364723"/>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B35477E-A7A4-4542-A037-D12701E85B86}"/>
              </a:ext>
            </a:extLst>
          </p:cNvPr>
          <p:cNvSpPr txBox="1"/>
          <p:nvPr/>
        </p:nvSpPr>
        <p:spPr>
          <a:xfrm>
            <a:off x="2510328" y="3811718"/>
            <a:ext cx="7535372" cy="518860"/>
          </a:xfrm>
          <a:prstGeom prst="rect">
            <a:avLst/>
          </a:prstGeom>
          <a:noFill/>
        </p:spPr>
        <p:txBody>
          <a:bodyPr wrap="square" rtlCol="0">
            <a:spAutoFit/>
          </a:bodyPr>
          <a:lstStyle/>
          <a:p>
            <a:pPr>
              <a:lnSpc>
                <a:spcPct val="125000"/>
              </a:lnSpc>
              <a:defRPr/>
            </a:pPr>
            <a:r>
              <a:rPr lang="en-US" altLang="zh-CN" sz="2400" b="1" dirty="0" err="1">
                <a:latin typeface="Noto Sans SC"/>
                <a:ea typeface="Noto Sans SC"/>
                <a:cs typeface="Noto Sans SC"/>
                <a:sym typeface="Noto Sans SC"/>
              </a:rPr>
              <a:t>演进路径：从“问答助手”到“会交作业的数字员工</a:t>
            </a:r>
            <a:r>
              <a:rPr lang="en-US" altLang="zh-CN" sz="2400" b="1" dirty="0">
                <a:latin typeface="Noto Sans SC"/>
                <a:ea typeface="Noto Sans SC"/>
                <a:cs typeface="Noto Sans SC"/>
                <a:sym typeface="Noto Sans SC"/>
              </a:rPr>
              <a:t>”</a:t>
            </a:r>
            <a:endParaRPr lang="en-US" altLang="zh-CN" sz="1200" dirty="0"/>
          </a:p>
        </p:txBody>
      </p:sp>
      <p:sp>
        <p:nvSpPr>
          <p:cNvPr id="15" name="矩形 14">
            <a:extLst>
              <a:ext uri="{FF2B5EF4-FFF2-40B4-BE49-F238E27FC236}">
                <a16:creationId xmlns:a16="http://schemas.microsoft.com/office/drawing/2014/main" id="{8FCCE1FA-D410-A1A1-4CC2-AC946830A550}"/>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4" name="平行四边形 33">
            <a:extLst>
              <a:ext uri="{FF2B5EF4-FFF2-40B4-BE49-F238E27FC236}">
                <a16:creationId xmlns:a16="http://schemas.microsoft.com/office/drawing/2014/main" id="{35CE6B5E-3282-622C-C103-BFBEFF638E0D}"/>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平行四边形 35">
            <a:extLst>
              <a:ext uri="{FF2B5EF4-FFF2-40B4-BE49-F238E27FC236}">
                <a16:creationId xmlns:a16="http://schemas.microsoft.com/office/drawing/2014/main" id="{8ECC1379-771C-4229-FAE1-00988A1AADF6}"/>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F59EB2B8-7902-CE0C-1CC5-E22F99C2A224}"/>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项目概述</a:t>
            </a:r>
            <a:endParaRPr lang="en-US" altLang="zh-CN" sz="3600" dirty="0"/>
          </a:p>
        </p:txBody>
      </p:sp>
      <p:pic>
        <p:nvPicPr>
          <p:cNvPr id="40" name="图片 39">
            <a:extLst>
              <a:ext uri="{FF2B5EF4-FFF2-40B4-BE49-F238E27FC236}">
                <a16:creationId xmlns:a16="http://schemas.microsoft.com/office/drawing/2014/main" id="{E4335EE4-8856-9489-F466-B88F6973D81A}"/>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42" name="AutoShape 4">
            <a:extLst>
              <a:ext uri="{FF2B5EF4-FFF2-40B4-BE49-F238E27FC236}">
                <a16:creationId xmlns:a16="http://schemas.microsoft.com/office/drawing/2014/main" id="{0204CF66-5518-1EA3-077C-0DC19137552B}"/>
              </a:ext>
            </a:extLst>
          </p:cNvPr>
          <p:cNvSpPr/>
          <p:nvPr/>
        </p:nvSpPr>
        <p:spPr>
          <a:xfrm>
            <a:off x="363338" y="1423010"/>
            <a:ext cx="2216528" cy="2208202"/>
          </a:xfrm>
          <a:prstGeom prst="roundRect">
            <a:avLst>
              <a:gd name="adj" fmla="val 0"/>
            </a:avLst>
          </a:prstGeom>
          <a:solidFill>
            <a:srgbClr val="FFFFFF">
              <a:alpha val="8000"/>
            </a:srgbClr>
          </a:solidFill>
          <a:ln w="25400" cap="flat" cmpd="sng">
            <a:solidFill>
              <a:schemeClr val="tx1">
                <a:alpha val="67000"/>
              </a:schemeClr>
            </a:solidFill>
            <a:prstDash val="solid"/>
            <a:round/>
          </a:ln>
        </p:spPr>
        <p:txBody>
          <a:bodyPr vert="horz" wrap="square" lIns="63500" tIns="63500" rIns="63500" bIns="63500" rtlCol="0" anchor="ctr"/>
          <a:lstStyle/>
          <a:p>
            <a:pPr algn="ctr">
              <a:defRPr/>
            </a:pPr>
            <a:endParaRPr/>
          </a:p>
        </p:txBody>
      </p:sp>
      <p:sp>
        <p:nvSpPr>
          <p:cNvPr id="44" name="AutoShape 5">
            <a:extLst>
              <a:ext uri="{FF2B5EF4-FFF2-40B4-BE49-F238E27FC236}">
                <a16:creationId xmlns:a16="http://schemas.microsoft.com/office/drawing/2014/main" id="{F1207DAF-E463-F6BA-7BCD-C0F0723BFAB3}"/>
              </a:ext>
            </a:extLst>
          </p:cNvPr>
          <p:cNvSpPr/>
          <p:nvPr/>
        </p:nvSpPr>
        <p:spPr>
          <a:xfrm>
            <a:off x="512841" y="1580939"/>
            <a:ext cx="1961153" cy="192327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C00000"/>
                </a:solidFill>
                <a:latin typeface="Noto Sans SC"/>
                <a:ea typeface="Noto Sans SC"/>
                <a:cs typeface="Noto Sans SC"/>
                <a:sym typeface="Noto Sans SC"/>
              </a:rPr>
              <a:t>15W+</a:t>
            </a:r>
            <a:endParaRPr lang="en-US" sz="1200" dirty="0">
              <a:solidFill>
                <a:srgbClr val="C00000"/>
              </a:solidFill>
            </a:endParaRPr>
          </a:p>
          <a:p>
            <a:pPr marL="0" indent="0" algn="l">
              <a:lnSpc>
                <a:spcPct val="125000"/>
              </a:lnSpc>
            </a:pPr>
            <a:r>
              <a:rPr lang="en-US" sz="1600" b="1" i="0" u="none" strike="noStrike" dirty="0" err="1">
                <a:solidFill>
                  <a:srgbClr val="C00000"/>
                </a:solidFill>
                <a:latin typeface="Noto Sans SC"/>
                <a:ea typeface="Noto Sans SC"/>
                <a:cs typeface="Noto Sans SC"/>
                <a:sym typeface="Noto Sans SC"/>
              </a:rPr>
              <a:t>官方法条储备</a:t>
            </a:r>
            <a:endParaRPr lang="en-US" sz="1600" b="1" dirty="0">
              <a:solidFill>
                <a:srgbClr val="C00000"/>
              </a:solidFill>
              <a:latin typeface="Noto Sans SC"/>
              <a:ea typeface="Noto Sans SC"/>
              <a:cs typeface="Noto Sans SC"/>
              <a:sym typeface="Noto Sans SC"/>
            </a:endParaRPr>
          </a:p>
          <a:p>
            <a:pPr marL="0" indent="0" algn="l">
              <a:lnSpc>
                <a:spcPct val="125000"/>
              </a:lnSpc>
            </a:pPr>
            <a:r>
              <a:rPr lang="en-US" sz="200" b="1" i="0" u="none" strike="noStrike" dirty="0">
                <a:solidFill>
                  <a:srgbClr val="C00000"/>
                </a:solidFill>
                <a:latin typeface="Noto Sans SC"/>
                <a:ea typeface="Noto Sans SC"/>
                <a:cs typeface="Noto Sans SC"/>
                <a:sym typeface="Noto Sans SC"/>
              </a:rPr>
              <a:t> </a:t>
            </a:r>
          </a:p>
          <a:p>
            <a:pPr marL="0" indent="0" algn="l">
              <a:lnSpc>
                <a:spcPct val="125000"/>
              </a:lnSpc>
            </a:pPr>
            <a:endParaRPr lang="en-US" sz="100" b="1" i="0" u="none" strike="noStrike" dirty="0">
              <a:solidFill>
                <a:srgbClr val="C00000"/>
              </a:solidFill>
              <a:latin typeface="Noto Sans SC"/>
              <a:ea typeface="Noto Sans SC"/>
              <a:cs typeface="Noto Sans SC"/>
              <a:sym typeface="Noto Sans SC"/>
            </a:endParaRPr>
          </a:p>
          <a:p>
            <a:pPr marL="0" indent="0" algn="l">
              <a:lnSpc>
                <a:spcPct val="108333"/>
              </a:lnSpc>
            </a:pPr>
            <a:r>
              <a:rPr lang="en-US" sz="1400" b="0" i="0" u="none" strike="noStrike" dirty="0">
                <a:latin typeface="Noto Sans SC"/>
                <a:ea typeface="Noto Sans SC"/>
                <a:cs typeface="Noto Sans SC"/>
                <a:sym typeface="Noto Sans SC"/>
              </a:rPr>
              <a:t>覆盖日本2104部法律、美国53部法典及宪法，构建坚实法律知识底座。</a:t>
            </a:r>
          </a:p>
        </p:txBody>
      </p:sp>
      <p:sp>
        <p:nvSpPr>
          <p:cNvPr id="46" name="AutoShape 6">
            <a:extLst>
              <a:ext uri="{FF2B5EF4-FFF2-40B4-BE49-F238E27FC236}">
                <a16:creationId xmlns:a16="http://schemas.microsoft.com/office/drawing/2014/main" id="{349ACFE0-0E30-5CE2-0A22-FC110D97D6EC}"/>
              </a:ext>
            </a:extLst>
          </p:cNvPr>
          <p:cNvSpPr/>
          <p:nvPr/>
        </p:nvSpPr>
        <p:spPr>
          <a:xfrm>
            <a:off x="2764923" y="1423010"/>
            <a:ext cx="2159000" cy="2208202"/>
          </a:xfrm>
          <a:prstGeom prst="roundRect">
            <a:avLst>
              <a:gd name="adj" fmla="val 0"/>
            </a:avLst>
          </a:prstGeom>
          <a:solidFill>
            <a:srgbClr val="FFFFFF">
              <a:alpha val="8000"/>
            </a:srgbClr>
          </a:solidFill>
          <a:ln w="25400" cap="flat" cmpd="sng">
            <a:solidFill>
              <a:schemeClr val="tx1">
                <a:alpha val="67000"/>
              </a:schemeClr>
            </a:solidFill>
            <a:prstDash val="solid"/>
            <a:round/>
          </a:ln>
        </p:spPr>
        <p:txBody>
          <a:bodyPr vert="horz" wrap="square" lIns="63500" tIns="63500" rIns="63500" bIns="63500" rtlCol="0" anchor="ctr"/>
          <a:lstStyle/>
          <a:p>
            <a:pPr algn="ctr">
              <a:defRPr/>
            </a:pPr>
            <a:endParaRPr/>
          </a:p>
        </p:txBody>
      </p:sp>
      <p:sp>
        <p:nvSpPr>
          <p:cNvPr id="48" name="AutoShape 7">
            <a:extLst>
              <a:ext uri="{FF2B5EF4-FFF2-40B4-BE49-F238E27FC236}">
                <a16:creationId xmlns:a16="http://schemas.microsoft.com/office/drawing/2014/main" id="{96A3F061-84F0-C589-9254-A256D66C67DD}"/>
              </a:ext>
            </a:extLst>
          </p:cNvPr>
          <p:cNvSpPr/>
          <p:nvPr/>
        </p:nvSpPr>
        <p:spPr>
          <a:xfrm>
            <a:off x="2907798" y="1580939"/>
            <a:ext cx="1889125" cy="192327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C00000"/>
                </a:solidFill>
                <a:latin typeface="Noto Sans SC"/>
                <a:ea typeface="Noto Sans SC"/>
                <a:cs typeface="Noto Sans SC"/>
                <a:sym typeface="Noto Sans SC"/>
              </a:rPr>
              <a:t>135MB</a:t>
            </a:r>
            <a:endParaRPr lang="en-US" sz="1200" dirty="0">
              <a:solidFill>
                <a:srgbClr val="C00000"/>
              </a:solidFill>
            </a:endParaRPr>
          </a:p>
          <a:p>
            <a:pPr marL="0" indent="0" algn="l">
              <a:lnSpc>
                <a:spcPct val="125000"/>
              </a:lnSpc>
            </a:pPr>
            <a:r>
              <a:rPr lang="en-US" sz="1600" b="1" i="0" u="none" strike="noStrike" dirty="0" err="1">
                <a:solidFill>
                  <a:srgbClr val="C00000"/>
                </a:solidFill>
                <a:latin typeface="Noto Sans SC"/>
                <a:ea typeface="Noto Sans SC"/>
                <a:cs typeface="Noto Sans SC"/>
                <a:sym typeface="Noto Sans SC"/>
              </a:rPr>
              <a:t>轻量极简安装</a:t>
            </a:r>
            <a:endParaRPr lang="en-US" sz="1600" b="1" i="0" u="none" strike="noStrike" dirty="0">
              <a:solidFill>
                <a:srgbClr val="C00000"/>
              </a:solidFill>
              <a:latin typeface="Noto Sans SC"/>
              <a:ea typeface="Noto Sans SC"/>
              <a:cs typeface="Noto Sans SC"/>
              <a:sym typeface="Noto Sans SC"/>
            </a:endParaRPr>
          </a:p>
          <a:p>
            <a:pPr marL="0" indent="0" algn="l">
              <a:lnSpc>
                <a:spcPct val="125000"/>
              </a:lnSpc>
            </a:pPr>
            <a:r>
              <a:rPr lang="en-US" sz="200" b="1" i="0" u="none" strike="noStrike" dirty="0">
                <a:solidFill>
                  <a:srgbClr val="C00000"/>
                </a:solidFill>
                <a:latin typeface="Noto Sans SC"/>
                <a:ea typeface="Noto Sans SC"/>
                <a:cs typeface="Noto Sans SC"/>
                <a:sym typeface="Noto Sans SC"/>
              </a:rPr>
              <a:t> </a:t>
            </a:r>
          </a:p>
          <a:p>
            <a:pPr marL="0" indent="0" algn="l">
              <a:lnSpc>
                <a:spcPct val="108333"/>
              </a:lnSpc>
            </a:pPr>
            <a:r>
              <a:rPr lang="en-US" sz="1400" b="0" i="0" u="none" strike="noStrike" dirty="0" err="1">
                <a:latin typeface="Noto Sans SC"/>
                <a:ea typeface="Noto Sans SC"/>
                <a:cs typeface="Noto Sans SC"/>
                <a:sym typeface="Noto Sans SC"/>
              </a:rPr>
              <a:t>极小安装包体积，秒级下载完成，不占用设备冗余资源，启动即享</a:t>
            </a:r>
            <a:r>
              <a:rPr lang="en-US" sz="1400" b="0" i="0" u="none" strike="noStrike" dirty="0">
                <a:latin typeface="Noto Sans SC"/>
                <a:ea typeface="Noto Sans SC"/>
                <a:cs typeface="Noto Sans SC"/>
                <a:sym typeface="Noto Sans SC"/>
              </a:rPr>
              <a:t>。</a:t>
            </a:r>
          </a:p>
        </p:txBody>
      </p:sp>
      <p:sp>
        <p:nvSpPr>
          <p:cNvPr id="50" name="AutoShape 8">
            <a:extLst>
              <a:ext uri="{FF2B5EF4-FFF2-40B4-BE49-F238E27FC236}">
                <a16:creationId xmlns:a16="http://schemas.microsoft.com/office/drawing/2014/main" id="{4CBC57DF-A99D-F393-017F-72EC2A50346A}"/>
              </a:ext>
            </a:extLst>
          </p:cNvPr>
          <p:cNvSpPr/>
          <p:nvPr/>
        </p:nvSpPr>
        <p:spPr>
          <a:xfrm>
            <a:off x="5108981" y="1423010"/>
            <a:ext cx="2182963" cy="2208202"/>
          </a:xfrm>
          <a:prstGeom prst="roundRect">
            <a:avLst>
              <a:gd name="adj" fmla="val 0"/>
            </a:avLst>
          </a:prstGeom>
          <a:solidFill>
            <a:srgbClr val="FFFFFF">
              <a:alpha val="8000"/>
            </a:srgbClr>
          </a:solidFill>
          <a:ln w="25400" cap="flat" cmpd="sng">
            <a:solidFill>
              <a:schemeClr val="tx1">
                <a:alpha val="67000"/>
              </a:schemeClr>
            </a:solidFill>
            <a:prstDash val="solid"/>
            <a:round/>
          </a:ln>
        </p:spPr>
        <p:txBody>
          <a:bodyPr vert="horz" wrap="square" lIns="63500" tIns="63500" rIns="63500" bIns="63500" rtlCol="0" anchor="ctr"/>
          <a:lstStyle/>
          <a:p>
            <a:pPr algn="ctr">
              <a:defRPr/>
            </a:pPr>
            <a:endParaRPr/>
          </a:p>
        </p:txBody>
      </p:sp>
      <p:sp>
        <p:nvSpPr>
          <p:cNvPr id="52" name="AutoShape 9">
            <a:extLst>
              <a:ext uri="{FF2B5EF4-FFF2-40B4-BE49-F238E27FC236}">
                <a16:creationId xmlns:a16="http://schemas.microsoft.com/office/drawing/2014/main" id="{D144F367-FE73-4FDA-AD3D-8CC3F208DEF7}"/>
              </a:ext>
            </a:extLst>
          </p:cNvPr>
          <p:cNvSpPr/>
          <p:nvPr/>
        </p:nvSpPr>
        <p:spPr>
          <a:xfrm>
            <a:off x="5246867" y="1580939"/>
            <a:ext cx="1910092" cy="192327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C00000"/>
                </a:solidFill>
                <a:latin typeface="Noto Sans SC"/>
                <a:ea typeface="Noto Sans SC"/>
                <a:cs typeface="Noto Sans SC"/>
                <a:sym typeface="Noto Sans SC"/>
              </a:rPr>
              <a:t>5 类</a:t>
            </a:r>
            <a:endParaRPr lang="en-US" sz="1200" dirty="0">
              <a:solidFill>
                <a:srgbClr val="C00000"/>
              </a:solidFill>
            </a:endParaRPr>
          </a:p>
          <a:p>
            <a:pPr marL="0" indent="0" algn="l">
              <a:lnSpc>
                <a:spcPct val="125000"/>
              </a:lnSpc>
            </a:pPr>
            <a:r>
              <a:rPr lang="en-US" sz="1600" b="1" i="0" u="none" strike="noStrike" dirty="0" err="1">
                <a:solidFill>
                  <a:srgbClr val="C00000"/>
                </a:solidFill>
                <a:latin typeface="Noto Sans SC"/>
                <a:ea typeface="Noto Sans SC"/>
                <a:cs typeface="Noto Sans SC"/>
                <a:sym typeface="Noto Sans SC"/>
              </a:rPr>
              <a:t>智能文书任务</a:t>
            </a:r>
            <a:endParaRPr lang="en-US" sz="1600" b="1" i="0" u="none" strike="noStrike" dirty="0">
              <a:solidFill>
                <a:srgbClr val="C00000"/>
              </a:solidFill>
              <a:latin typeface="Noto Sans SC"/>
              <a:ea typeface="Noto Sans SC"/>
              <a:cs typeface="Noto Sans SC"/>
              <a:sym typeface="Noto Sans SC"/>
            </a:endParaRPr>
          </a:p>
          <a:p>
            <a:pPr marL="0" indent="0" algn="l">
              <a:lnSpc>
                <a:spcPct val="125000"/>
              </a:lnSpc>
            </a:pPr>
            <a:endParaRPr lang="en-US" sz="200" b="1" i="0" u="none" strike="noStrike" dirty="0">
              <a:solidFill>
                <a:srgbClr val="C00000"/>
              </a:solidFill>
              <a:latin typeface="Noto Sans SC"/>
              <a:ea typeface="Noto Sans SC"/>
              <a:cs typeface="Noto Sans SC"/>
              <a:sym typeface="Noto Sans SC"/>
            </a:endParaRPr>
          </a:p>
          <a:p>
            <a:pPr marL="0" indent="0" algn="l">
              <a:lnSpc>
                <a:spcPct val="108333"/>
              </a:lnSpc>
            </a:pPr>
            <a:r>
              <a:rPr lang="en-US" sz="1400" b="0" i="0" u="none" strike="noStrike" dirty="0" err="1">
                <a:latin typeface="Noto Sans SC"/>
                <a:ea typeface="Noto Sans SC"/>
                <a:cs typeface="Noto Sans SC"/>
                <a:sym typeface="Noto Sans SC"/>
              </a:rPr>
              <a:t>覆盖合同起草、条款审查、法律分析、合规自查等高频专业场景</a:t>
            </a:r>
            <a:r>
              <a:rPr lang="en-US" sz="1400" b="0" i="0" u="none" strike="noStrike" dirty="0">
                <a:latin typeface="Noto Sans SC"/>
                <a:ea typeface="Noto Sans SC"/>
                <a:cs typeface="Noto Sans SC"/>
                <a:sym typeface="Noto Sans SC"/>
              </a:rPr>
              <a:t>。</a:t>
            </a:r>
          </a:p>
        </p:txBody>
      </p:sp>
      <p:sp>
        <p:nvSpPr>
          <p:cNvPr id="54" name="AutoShape 10">
            <a:extLst>
              <a:ext uri="{FF2B5EF4-FFF2-40B4-BE49-F238E27FC236}">
                <a16:creationId xmlns:a16="http://schemas.microsoft.com/office/drawing/2014/main" id="{8B9C4511-DEA2-7368-C6A5-B6C02120A194}"/>
              </a:ext>
            </a:extLst>
          </p:cNvPr>
          <p:cNvSpPr/>
          <p:nvPr/>
        </p:nvSpPr>
        <p:spPr>
          <a:xfrm>
            <a:off x="7431266" y="1423010"/>
            <a:ext cx="2130572" cy="2208202"/>
          </a:xfrm>
          <a:prstGeom prst="roundRect">
            <a:avLst>
              <a:gd name="adj" fmla="val 0"/>
            </a:avLst>
          </a:prstGeom>
          <a:solidFill>
            <a:srgbClr val="FFFFFF">
              <a:alpha val="8000"/>
            </a:srgbClr>
          </a:solidFill>
          <a:ln w="25400" cap="flat" cmpd="sng">
            <a:solidFill>
              <a:schemeClr val="tx1">
                <a:alpha val="67000"/>
              </a:schemeClr>
            </a:solidFill>
            <a:prstDash val="solid"/>
            <a:round/>
          </a:ln>
        </p:spPr>
        <p:txBody>
          <a:bodyPr vert="horz" wrap="square" lIns="63500" tIns="63500" rIns="63500" bIns="63500" rtlCol="0" anchor="ctr"/>
          <a:lstStyle/>
          <a:p>
            <a:pPr algn="ctr">
              <a:defRPr/>
            </a:pPr>
            <a:endParaRPr/>
          </a:p>
        </p:txBody>
      </p:sp>
      <p:sp>
        <p:nvSpPr>
          <p:cNvPr id="56" name="AutoShape 11">
            <a:extLst>
              <a:ext uri="{FF2B5EF4-FFF2-40B4-BE49-F238E27FC236}">
                <a16:creationId xmlns:a16="http://schemas.microsoft.com/office/drawing/2014/main" id="{E179C763-8876-98FF-4ACA-FA0C5496C67C}"/>
              </a:ext>
            </a:extLst>
          </p:cNvPr>
          <p:cNvSpPr/>
          <p:nvPr/>
        </p:nvSpPr>
        <p:spPr>
          <a:xfrm>
            <a:off x="7564426" y="1574521"/>
            <a:ext cx="1864251" cy="192327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C00000"/>
                </a:solidFill>
                <a:latin typeface="Noto Sans SC"/>
                <a:ea typeface="Noto Sans SC"/>
                <a:cs typeface="Noto Sans SC"/>
                <a:sym typeface="Noto Sans SC"/>
              </a:rPr>
              <a:t>.docx</a:t>
            </a:r>
            <a:endParaRPr lang="en-US" sz="1200" dirty="0">
              <a:solidFill>
                <a:srgbClr val="C00000"/>
              </a:solidFill>
            </a:endParaRPr>
          </a:p>
          <a:p>
            <a:pPr marL="0" indent="0" algn="l">
              <a:lnSpc>
                <a:spcPct val="125000"/>
              </a:lnSpc>
            </a:pPr>
            <a:r>
              <a:rPr lang="en-US" sz="1600" b="1" i="0" u="none" strike="noStrike" dirty="0" err="1">
                <a:solidFill>
                  <a:srgbClr val="C00000"/>
                </a:solidFill>
                <a:latin typeface="Noto Sans SC"/>
                <a:ea typeface="Noto Sans SC"/>
                <a:cs typeface="Noto Sans SC"/>
                <a:sym typeface="Noto Sans SC"/>
              </a:rPr>
              <a:t>原生交付格式</a:t>
            </a:r>
            <a:endParaRPr lang="en-US" sz="1600" b="1" i="0" u="none" strike="noStrike" dirty="0">
              <a:solidFill>
                <a:srgbClr val="C00000"/>
              </a:solidFill>
              <a:latin typeface="Noto Sans SC"/>
              <a:ea typeface="Noto Sans SC"/>
              <a:cs typeface="Noto Sans SC"/>
              <a:sym typeface="Noto Sans SC"/>
            </a:endParaRPr>
          </a:p>
          <a:p>
            <a:pPr marL="0" indent="0" algn="l">
              <a:lnSpc>
                <a:spcPct val="125000"/>
              </a:lnSpc>
            </a:pPr>
            <a:endParaRPr lang="en-US" sz="200" b="1" i="0" u="none" strike="noStrike" dirty="0">
              <a:solidFill>
                <a:srgbClr val="C00000"/>
              </a:solidFill>
              <a:latin typeface="Noto Sans SC"/>
              <a:ea typeface="Noto Sans SC"/>
              <a:cs typeface="Noto Sans SC"/>
              <a:sym typeface="Noto Sans SC"/>
            </a:endParaRPr>
          </a:p>
          <a:p>
            <a:pPr marL="0" indent="0" algn="l">
              <a:lnSpc>
                <a:spcPct val="108333"/>
              </a:lnSpc>
            </a:pPr>
            <a:r>
              <a:rPr lang="en-US" sz="1400" b="0" i="0" u="none" strike="noStrike" dirty="0" err="1">
                <a:latin typeface="Noto Sans SC"/>
                <a:ea typeface="Noto Sans SC"/>
                <a:cs typeface="Noto Sans SC"/>
                <a:sym typeface="Noto Sans SC"/>
              </a:rPr>
              <a:t>输出标准Word文档，支持直接打开、二次编辑与格式调整，无缝衔接办公流</a:t>
            </a:r>
            <a:r>
              <a:rPr lang="en-US" sz="1400" b="0" i="0" u="none" strike="noStrike" dirty="0">
                <a:latin typeface="Noto Sans SC"/>
                <a:ea typeface="Noto Sans SC"/>
                <a:cs typeface="Noto Sans SC"/>
                <a:sym typeface="Noto Sans SC"/>
              </a:rPr>
              <a:t>。</a:t>
            </a:r>
          </a:p>
        </p:txBody>
      </p:sp>
      <p:sp>
        <p:nvSpPr>
          <p:cNvPr id="58" name="AutoShape 12">
            <a:extLst>
              <a:ext uri="{FF2B5EF4-FFF2-40B4-BE49-F238E27FC236}">
                <a16:creationId xmlns:a16="http://schemas.microsoft.com/office/drawing/2014/main" id="{1EC418F0-A23F-529D-619F-05911DCEE9D3}"/>
              </a:ext>
            </a:extLst>
          </p:cNvPr>
          <p:cNvSpPr/>
          <p:nvPr/>
        </p:nvSpPr>
        <p:spPr>
          <a:xfrm>
            <a:off x="9701160" y="1423010"/>
            <a:ext cx="2240540" cy="2208202"/>
          </a:xfrm>
          <a:prstGeom prst="roundRect">
            <a:avLst>
              <a:gd name="adj" fmla="val 0"/>
            </a:avLst>
          </a:prstGeom>
          <a:solidFill>
            <a:srgbClr val="FFFFFF">
              <a:alpha val="8000"/>
            </a:srgbClr>
          </a:solidFill>
          <a:ln w="25400" cap="flat" cmpd="sng">
            <a:solidFill>
              <a:schemeClr val="tx1">
                <a:alpha val="67000"/>
              </a:schemeClr>
            </a:solidFill>
            <a:prstDash val="solid"/>
            <a:round/>
          </a:ln>
        </p:spPr>
        <p:txBody>
          <a:bodyPr vert="horz" wrap="square" lIns="63500" tIns="63500" rIns="63500" bIns="63500" rtlCol="0" anchor="ctr"/>
          <a:lstStyle/>
          <a:p>
            <a:pPr algn="ctr">
              <a:defRPr/>
            </a:pPr>
            <a:endParaRPr/>
          </a:p>
        </p:txBody>
      </p:sp>
      <p:sp>
        <p:nvSpPr>
          <p:cNvPr id="60" name="AutoShape 13">
            <a:extLst>
              <a:ext uri="{FF2B5EF4-FFF2-40B4-BE49-F238E27FC236}">
                <a16:creationId xmlns:a16="http://schemas.microsoft.com/office/drawing/2014/main" id="{FD6CA45F-21A8-99AE-C789-CDDD13823FAF}"/>
              </a:ext>
            </a:extLst>
          </p:cNvPr>
          <p:cNvSpPr/>
          <p:nvPr/>
        </p:nvSpPr>
        <p:spPr>
          <a:xfrm>
            <a:off x="9838961" y="1580939"/>
            <a:ext cx="1960473" cy="192327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C00000"/>
                </a:solidFill>
                <a:latin typeface="Noto Sans SC"/>
                <a:ea typeface="Noto Sans SC"/>
                <a:cs typeface="Noto Sans SC"/>
                <a:sym typeface="Noto Sans SC"/>
              </a:rPr>
              <a:t>断网可用</a:t>
            </a:r>
            <a:endParaRPr lang="en-US" sz="1200" dirty="0">
              <a:solidFill>
                <a:srgbClr val="C00000"/>
              </a:solidFill>
            </a:endParaRPr>
          </a:p>
          <a:p>
            <a:pPr marL="0" indent="0" algn="l">
              <a:lnSpc>
                <a:spcPct val="125000"/>
              </a:lnSpc>
            </a:pPr>
            <a:r>
              <a:rPr lang="en-US" sz="1600" b="1" i="0" u="none" strike="noStrike" dirty="0" err="1">
                <a:solidFill>
                  <a:srgbClr val="C00000"/>
                </a:solidFill>
                <a:latin typeface="Noto Sans SC"/>
                <a:ea typeface="Noto Sans SC"/>
                <a:cs typeface="Noto Sans SC"/>
                <a:sym typeface="Noto Sans SC"/>
              </a:rPr>
              <a:t>离线核心能力</a:t>
            </a:r>
            <a:endParaRPr lang="en-US" sz="1600" b="1" i="0" u="none" strike="noStrike" dirty="0">
              <a:solidFill>
                <a:srgbClr val="C00000"/>
              </a:solidFill>
              <a:latin typeface="Noto Sans SC"/>
              <a:ea typeface="Noto Sans SC"/>
              <a:cs typeface="Noto Sans SC"/>
              <a:sym typeface="Noto Sans SC"/>
            </a:endParaRPr>
          </a:p>
          <a:p>
            <a:pPr marL="0" indent="0" algn="l">
              <a:lnSpc>
                <a:spcPct val="125000"/>
              </a:lnSpc>
            </a:pPr>
            <a:endParaRPr lang="en-US" sz="200" b="1" i="0" u="none" strike="noStrike" dirty="0">
              <a:solidFill>
                <a:srgbClr val="C00000"/>
              </a:solidFill>
              <a:latin typeface="Noto Sans SC"/>
              <a:ea typeface="Noto Sans SC"/>
              <a:cs typeface="Noto Sans SC"/>
              <a:sym typeface="Noto Sans SC"/>
            </a:endParaRPr>
          </a:p>
          <a:p>
            <a:pPr>
              <a:lnSpc>
                <a:spcPct val="108333"/>
              </a:lnSpc>
            </a:pPr>
            <a:r>
              <a:rPr lang="zh-CN" altLang="en-US" sz="1400" b="0" i="0" u="none" strike="noStrike" dirty="0">
                <a:latin typeface="Noto Sans SC"/>
                <a:ea typeface="Noto Sans SC"/>
                <a:cs typeface="Noto Sans SC"/>
                <a:sym typeface="Noto Sans SC"/>
              </a:rPr>
              <a:t>本地法库检索等基础能力</a:t>
            </a:r>
            <a:r>
              <a:rPr lang="en-US" sz="1400" b="0" i="0" u="none" strike="noStrike" dirty="0" err="1">
                <a:latin typeface="Noto Sans SC"/>
                <a:ea typeface="Noto Sans SC"/>
                <a:cs typeface="Noto Sans SC"/>
                <a:sym typeface="Noto Sans SC"/>
              </a:rPr>
              <a:t>本地部署，无网络环境亦可流畅使用，保障数据安全与隐私</a:t>
            </a:r>
            <a:r>
              <a:rPr lang="en-US" sz="1400" b="0" i="0" u="none" strike="noStrike" dirty="0">
                <a:latin typeface="Noto Sans SC"/>
                <a:ea typeface="Noto Sans SC"/>
                <a:cs typeface="Noto Sans SC"/>
                <a:sym typeface="Noto Sans SC"/>
              </a:rPr>
              <a:t>。</a:t>
            </a:r>
          </a:p>
        </p:txBody>
      </p:sp>
      <p:sp>
        <p:nvSpPr>
          <p:cNvPr id="64" name="AutoShape 16">
            <a:extLst>
              <a:ext uri="{FF2B5EF4-FFF2-40B4-BE49-F238E27FC236}">
                <a16:creationId xmlns:a16="http://schemas.microsoft.com/office/drawing/2014/main" id="{B77EED9D-290B-5142-EF1C-44A95552C74C}"/>
              </a:ext>
            </a:extLst>
          </p:cNvPr>
          <p:cNvSpPr/>
          <p:nvPr/>
        </p:nvSpPr>
        <p:spPr>
          <a:xfrm>
            <a:off x="512841" y="4970307"/>
            <a:ext cx="3324557"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chemeClr val="bg1"/>
                </a:solidFill>
                <a:latin typeface="Noto Sans SC"/>
                <a:ea typeface="Noto Sans SC"/>
                <a:cs typeface="Noto Sans SC"/>
                <a:sym typeface="Noto Sans SC"/>
              </a:rPr>
              <a:t>V 0.4.0 · </a:t>
            </a:r>
            <a:r>
              <a:rPr lang="en-US" sz="2200" b="1" i="0" u="none" strike="noStrike" dirty="0" err="1">
                <a:solidFill>
                  <a:schemeClr val="bg1"/>
                </a:solidFill>
                <a:latin typeface="Noto Sans SC"/>
                <a:ea typeface="Noto Sans SC"/>
                <a:cs typeface="Noto Sans SC"/>
                <a:sym typeface="Noto Sans SC"/>
              </a:rPr>
              <a:t>智能体引擎初建</a:t>
            </a:r>
            <a:endParaRPr lang="en-US" sz="2200" dirty="0">
              <a:solidFill>
                <a:schemeClr val="bg1"/>
              </a:solidFill>
            </a:endParaRPr>
          </a:p>
          <a:p>
            <a:pPr marL="0" indent="0" algn="l">
              <a:lnSpc>
                <a:spcPct val="116666"/>
              </a:lnSpc>
            </a:pPr>
            <a:r>
              <a:rPr lang="en-US" sz="1600" b="0" i="0" u="none" strike="noStrike" dirty="0">
                <a:solidFill>
                  <a:schemeClr val="bg1"/>
                </a:solidFill>
                <a:latin typeface="Noto Sans SC"/>
                <a:ea typeface="Noto Sans SC"/>
                <a:cs typeface="Noto Sans SC"/>
                <a:sym typeface="Noto Sans SC"/>
              </a:rPr>
              <a:t>实现基础智能体任务执行能力，支持自然语言指令交互与基础问答，完成产品从0到1的核心能力搭建。</a:t>
            </a:r>
          </a:p>
        </p:txBody>
      </p:sp>
      <p:sp>
        <p:nvSpPr>
          <p:cNvPr id="68" name="AutoShape 18">
            <a:extLst>
              <a:ext uri="{FF2B5EF4-FFF2-40B4-BE49-F238E27FC236}">
                <a16:creationId xmlns:a16="http://schemas.microsoft.com/office/drawing/2014/main" id="{CA55E2FF-E25C-70E7-D10D-58D33CB0477D}"/>
              </a:ext>
            </a:extLst>
          </p:cNvPr>
          <p:cNvSpPr/>
          <p:nvPr/>
        </p:nvSpPr>
        <p:spPr>
          <a:xfrm>
            <a:off x="4483378" y="4977137"/>
            <a:ext cx="3297728"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chemeClr val="bg1"/>
                </a:solidFill>
                <a:latin typeface="Noto Sans SC"/>
                <a:ea typeface="Noto Sans SC"/>
                <a:cs typeface="Noto Sans SC"/>
                <a:sym typeface="Noto Sans SC"/>
              </a:rPr>
              <a:t>V 0.4.2 · </a:t>
            </a:r>
            <a:r>
              <a:rPr lang="en-US" sz="2200" b="1" i="0" u="none" strike="noStrike" dirty="0" err="1">
                <a:solidFill>
                  <a:schemeClr val="bg1"/>
                </a:solidFill>
                <a:latin typeface="Noto Sans SC"/>
                <a:ea typeface="Noto Sans SC"/>
                <a:cs typeface="Noto Sans SC"/>
                <a:sym typeface="Noto Sans SC"/>
              </a:rPr>
              <a:t>确定性引用自检</a:t>
            </a:r>
            <a:endParaRPr lang="en-US" sz="2200" dirty="0">
              <a:solidFill>
                <a:schemeClr val="bg1"/>
              </a:solidFill>
            </a:endParaRPr>
          </a:p>
          <a:p>
            <a:pPr marL="0" indent="0" algn="l">
              <a:lnSpc>
                <a:spcPct val="116666"/>
              </a:lnSpc>
            </a:pPr>
            <a:r>
              <a:rPr lang="en-US" sz="1600" b="0" i="0" u="none" strike="noStrike" dirty="0" err="1">
                <a:solidFill>
                  <a:schemeClr val="bg1"/>
                </a:solidFill>
                <a:latin typeface="Noto Sans SC"/>
                <a:ea typeface="Noto Sans SC"/>
                <a:cs typeface="Noto Sans SC"/>
                <a:sym typeface="Noto Sans SC"/>
              </a:rPr>
              <a:t>引入法条引用校验机制，确保输出内容的准确性与合规性，彻底解决生成式AI常见的“幻觉”问题</a:t>
            </a:r>
            <a:r>
              <a:rPr lang="en-US" sz="1600" b="0" i="0" u="none" strike="noStrike" dirty="0">
                <a:solidFill>
                  <a:schemeClr val="bg1"/>
                </a:solidFill>
                <a:latin typeface="Noto Sans SC"/>
                <a:ea typeface="Noto Sans SC"/>
                <a:cs typeface="Noto Sans SC"/>
                <a:sym typeface="Noto Sans SC"/>
              </a:rPr>
              <a:t>。</a:t>
            </a:r>
          </a:p>
        </p:txBody>
      </p:sp>
      <p:sp>
        <p:nvSpPr>
          <p:cNvPr id="72" name="AutoShape 20">
            <a:extLst>
              <a:ext uri="{FF2B5EF4-FFF2-40B4-BE49-F238E27FC236}">
                <a16:creationId xmlns:a16="http://schemas.microsoft.com/office/drawing/2014/main" id="{7CAD93E1-1EE2-8BEA-298F-8693DD5BB83C}"/>
              </a:ext>
            </a:extLst>
          </p:cNvPr>
          <p:cNvSpPr/>
          <p:nvPr/>
        </p:nvSpPr>
        <p:spPr>
          <a:xfrm>
            <a:off x="8542960" y="4951143"/>
            <a:ext cx="3124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a:solidFill>
                  <a:schemeClr val="bg1"/>
                </a:solidFill>
                <a:latin typeface="Noto Sans SC"/>
                <a:ea typeface="Noto Sans SC"/>
                <a:cs typeface="Noto Sans SC"/>
                <a:sym typeface="Noto Sans SC"/>
              </a:rPr>
              <a:t>V 0.7.3 · </a:t>
            </a:r>
            <a:r>
              <a:rPr lang="en-US" sz="2200" b="1" i="0" u="none" strike="noStrike" dirty="0" err="1">
                <a:solidFill>
                  <a:schemeClr val="bg1"/>
                </a:solidFill>
                <a:latin typeface="Noto Sans SC"/>
                <a:ea typeface="Noto Sans SC"/>
                <a:cs typeface="Noto Sans SC"/>
                <a:sym typeface="Noto Sans SC"/>
              </a:rPr>
              <a:t>知识图谱融合</a:t>
            </a:r>
            <a:endParaRPr lang="en-US" sz="2200" dirty="0">
              <a:solidFill>
                <a:schemeClr val="bg1"/>
              </a:solidFill>
            </a:endParaRPr>
          </a:p>
          <a:p>
            <a:pPr marL="0" indent="0" algn="l">
              <a:lnSpc>
                <a:spcPct val="116666"/>
              </a:lnSpc>
            </a:pPr>
            <a:r>
              <a:rPr lang="en-US" sz="1600" b="0" i="0" u="none" strike="noStrike" dirty="0" err="1">
                <a:solidFill>
                  <a:schemeClr val="bg1"/>
                </a:solidFill>
                <a:latin typeface="Noto Sans SC"/>
                <a:ea typeface="Noto Sans SC"/>
                <a:cs typeface="Noto Sans SC"/>
                <a:sym typeface="Noto Sans SC"/>
              </a:rPr>
              <a:t>深度融合法律知识图谱，支持多模态材料输入，实现从被动问答到主动完成复杂法律文书的质变</a:t>
            </a:r>
            <a:r>
              <a:rPr lang="en-US" sz="1600" b="0" i="0" u="none" strike="noStrike" dirty="0">
                <a:solidFill>
                  <a:schemeClr val="bg1"/>
                </a:solidFill>
                <a:latin typeface="Noto Sans SC"/>
                <a:ea typeface="Noto Sans SC"/>
                <a:cs typeface="Noto Sans SC"/>
                <a:sym typeface="Noto Sans SC"/>
              </a:rPr>
              <a:t>。</a:t>
            </a:r>
          </a:p>
        </p:txBody>
      </p:sp>
      <p:sp>
        <p:nvSpPr>
          <p:cNvPr id="74" name="矩形: 圆角 73">
            <a:extLst>
              <a:ext uri="{FF2B5EF4-FFF2-40B4-BE49-F238E27FC236}">
                <a16:creationId xmlns:a16="http://schemas.microsoft.com/office/drawing/2014/main" id="{57774BF5-5726-3759-A75F-998E39946AB8}"/>
              </a:ext>
            </a:extLst>
          </p:cNvPr>
          <p:cNvSpPr/>
          <p:nvPr/>
        </p:nvSpPr>
        <p:spPr>
          <a:xfrm rot="5400000" flipV="1">
            <a:off x="3248802" y="5687598"/>
            <a:ext cx="1807544" cy="60804"/>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圆角 77">
            <a:extLst>
              <a:ext uri="{FF2B5EF4-FFF2-40B4-BE49-F238E27FC236}">
                <a16:creationId xmlns:a16="http://schemas.microsoft.com/office/drawing/2014/main" id="{7BBACE89-991D-1454-9CD1-411B26367A30}"/>
              </a:ext>
            </a:extLst>
          </p:cNvPr>
          <p:cNvSpPr/>
          <p:nvPr/>
        </p:nvSpPr>
        <p:spPr>
          <a:xfrm rot="5400000" flipV="1">
            <a:off x="7253314" y="5687598"/>
            <a:ext cx="1807544" cy="60804"/>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4740355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CA10F2D-501D-4C03-A926-80B8E8B53C15}"/>
              </a:ext>
            </a:extLst>
          </p:cNvPr>
          <p:cNvSpPr/>
          <p:nvPr/>
        </p:nvSpPr>
        <p:spPr>
          <a:xfrm>
            <a:off x="696044" y="1369231"/>
            <a:ext cx="3952240" cy="506516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B0A72762-EF4B-4218-8AFF-52D3E743D488}"/>
              </a:ext>
            </a:extLst>
          </p:cNvPr>
          <p:cNvSpPr/>
          <p:nvPr/>
        </p:nvSpPr>
        <p:spPr>
          <a:xfrm>
            <a:off x="5697366" y="3351282"/>
            <a:ext cx="5506720" cy="11938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a:extLst>
              <a:ext uri="{FF2B5EF4-FFF2-40B4-BE49-F238E27FC236}">
                <a16:creationId xmlns:a16="http://schemas.microsoft.com/office/drawing/2014/main" id="{8D7E8F40-0F23-4FF3-9190-1603C5DE6EDD}"/>
              </a:ext>
            </a:extLst>
          </p:cNvPr>
          <p:cNvCxnSpPr/>
          <p:nvPr/>
        </p:nvCxnSpPr>
        <p:spPr>
          <a:xfrm>
            <a:off x="696044" y="6214420"/>
            <a:ext cx="395224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2B491CA6-375C-4AEB-9660-BD6CDA23E04F}"/>
              </a:ext>
            </a:extLst>
          </p:cNvPr>
          <p:cNvSpPr txBox="1"/>
          <p:nvPr/>
        </p:nvSpPr>
        <p:spPr>
          <a:xfrm>
            <a:off x="871617" y="4861639"/>
            <a:ext cx="3601093" cy="832407"/>
          </a:xfrm>
          <a:prstGeom prst="rect">
            <a:avLst/>
          </a:prstGeom>
          <a:noFill/>
        </p:spPr>
        <p:txBody>
          <a:bodyPr wrap="square" rtlCol="0">
            <a:spAutoFit/>
          </a:bodyPr>
          <a:lstStyle/>
          <a:p>
            <a:pPr>
              <a:lnSpc>
                <a:spcPct val="116666"/>
              </a:lnSpc>
              <a:defRPr/>
            </a:pPr>
            <a:r>
              <a:rPr lang="en-US" altLang="zh-CN" sz="1400" b="1" dirty="0" err="1">
                <a:solidFill>
                  <a:schemeClr val="bg1"/>
                </a:solidFill>
                <a:latin typeface="Noto Sans SC"/>
                <a:ea typeface="Noto Sans SC"/>
                <a:cs typeface="Noto Sans SC"/>
                <a:sym typeface="Noto Sans SC"/>
              </a:rPr>
              <a:t>在专业严谨的法律工作场景中，工具的割裂不仅降低效率，更带来合规与交付的双重风险，成为行业智能化转型的核心阻碍</a:t>
            </a:r>
            <a:r>
              <a:rPr lang="en-US" altLang="zh-CN" sz="1400" b="1" dirty="0">
                <a:solidFill>
                  <a:schemeClr val="bg1"/>
                </a:solidFill>
                <a:latin typeface="Noto Sans SC"/>
                <a:ea typeface="Noto Sans SC"/>
                <a:cs typeface="Noto Sans SC"/>
                <a:sym typeface="Noto Sans SC"/>
              </a:rPr>
              <a:t>。</a:t>
            </a:r>
            <a:endParaRPr lang="en-US" altLang="zh-CN" sz="1400" b="1" dirty="0">
              <a:solidFill>
                <a:schemeClr val="bg1"/>
              </a:solidFill>
            </a:endParaRPr>
          </a:p>
        </p:txBody>
      </p:sp>
      <p:grpSp>
        <p:nvGrpSpPr>
          <p:cNvPr id="15" name="组合 14">
            <a:extLst>
              <a:ext uri="{FF2B5EF4-FFF2-40B4-BE49-F238E27FC236}">
                <a16:creationId xmlns:a16="http://schemas.microsoft.com/office/drawing/2014/main" id="{48E79588-C6F5-4AA0-BE35-69AF38195547}"/>
              </a:ext>
            </a:extLst>
          </p:cNvPr>
          <p:cNvGrpSpPr/>
          <p:nvPr/>
        </p:nvGrpSpPr>
        <p:grpSpPr>
          <a:xfrm>
            <a:off x="827487" y="5851523"/>
            <a:ext cx="1390622" cy="256963"/>
            <a:chOff x="2069330" y="5731669"/>
            <a:chExt cx="1869440" cy="345440"/>
          </a:xfrm>
          <a:solidFill>
            <a:schemeClr val="bg1"/>
          </a:solidFill>
        </p:grpSpPr>
        <p:sp>
          <p:nvSpPr>
            <p:cNvPr id="16" name="椭圆 15">
              <a:extLst>
                <a:ext uri="{FF2B5EF4-FFF2-40B4-BE49-F238E27FC236}">
                  <a16:creationId xmlns:a16="http://schemas.microsoft.com/office/drawing/2014/main" id="{6C0C8297-DFAB-4B91-B783-6F77F55909A3}"/>
                </a:ext>
              </a:extLst>
            </p:cNvPr>
            <p:cNvSpPr/>
            <p:nvPr/>
          </p:nvSpPr>
          <p:spPr>
            <a:xfrm>
              <a:off x="2069330" y="5731669"/>
              <a:ext cx="345440" cy="3454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208949D9-1721-4F23-9B77-C72CC6ECCFEB}"/>
                </a:ext>
              </a:extLst>
            </p:cNvPr>
            <p:cNvSpPr/>
            <p:nvPr/>
          </p:nvSpPr>
          <p:spPr>
            <a:xfrm>
              <a:off x="2577330" y="5731669"/>
              <a:ext cx="345440" cy="3454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46706DFC-90FE-40A1-BDD2-51A63D4D78A9}"/>
                </a:ext>
              </a:extLst>
            </p:cNvPr>
            <p:cNvSpPr/>
            <p:nvPr/>
          </p:nvSpPr>
          <p:spPr>
            <a:xfrm>
              <a:off x="3085330" y="5731669"/>
              <a:ext cx="345440" cy="3454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66E2AD2A-639D-4BBD-874D-113BD5A7F5D4}"/>
                </a:ext>
              </a:extLst>
            </p:cNvPr>
            <p:cNvSpPr/>
            <p:nvPr/>
          </p:nvSpPr>
          <p:spPr>
            <a:xfrm>
              <a:off x="3593330" y="5731669"/>
              <a:ext cx="345440" cy="3454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文本框 20">
            <a:extLst>
              <a:ext uri="{FF2B5EF4-FFF2-40B4-BE49-F238E27FC236}">
                <a16:creationId xmlns:a16="http://schemas.microsoft.com/office/drawing/2014/main" id="{CD624D62-71B8-4B63-89EC-A503797625DC}"/>
              </a:ext>
            </a:extLst>
          </p:cNvPr>
          <p:cNvSpPr txBox="1"/>
          <p:nvPr/>
        </p:nvSpPr>
        <p:spPr>
          <a:xfrm>
            <a:off x="6587149" y="3846581"/>
            <a:ext cx="4187959" cy="542393"/>
          </a:xfrm>
          <a:prstGeom prst="rect">
            <a:avLst/>
          </a:prstGeom>
          <a:noFill/>
        </p:spPr>
        <p:txBody>
          <a:bodyPr wrap="square" rtlCol="0">
            <a:spAutoFit/>
          </a:bodyPr>
          <a:lstStyle/>
          <a:p>
            <a:pPr>
              <a:lnSpc>
                <a:spcPct val="108333"/>
              </a:lnSpc>
            </a:pPr>
            <a:r>
              <a:rPr lang="en-US" altLang="zh-CN" sz="1400" b="1" dirty="0" err="1">
                <a:latin typeface="Noto Sans SC"/>
                <a:ea typeface="Noto Sans SC"/>
                <a:cs typeface="Noto Sans SC"/>
                <a:sym typeface="Noto Sans SC"/>
              </a:rPr>
              <a:t>涉密合同与涉外法律文书严禁出网，数据上云存在泄露隐患，成为律所与企业采购的第一否决项</a:t>
            </a:r>
            <a:r>
              <a:rPr lang="en-US" altLang="zh-CN" sz="1400" b="1" dirty="0">
                <a:latin typeface="Noto Sans SC"/>
                <a:ea typeface="Noto Sans SC"/>
                <a:cs typeface="Noto Sans SC"/>
                <a:sym typeface="Noto Sans SC"/>
              </a:rPr>
              <a:t>。</a:t>
            </a:r>
          </a:p>
        </p:txBody>
      </p:sp>
      <p:pic>
        <p:nvPicPr>
          <p:cNvPr id="23" name="图形 22" descr="铃">
            <a:extLst>
              <a:ext uri="{FF2B5EF4-FFF2-40B4-BE49-F238E27FC236}">
                <a16:creationId xmlns:a16="http://schemas.microsoft.com/office/drawing/2014/main" id="{1A92E698-6F02-4958-B97B-15FA3184BA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35742" y="3576986"/>
            <a:ext cx="742392" cy="742392"/>
          </a:xfrm>
          <a:prstGeom prst="rect">
            <a:avLst/>
          </a:prstGeom>
        </p:spPr>
      </p:pic>
      <p:sp>
        <p:nvSpPr>
          <p:cNvPr id="28" name="矩形 27">
            <a:extLst>
              <a:ext uri="{FF2B5EF4-FFF2-40B4-BE49-F238E27FC236}">
                <a16:creationId xmlns:a16="http://schemas.microsoft.com/office/drawing/2014/main" id="{74B40562-C8AE-A1D7-8F05-7AE5EA212D07}"/>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F1F3C940-21DD-C1DB-0322-003314DC8675}"/>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a:extLst>
              <a:ext uri="{FF2B5EF4-FFF2-40B4-BE49-F238E27FC236}">
                <a16:creationId xmlns:a16="http://schemas.microsoft.com/office/drawing/2014/main" id="{1929573F-2BBB-5EFF-C6F5-5B3BB4E19E07}"/>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D44042A-0D59-E6BF-D340-5508AC0F29D1}"/>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en-US" altLang="zh-CN" sz="3600" b="1" dirty="0" err="1">
                <a:solidFill>
                  <a:srgbClr val="FFFFFF"/>
                </a:solidFill>
                <a:latin typeface="Noto Sans SC"/>
                <a:ea typeface="Noto Sans SC"/>
                <a:cs typeface="Noto Sans SC"/>
                <a:sym typeface="Noto Sans SC"/>
              </a:rPr>
              <a:t>痛点分析</a:t>
            </a:r>
            <a:endParaRPr lang="en-US" altLang="zh-CN" sz="3600" dirty="0"/>
          </a:p>
        </p:txBody>
      </p:sp>
      <p:pic>
        <p:nvPicPr>
          <p:cNvPr id="25" name="Picture 4">
            <a:extLst>
              <a:ext uri="{FF2B5EF4-FFF2-40B4-BE49-F238E27FC236}">
                <a16:creationId xmlns:a16="http://schemas.microsoft.com/office/drawing/2014/main" id="{2EDAE4B7-31BC-2C17-195A-14661B15656C}"/>
              </a:ext>
            </a:extLst>
          </p:cNvPr>
          <p:cNvPicPr>
            <a:picLocks noChangeAspect="1"/>
          </p:cNvPicPr>
          <p:nvPr/>
        </p:nvPicPr>
        <p:blipFill>
          <a:blip r:embed="rId3"/>
          <a:srcRect l="85" r="85"/>
          <a:stretch>
            <a:fillRect/>
          </a:stretch>
        </p:blipFill>
        <p:spPr>
          <a:xfrm>
            <a:off x="696044" y="1655655"/>
            <a:ext cx="4318000" cy="2882900"/>
          </a:xfrm>
          <a:prstGeom prst="rect">
            <a:avLst/>
          </a:prstGeom>
          <a:noFill/>
          <a:ln w="25400" cap="flat" cmpd="sng">
            <a:solidFill>
              <a:srgbClr val="D4AF37">
                <a:alpha val="60000"/>
              </a:srgbClr>
            </a:solidFill>
            <a:prstDash val="solid"/>
            <a:round/>
          </a:ln>
          <a:effectLst>
            <a:outerShdw blurRad="127000" dist="50800" dir="2700000" algn="tl">
              <a:srgbClr val="000000">
                <a:alpha val="30000"/>
              </a:srgbClr>
            </a:outerShdw>
          </a:effectLst>
        </p:spPr>
      </p:pic>
      <p:sp>
        <p:nvSpPr>
          <p:cNvPr id="27" name="矩形 26">
            <a:extLst>
              <a:ext uri="{FF2B5EF4-FFF2-40B4-BE49-F238E27FC236}">
                <a16:creationId xmlns:a16="http://schemas.microsoft.com/office/drawing/2014/main" id="{B4361380-95A0-BB5D-092B-C83546D0AD74}"/>
              </a:ext>
            </a:extLst>
          </p:cNvPr>
          <p:cNvSpPr/>
          <p:nvPr/>
        </p:nvSpPr>
        <p:spPr>
          <a:xfrm>
            <a:off x="5697366" y="1700346"/>
            <a:ext cx="5506720" cy="11938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6332ED01-18DE-49DC-84C1-6963DA80654D}"/>
              </a:ext>
            </a:extLst>
          </p:cNvPr>
          <p:cNvSpPr txBox="1"/>
          <p:nvPr/>
        </p:nvSpPr>
        <p:spPr>
          <a:xfrm>
            <a:off x="6587148" y="2211727"/>
            <a:ext cx="4187960" cy="542393"/>
          </a:xfrm>
          <a:prstGeom prst="rect">
            <a:avLst/>
          </a:prstGeom>
          <a:noFill/>
        </p:spPr>
        <p:txBody>
          <a:bodyPr wrap="square" rtlCol="0">
            <a:spAutoFit/>
          </a:bodyPr>
          <a:lstStyle/>
          <a:p>
            <a:pPr>
              <a:lnSpc>
                <a:spcPct val="108333"/>
              </a:lnSpc>
            </a:pPr>
            <a:r>
              <a:rPr lang="en-US" altLang="zh-CN" sz="1400" b="1" dirty="0">
                <a:latin typeface="Noto Sans SC"/>
                <a:ea typeface="Noto Sans SC"/>
                <a:cs typeface="Noto Sans SC"/>
                <a:sym typeface="Noto Sans SC"/>
              </a:rPr>
              <a:t>回答无法引用真实法条，甚至编造条文号与案例，法律场景对事实性错误零容忍，易引发执业风险。</a:t>
            </a:r>
          </a:p>
        </p:txBody>
      </p:sp>
      <p:sp>
        <p:nvSpPr>
          <p:cNvPr id="34" name="文本框 33">
            <a:extLst>
              <a:ext uri="{FF2B5EF4-FFF2-40B4-BE49-F238E27FC236}">
                <a16:creationId xmlns:a16="http://schemas.microsoft.com/office/drawing/2014/main" id="{4910DF24-4455-5666-B344-C80B21CC2BD2}"/>
              </a:ext>
            </a:extLst>
          </p:cNvPr>
          <p:cNvSpPr txBox="1"/>
          <p:nvPr/>
        </p:nvSpPr>
        <p:spPr>
          <a:xfrm>
            <a:off x="6587148" y="3453997"/>
            <a:ext cx="3057732" cy="447815"/>
          </a:xfrm>
          <a:prstGeom prst="rect">
            <a:avLst/>
          </a:prstGeom>
          <a:noFill/>
        </p:spPr>
        <p:txBody>
          <a:bodyPr wrap="square" rtlCol="0">
            <a:spAutoFit/>
          </a:bodyPr>
          <a:lstStyle/>
          <a:p>
            <a:pPr>
              <a:lnSpc>
                <a:spcPct val="125000"/>
              </a:lnSpc>
              <a:defRPr/>
            </a:pPr>
            <a:r>
              <a:rPr lang="en-US" altLang="zh-CN" sz="2000" b="1" dirty="0" err="1">
                <a:solidFill>
                  <a:srgbClr val="C00000"/>
                </a:solidFill>
                <a:latin typeface="Noto Sans SC"/>
                <a:ea typeface="Noto Sans SC"/>
                <a:cs typeface="Noto Sans SC"/>
                <a:sym typeface="Noto Sans SC"/>
              </a:rPr>
              <a:t>云端</a:t>
            </a:r>
            <a:r>
              <a:rPr lang="en-US" altLang="zh-CN" sz="2000" b="1" dirty="0">
                <a:solidFill>
                  <a:srgbClr val="C00000"/>
                </a:solidFill>
                <a:latin typeface="Noto Sans SC"/>
                <a:ea typeface="Noto Sans SC"/>
                <a:cs typeface="Noto Sans SC"/>
                <a:sym typeface="Noto Sans SC"/>
              </a:rPr>
              <a:t> SaaS </a:t>
            </a:r>
            <a:r>
              <a:rPr lang="en-US" altLang="zh-CN" sz="2000" b="1" dirty="0" err="1">
                <a:solidFill>
                  <a:srgbClr val="C00000"/>
                </a:solidFill>
                <a:latin typeface="Noto Sans SC"/>
                <a:ea typeface="Noto Sans SC"/>
                <a:cs typeface="Noto Sans SC"/>
                <a:sym typeface="Noto Sans SC"/>
              </a:rPr>
              <a:t>触碰合规红线</a:t>
            </a:r>
            <a:endParaRPr lang="en-US" altLang="zh-CN" sz="1400" dirty="0">
              <a:solidFill>
                <a:srgbClr val="C00000"/>
              </a:solidFill>
            </a:endParaRPr>
          </a:p>
        </p:txBody>
      </p:sp>
      <p:pic>
        <p:nvPicPr>
          <p:cNvPr id="38" name="图形 37" descr="维恩图">
            <a:extLst>
              <a:ext uri="{FF2B5EF4-FFF2-40B4-BE49-F238E27FC236}">
                <a16:creationId xmlns:a16="http://schemas.microsoft.com/office/drawing/2014/main" id="{8CEC06E0-8B78-6178-744F-38FEE99869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35741" y="1914526"/>
            <a:ext cx="751617" cy="751617"/>
          </a:xfrm>
          <a:prstGeom prst="rect">
            <a:avLst/>
          </a:prstGeom>
        </p:spPr>
      </p:pic>
      <p:sp>
        <p:nvSpPr>
          <p:cNvPr id="42" name="矩形 41">
            <a:extLst>
              <a:ext uri="{FF2B5EF4-FFF2-40B4-BE49-F238E27FC236}">
                <a16:creationId xmlns:a16="http://schemas.microsoft.com/office/drawing/2014/main" id="{27457646-6C0A-8063-01A9-8B012043BCA0}"/>
              </a:ext>
            </a:extLst>
          </p:cNvPr>
          <p:cNvSpPr/>
          <p:nvPr/>
        </p:nvSpPr>
        <p:spPr>
          <a:xfrm>
            <a:off x="5697366" y="4995991"/>
            <a:ext cx="5506720" cy="11938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C3845BC1-F35A-670B-3320-174CD78365D0}"/>
              </a:ext>
            </a:extLst>
          </p:cNvPr>
          <p:cNvSpPr txBox="1"/>
          <p:nvPr/>
        </p:nvSpPr>
        <p:spPr>
          <a:xfrm>
            <a:off x="6587148" y="5496937"/>
            <a:ext cx="4525352" cy="542393"/>
          </a:xfrm>
          <a:prstGeom prst="rect">
            <a:avLst/>
          </a:prstGeom>
          <a:noFill/>
        </p:spPr>
        <p:txBody>
          <a:bodyPr wrap="square" rtlCol="0">
            <a:spAutoFit/>
          </a:bodyPr>
          <a:lstStyle/>
          <a:p>
            <a:pPr>
              <a:lnSpc>
                <a:spcPct val="108333"/>
              </a:lnSpc>
            </a:pPr>
            <a:r>
              <a:rPr lang="en-US" altLang="zh-CN" sz="1400" b="1" dirty="0" err="1">
                <a:latin typeface="Noto Sans SC"/>
                <a:ea typeface="Noto Sans SC"/>
                <a:cs typeface="Noto Sans SC"/>
                <a:sym typeface="Noto Sans SC"/>
              </a:rPr>
              <a:t>碎片化的聊天式输出难以作为正式工作成果，无法进行专业归档、团队复核与二次编辑，缺乏标准化价值</a:t>
            </a:r>
            <a:r>
              <a:rPr lang="en-US" altLang="zh-CN" sz="1400" b="1" dirty="0">
                <a:latin typeface="Noto Sans SC"/>
                <a:ea typeface="Noto Sans SC"/>
                <a:cs typeface="Noto Sans SC"/>
                <a:sym typeface="Noto Sans SC"/>
              </a:rPr>
              <a:t>。</a:t>
            </a:r>
          </a:p>
        </p:txBody>
      </p:sp>
      <p:sp>
        <p:nvSpPr>
          <p:cNvPr id="46" name="文本框 45">
            <a:extLst>
              <a:ext uri="{FF2B5EF4-FFF2-40B4-BE49-F238E27FC236}">
                <a16:creationId xmlns:a16="http://schemas.microsoft.com/office/drawing/2014/main" id="{74ED2885-3FA8-B6AF-E511-7BFB946E4234}"/>
              </a:ext>
            </a:extLst>
          </p:cNvPr>
          <p:cNvSpPr txBox="1"/>
          <p:nvPr/>
        </p:nvSpPr>
        <p:spPr>
          <a:xfrm>
            <a:off x="6578134" y="1821180"/>
            <a:ext cx="3454581" cy="447815"/>
          </a:xfrm>
          <a:prstGeom prst="rect">
            <a:avLst/>
          </a:prstGeom>
          <a:noFill/>
        </p:spPr>
        <p:txBody>
          <a:bodyPr wrap="square" rtlCol="0">
            <a:spAutoFit/>
          </a:bodyPr>
          <a:lstStyle/>
          <a:p>
            <a:pPr>
              <a:lnSpc>
                <a:spcPct val="125000"/>
              </a:lnSpc>
              <a:defRPr/>
            </a:pPr>
            <a:r>
              <a:rPr lang="en-US" altLang="zh-CN" sz="2000" b="1" dirty="0" err="1">
                <a:solidFill>
                  <a:srgbClr val="C00000"/>
                </a:solidFill>
                <a:latin typeface="Noto Sans SC"/>
                <a:ea typeface="Noto Sans SC"/>
                <a:cs typeface="Noto Sans SC"/>
                <a:sym typeface="Noto Sans SC"/>
              </a:rPr>
              <a:t>通用</a:t>
            </a:r>
            <a:r>
              <a:rPr lang="en-US" altLang="zh-CN" sz="2000" b="1" dirty="0">
                <a:solidFill>
                  <a:srgbClr val="C00000"/>
                </a:solidFill>
                <a:latin typeface="Noto Sans SC"/>
                <a:ea typeface="Noto Sans SC"/>
                <a:cs typeface="Noto Sans SC"/>
                <a:sym typeface="Noto Sans SC"/>
              </a:rPr>
              <a:t> AI </a:t>
            </a:r>
            <a:r>
              <a:rPr lang="en-US" altLang="zh-CN" sz="2000" b="1" dirty="0" err="1">
                <a:solidFill>
                  <a:srgbClr val="C00000"/>
                </a:solidFill>
                <a:latin typeface="Noto Sans SC"/>
                <a:ea typeface="Noto Sans SC"/>
                <a:cs typeface="Noto Sans SC"/>
                <a:sym typeface="Noto Sans SC"/>
              </a:rPr>
              <a:t>存在“幻觉”风险</a:t>
            </a:r>
            <a:endParaRPr lang="en-US" altLang="zh-CN" sz="1400" dirty="0">
              <a:solidFill>
                <a:srgbClr val="C00000"/>
              </a:solidFill>
            </a:endParaRPr>
          </a:p>
        </p:txBody>
      </p:sp>
      <p:pic>
        <p:nvPicPr>
          <p:cNvPr id="70" name="图形 69" descr="秒表">
            <a:extLst>
              <a:ext uri="{FF2B5EF4-FFF2-40B4-BE49-F238E27FC236}">
                <a16:creationId xmlns:a16="http://schemas.microsoft.com/office/drawing/2014/main" id="{8574A548-CA11-9C4B-EAA4-8157B3BBBB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8746" y="5284370"/>
            <a:ext cx="742392" cy="742392"/>
          </a:xfrm>
          <a:prstGeom prst="rect">
            <a:avLst/>
          </a:prstGeom>
        </p:spPr>
      </p:pic>
      <p:sp>
        <p:nvSpPr>
          <p:cNvPr id="22" name="文本框 21">
            <a:extLst>
              <a:ext uri="{FF2B5EF4-FFF2-40B4-BE49-F238E27FC236}">
                <a16:creationId xmlns:a16="http://schemas.microsoft.com/office/drawing/2014/main" id="{BDF61F56-DAD3-4ACF-9C87-8EB98EF1BE04}"/>
              </a:ext>
            </a:extLst>
          </p:cNvPr>
          <p:cNvSpPr txBox="1"/>
          <p:nvPr/>
        </p:nvSpPr>
        <p:spPr>
          <a:xfrm>
            <a:off x="6587148" y="5110000"/>
            <a:ext cx="3103951" cy="447815"/>
          </a:xfrm>
          <a:prstGeom prst="rect">
            <a:avLst/>
          </a:prstGeom>
          <a:noFill/>
        </p:spPr>
        <p:txBody>
          <a:bodyPr wrap="square" rtlCol="0">
            <a:spAutoFit/>
          </a:bodyPr>
          <a:lstStyle/>
          <a:p>
            <a:pPr>
              <a:lnSpc>
                <a:spcPct val="125000"/>
              </a:lnSpc>
              <a:defRPr/>
            </a:pPr>
            <a:r>
              <a:rPr lang="en-US" altLang="zh-CN" sz="2000" b="1" dirty="0" err="1">
                <a:solidFill>
                  <a:srgbClr val="C00000"/>
                </a:solidFill>
                <a:latin typeface="Noto Sans SC"/>
                <a:ea typeface="Noto Sans SC"/>
                <a:cs typeface="Noto Sans SC"/>
                <a:sym typeface="Noto Sans SC"/>
              </a:rPr>
              <a:t>交付成果无法验收归档</a:t>
            </a:r>
            <a:endParaRPr lang="en-US" altLang="zh-CN" sz="1400" dirty="0">
              <a:solidFill>
                <a:srgbClr val="C00000"/>
              </a:solidFill>
            </a:endParaRPr>
          </a:p>
        </p:txBody>
      </p:sp>
      <p:pic>
        <p:nvPicPr>
          <p:cNvPr id="84" name="图片 83">
            <a:extLst>
              <a:ext uri="{FF2B5EF4-FFF2-40B4-BE49-F238E27FC236}">
                <a16:creationId xmlns:a16="http://schemas.microsoft.com/office/drawing/2014/main" id="{37F7494B-095E-F3D4-64F6-0C763233AA33}"/>
              </a:ext>
            </a:extLst>
          </p:cNvPr>
          <p:cNvPicPr>
            <a:picLocks noChangeAspect="1"/>
          </p:cNvPicPr>
          <p:nvPr/>
        </p:nvPicPr>
        <p:blipFill>
          <a:blip r:embed="rId6">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Tree>
    <p:extLst>
      <p:ext uri="{BB962C8B-B14F-4D97-AF65-F5344CB8AC3E}">
        <p14:creationId xmlns:p14="http://schemas.microsoft.com/office/powerpoint/2010/main" val="308322012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ED16BBA-2D4E-4777-9858-7E4A2F956B20}"/>
              </a:ext>
            </a:extLst>
          </p:cNvPr>
          <p:cNvSpPr txBox="1"/>
          <p:nvPr/>
        </p:nvSpPr>
        <p:spPr>
          <a:xfrm>
            <a:off x="700630" y="4536200"/>
            <a:ext cx="4117644" cy="1413913"/>
          </a:xfrm>
          <a:prstGeom prst="rect">
            <a:avLst/>
          </a:prstGeom>
          <a:noFill/>
        </p:spPr>
        <p:txBody>
          <a:bodyPr wrap="square" rtlCol="0">
            <a:spAutoFit/>
          </a:bodyPr>
          <a:lstStyle/>
          <a:p>
            <a:pPr>
              <a:lnSpc>
                <a:spcPct val="125000"/>
              </a:lnSpc>
              <a:defRPr/>
            </a:pPr>
            <a:r>
              <a:rPr lang="en-US" altLang="zh-CN" sz="1400" b="1" dirty="0">
                <a:latin typeface="Noto Sans SC"/>
                <a:ea typeface="Noto Sans SC"/>
                <a:cs typeface="Noto Sans SC"/>
                <a:sym typeface="Noto Sans SC"/>
              </a:rPr>
              <a:t>随着</a:t>
            </a:r>
            <a:r>
              <a:rPr lang="en-US" altLang="zh-CN" sz="1400" b="1" dirty="0">
                <a:solidFill>
                  <a:srgbClr val="C00000"/>
                </a:solidFill>
                <a:latin typeface="Noto Sans SC"/>
                <a:ea typeface="Noto Sans SC"/>
                <a:cs typeface="Noto Sans SC"/>
                <a:sym typeface="Noto Sans SC"/>
              </a:rPr>
              <a:t>中企出海</a:t>
            </a:r>
            <a:r>
              <a:rPr lang="en-US" altLang="zh-CN" sz="1400" b="1" dirty="0">
                <a:latin typeface="Noto Sans SC"/>
                <a:ea typeface="Noto Sans SC"/>
                <a:cs typeface="Noto Sans SC"/>
                <a:sym typeface="Noto Sans SC"/>
              </a:rPr>
              <a:t>与</a:t>
            </a:r>
            <a:r>
              <a:rPr lang="en-US" altLang="zh-CN" sz="1400" b="1" dirty="0">
                <a:solidFill>
                  <a:srgbClr val="C00000"/>
                </a:solidFill>
                <a:latin typeface="Noto Sans SC"/>
                <a:ea typeface="Noto Sans SC"/>
                <a:cs typeface="Noto Sans SC"/>
                <a:sym typeface="Noto Sans SC"/>
              </a:rPr>
              <a:t>跨境贸易</a:t>
            </a:r>
            <a:r>
              <a:rPr lang="en-US" altLang="zh-CN" sz="1400" b="1" dirty="0">
                <a:latin typeface="Noto Sans SC"/>
                <a:ea typeface="Noto Sans SC"/>
                <a:cs typeface="Noto Sans SC"/>
                <a:sym typeface="Noto Sans SC"/>
              </a:rPr>
              <a:t>的深化，对</a:t>
            </a:r>
            <a:r>
              <a:rPr lang="en-US" altLang="zh-CN" sz="1400" b="1" dirty="0">
                <a:solidFill>
                  <a:srgbClr val="C00000"/>
                </a:solidFill>
                <a:latin typeface="Noto Sans SC"/>
                <a:ea typeface="Noto Sans SC"/>
                <a:cs typeface="Noto Sans SC"/>
                <a:sym typeface="Noto Sans SC"/>
              </a:rPr>
              <a:t>日美法律合规</a:t>
            </a:r>
            <a:r>
              <a:rPr lang="en-US" altLang="zh-CN" sz="1400" b="1" dirty="0">
                <a:latin typeface="Noto Sans SC"/>
                <a:ea typeface="Noto Sans SC"/>
                <a:cs typeface="Noto Sans SC"/>
                <a:sym typeface="Noto Sans SC"/>
              </a:rPr>
              <a:t>的需求呈</a:t>
            </a:r>
            <a:r>
              <a:rPr lang="en-US" altLang="zh-CN" sz="1400" b="1" dirty="0">
                <a:solidFill>
                  <a:srgbClr val="C00000"/>
                </a:solidFill>
                <a:latin typeface="Noto Sans SC"/>
                <a:ea typeface="Noto Sans SC"/>
                <a:cs typeface="Noto Sans SC"/>
                <a:sym typeface="Noto Sans SC"/>
              </a:rPr>
              <a:t>爆发式增长</a:t>
            </a:r>
            <a:r>
              <a:rPr lang="en-US" altLang="zh-CN" sz="1400" b="1" dirty="0">
                <a:latin typeface="Noto Sans SC"/>
                <a:ea typeface="Noto Sans SC"/>
                <a:cs typeface="Noto Sans SC"/>
                <a:sym typeface="Noto Sans SC"/>
              </a:rPr>
              <a:t>。这不仅是法律服务的蓝海市场，更是技术赋能法律行业的绝佳切入点，蕴藏着巨大的</a:t>
            </a:r>
            <a:r>
              <a:rPr lang="en-US" altLang="zh-CN" sz="1400" b="1" dirty="0">
                <a:solidFill>
                  <a:srgbClr val="C00000"/>
                </a:solidFill>
                <a:latin typeface="Noto Sans SC"/>
                <a:ea typeface="Noto Sans SC"/>
                <a:cs typeface="Noto Sans SC"/>
                <a:sym typeface="Noto Sans SC"/>
              </a:rPr>
              <a:t>商业价值</a:t>
            </a:r>
            <a:r>
              <a:rPr lang="en-US" altLang="zh-CN" sz="1400" b="1" dirty="0">
                <a:latin typeface="Noto Sans SC"/>
                <a:ea typeface="Noto Sans SC"/>
                <a:cs typeface="Noto Sans SC"/>
                <a:sym typeface="Noto Sans SC"/>
              </a:rPr>
              <a:t>与</a:t>
            </a:r>
            <a:r>
              <a:rPr lang="en-US" altLang="zh-CN" sz="1400" b="1" dirty="0">
                <a:solidFill>
                  <a:srgbClr val="C00000"/>
                </a:solidFill>
                <a:latin typeface="Noto Sans SC"/>
                <a:ea typeface="Noto Sans SC"/>
                <a:cs typeface="Noto Sans SC"/>
                <a:sym typeface="Noto Sans SC"/>
              </a:rPr>
              <a:t>社会价值</a:t>
            </a:r>
            <a:r>
              <a:rPr lang="en-US" altLang="zh-CN" sz="1400" b="1" dirty="0">
                <a:latin typeface="Noto Sans SC"/>
                <a:ea typeface="Noto Sans SC"/>
                <a:cs typeface="Noto Sans SC"/>
                <a:sym typeface="Noto Sans SC"/>
              </a:rPr>
              <a:t>。</a:t>
            </a:r>
            <a:endParaRPr lang="en-US" altLang="zh-CN" sz="1400" b="1" dirty="0"/>
          </a:p>
          <a:p>
            <a:pPr>
              <a:lnSpc>
                <a:spcPct val="150000"/>
              </a:lnSpc>
            </a:pPr>
            <a:endParaRPr lang="zh-CN" altLang="en-US" sz="1200" dirty="0">
              <a:solidFill>
                <a:schemeClr val="bg1"/>
              </a:solidFill>
              <a:latin typeface="思源黑体 CN ExtraLight" panose="020B0200000000000000" pitchFamily="34" charset="-122"/>
              <a:ea typeface="思源黑体 CN ExtraLight" panose="020B0200000000000000" pitchFamily="34" charset="-122"/>
            </a:endParaRPr>
          </a:p>
        </p:txBody>
      </p:sp>
      <p:cxnSp>
        <p:nvCxnSpPr>
          <p:cNvPr id="6" name="直接连接符 5">
            <a:extLst>
              <a:ext uri="{FF2B5EF4-FFF2-40B4-BE49-F238E27FC236}">
                <a16:creationId xmlns:a16="http://schemas.microsoft.com/office/drawing/2014/main" id="{7A11A83F-4B03-4665-89F2-04EC975245D9}"/>
              </a:ext>
            </a:extLst>
          </p:cNvPr>
          <p:cNvCxnSpPr/>
          <p:nvPr/>
        </p:nvCxnSpPr>
        <p:spPr>
          <a:xfrm>
            <a:off x="762000" y="1436690"/>
            <a:ext cx="1047565"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F72C0F0C-51DC-4C00-A849-1E5D4A37B0BA}"/>
              </a:ext>
            </a:extLst>
          </p:cNvPr>
          <p:cNvSpPr/>
          <p:nvPr/>
        </p:nvSpPr>
        <p:spPr>
          <a:xfrm>
            <a:off x="5211429" y="1292931"/>
            <a:ext cx="6663061" cy="11455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925CF9FE-824F-4D6C-92BA-F4D73DD06BD4}"/>
              </a:ext>
            </a:extLst>
          </p:cNvPr>
          <p:cNvSpPr/>
          <p:nvPr/>
        </p:nvSpPr>
        <p:spPr>
          <a:xfrm>
            <a:off x="10686897" y="2209565"/>
            <a:ext cx="951864" cy="308677"/>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8ACDE49F-237D-4751-95AA-91C2C4BFDC1D}"/>
              </a:ext>
            </a:extLst>
          </p:cNvPr>
          <p:cNvSpPr txBox="1"/>
          <p:nvPr/>
        </p:nvSpPr>
        <p:spPr>
          <a:xfrm>
            <a:off x="5362747" y="1765790"/>
            <a:ext cx="6294508" cy="574516"/>
          </a:xfrm>
          <a:prstGeom prst="rect">
            <a:avLst/>
          </a:prstGeom>
          <a:noFill/>
        </p:spPr>
        <p:txBody>
          <a:bodyPr wrap="square" rtlCol="0">
            <a:spAutoFit/>
          </a:bodyPr>
          <a:lstStyle/>
          <a:p>
            <a:pPr>
              <a:lnSpc>
                <a:spcPct val="108333"/>
              </a:lnSpc>
            </a:pPr>
            <a:r>
              <a:rPr lang="en-US" altLang="zh-CN" sz="1500" dirty="0" err="1">
                <a:solidFill>
                  <a:schemeClr val="tx1">
                    <a:alpha val="80000"/>
                  </a:schemeClr>
                </a:solidFill>
                <a:latin typeface="Noto Sans SC"/>
                <a:ea typeface="Noto Sans SC"/>
                <a:cs typeface="Noto Sans SC"/>
                <a:sym typeface="Noto Sans SC"/>
              </a:rPr>
              <a:t>中企出海、跨境贸易与出口管制合规需求逐年攀升，涉日美合同审查与合规咨询成为高频、强付费的刚需业务</a:t>
            </a:r>
            <a:r>
              <a:rPr lang="en-US" altLang="zh-CN" sz="1500" dirty="0">
                <a:solidFill>
                  <a:schemeClr val="tx1">
                    <a:alpha val="80000"/>
                  </a:schemeClr>
                </a:solidFill>
                <a:latin typeface="Noto Sans SC"/>
                <a:ea typeface="Noto Sans SC"/>
                <a:cs typeface="Noto Sans SC"/>
                <a:sym typeface="Noto Sans SC"/>
              </a:rPr>
              <a:t>。</a:t>
            </a:r>
          </a:p>
        </p:txBody>
      </p:sp>
      <p:sp>
        <p:nvSpPr>
          <p:cNvPr id="19" name="文本框 18">
            <a:extLst>
              <a:ext uri="{FF2B5EF4-FFF2-40B4-BE49-F238E27FC236}">
                <a16:creationId xmlns:a16="http://schemas.microsoft.com/office/drawing/2014/main" id="{ECDF1DAE-AA17-4D49-B0BB-42F77B86D0BE}"/>
              </a:ext>
            </a:extLst>
          </p:cNvPr>
          <p:cNvSpPr txBox="1"/>
          <p:nvPr/>
        </p:nvSpPr>
        <p:spPr>
          <a:xfrm>
            <a:off x="5362747" y="1373011"/>
            <a:ext cx="6688879" cy="412292"/>
          </a:xfrm>
          <a:prstGeom prst="rect">
            <a:avLst/>
          </a:prstGeom>
          <a:noFill/>
        </p:spPr>
        <p:txBody>
          <a:bodyPr wrap="square" rtlCol="0">
            <a:spAutoFit/>
          </a:bodyPr>
          <a:lstStyle/>
          <a:p>
            <a:pPr>
              <a:lnSpc>
                <a:spcPct val="125000"/>
              </a:lnSpc>
              <a:defRPr/>
            </a:pPr>
            <a:r>
              <a:rPr lang="en-US" altLang="zh-CN" b="1" dirty="0" err="1">
                <a:solidFill>
                  <a:srgbClr val="C00000"/>
                </a:solidFill>
                <a:latin typeface="Noto Sans SC"/>
                <a:ea typeface="Noto Sans SC"/>
                <a:cs typeface="Noto Sans SC"/>
                <a:sym typeface="Noto Sans SC"/>
              </a:rPr>
              <a:t>需求侧趋势：高频刚需场景</a:t>
            </a:r>
            <a:endParaRPr lang="en-US" altLang="zh-CN" dirty="0">
              <a:solidFill>
                <a:srgbClr val="C00000"/>
              </a:solidFill>
            </a:endParaRPr>
          </a:p>
        </p:txBody>
      </p:sp>
      <p:pic>
        <p:nvPicPr>
          <p:cNvPr id="31" name="图片 30">
            <a:extLst>
              <a:ext uri="{FF2B5EF4-FFF2-40B4-BE49-F238E27FC236}">
                <a16:creationId xmlns:a16="http://schemas.microsoft.com/office/drawing/2014/main" id="{4A651559-3E76-4F16-B46E-4146B5D517D3}"/>
              </a:ext>
            </a:extLst>
          </p:cNvPr>
          <p:cNvPicPr>
            <a:picLocks noChangeAspect="1"/>
          </p:cNvPicPr>
          <p:nvPr/>
        </p:nvPicPr>
        <p:blipFill>
          <a:blip r:embed="rId2"/>
          <a:stretch>
            <a:fillRect/>
          </a:stretch>
        </p:blipFill>
        <p:spPr>
          <a:xfrm flipH="1">
            <a:off x="-71921" y="5474690"/>
            <a:ext cx="8784405" cy="1822363"/>
          </a:xfrm>
          <a:prstGeom prst="rect">
            <a:avLst/>
          </a:prstGeom>
        </p:spPr>
      </p:pic>
      <p:sp>
        <p:nvSpPr>
          <p:cNvPr id="3" name="矩形 2">
            <a:extLst>
              <a:ext uri="{FF2B5EF4-FFF2-40B4-BE49-F238E27FC236}">
                <a16:creationId xmlns:a16="http://schemas.microsoft.com/office/drawing/2014/main" id="{3C7852D6-2B93-E052-3682-EAF1CF0C5939}"/>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2" name="平行四边形 31">
            <a:extLst>
              <a:ext uri="{FF2B5EF4-FFF2-40B4-BE49-F238E27FC236}">
                <a16:creationId xmlns:a16="http://schemas.microsoft.com/office/drawing/2014/main" id="{A973A376-0163-3047-AE18-2FECB28792FE}"/>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a:extLst>
              <a:ext uri="{FF2B5EF4-FFF2-40B4-BE49-F238E27FC236}">
                <a16:creationId xmlns:a16="http://schemas.microsoft.com/office/drawing/2014/main" id="{CA835C59-C1C3-6A90-DBFB-8A8CF516D386}"/>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36CB0F93-86C2-CF4C-2188-680211692466}"/>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市场调研</a:t>
            </a:r>
            <a:endParaRPr lang="en-US" altLang="zh-CN" sz="3600" dirty="0"/>
          </a:p>
        </p:txBody>
      </p:sp>
      <p:pic>
        <p:nvPicPr>
          <p:cNvPr id="41" name="图片 40">
            <a:extLst>
              <a:ext uri="{FF2B5EF4-FFF2-40B4-BE49-F238E27FC236}">
                <a16:creationId xmlns:a16="http://schemas.microsoft.com/office/drawing/2014/main" id="{13E886DA-F05B-D894-074E-05E6C5773082}"/>
              </a:ext>
            </a:extLst>
          </p:cNvPr>
          <p:cNvPicPr>
            <a:picLocks noChangeAspect="1"/>
          </p:cNvPicPr>
          <p:nvPr/>
        </p:nvPicPr>
        <p:blipFill>
          <a:blip r:embed="rId3">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pic>
        <p:nvPicPr>
          <p:cNvPr id="43" name="Picture 4">
            <a:extLst>
              <a:ext uri="{FF2B5EF4-FFF2-40B4-BE49-F238E27FC236}">
                <a16:creationId xmlns:a16="http://schemas.microsoft.com/office/drawing/2014/main" id="{EDD519B5-4A5E-BAA2-204A-C136680DA56D}"/>
              </a:ext>
            </a:extLst>
          </p:cNvPr>
          <p:cNvPicPr>
            <a:picLocks noChangeAspect="1"/>
          </p:cNvPicPr>
          <p:nvPr/>
        </p:nvPicPr>
        <p:blipFill>
          <a:blip r:embed="rId4"/>
          <a:srcRect t="102" b="102"/>
          <a:stretch>
            <a:fillRect/>
          </a:stretch>
        </p:blipFill>
        <p:spPr>
          <a:xfrm>
            <a:off x="762000" y="1651000"/>
            <a:ext cx="4064000" cy="2705100"/>
          </a:xfrm>
          <a:prstGeom prst="rect">
            <a:avLst/>
          </a:prstGeom>
          <a:noFill/>
          <a:ln w="25400" cap="flat" cmpd="sng">
            <a:solidFill>
              <a:srgbClr val="D4AF37">
                <a:alpha val="60000"/>
              </a:srgbClr>
            </a:solidFill>
            <a:prstDash val="solid"/>
            <a:round/>
          </a:ln>
        </p:spPr>
      </p:pic>
      <p:sp>
        <p:nvSpPr>
          <p:cNvPr id="45" name="矩形 44">
            <a:extLst>
              <a:ext uri="{FF2B5EF4-FFF2-40B4-BE49-F238E27FC236}">
                <a16:creationId xmlns:a16="http://schemas.microsoft.com/office/drawing/2014/main" id="{8791151F-A883-FAD7-CFED-A3FA6A8FAADF}"/>
              </a:ext>
            </a:extLst>
          </p:cNvPr>
          <p:cNvSpPr/>
          <p:nvPr/>
        </p:nvSpPr>
        <p:spPr>
          <a:xfrm>
            <a:off x="5211429" y="2596079"/>
            <a:ext cx="6663061" cy="11455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30D6457B-F59E-C684-8C9E-3740CAF41725}"/>
              </a:ext>
            </a:extLst>
          </p:cNvPr>
          <p:cNvSpPr/>
          <p:nvPr/>
        </p:nvSpPr>
        <p:spPr>
          <a:xfrm>
            <a:off x="10686897" y="3493301"/>
            <a:ext cx="951864" cy="328089"/>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5DE3D4F1-1017-AAB2-F09F-FE6787B0AB7E}"/>
              </a:ext>
            </a:extLst>
          </p:cNvPr>
          <p:cNvSpPr txBox="1"/>
          <p:nvPr/>
        </p:nvSpPr>
        <p:spPr>
          <a:xfrm>
            <a:off x="5362747" y="3044535"/>
            <a:ext cx="6294508" cy="574516"/>
          </a:xfrm>
          <a:prstGeom prst="rect">
            <a:avLst/>
          </a:prstGeom>
          <a:noFill/>
        </p:spPr>
        <p:txBody>
          <a:bodyPr wrap="square" rtlCol="0">
            <a:spAutoFit/>
          </a:bodyPr>
          <a:lstStyle/>
          <a:p>
            <a:pPr>
              <a:lnSpc>
                <a:spcPct val="108333"/>
              </a:lnSpc>
            </a:pPr>
            <a:r>
              <a:rPr lang="en-US" altLang="zh-CN" sz="1500" dirty="0" err="1">
                <a:solidFill>
                  <a:schemeClr val="tx1">
                    <a:alpha val="80000"/>
                  </a:schemeClr>
                </a:solidFill>
                <a:latin typeface="Noto Sans SC"/>
                <a:ea typeface="Noto Sans SC"/>
                <a:cs typeface="Noto Sans SC"/>
                <a:sym typeface="Noto Sans SC"/>
              </a:rPr>
              <a:t>精准覆盖涉外律师、企业法务合规岗（含出口管制团队</a:t>
            </a:r>
            <a:r>
              <a:rPr lang="en-US" altLang="zh-CN" sz="1500" dirty="0">
                <a:solidFill>
                  <a:schemeClr val="tx1">
                    <a:alpha val="80000"/>
                  </a:schemeClr>
                </a:solidFill>
                <a:latin typeface="Noto Sans SC"/>
                <a:ea typeface="Noto Sans SC"/>
                <a:cs typeface="Noto Sans SC"/>
                <a:sym typeface="Noto Sans SC"/>
              </a:rPr>
              <a:t>），</a:t>
            </a:r>
            <a:r>
              <a:rPr lang="en-US" altLang="zh-CN" sz="1500" dirty="0" err="1">
                <a:solidFill>
                  <a:schemeClr val="tx1">
                    <a:alpha val="80000"/>
                  </a:schemeClr>
                </a:solidFill>
                <a:latin typeface="Noto Sans SC"/>
                <a:ea typeface="Noto Sans SC"/>
                <a:cs typeface="Noto Sans SC"/>
                <a:sym typeface="Noto Sans SC"/>
              </a:rPr>
              <a:t>以及法律翻译、仲裁调解等专业支持人员</a:t>
            </a:r>
            <a:r>
              <a:rPr lang="en-US" altLang="zh-CN" sz="1500" dirty="0">
                <a:solidFill>
                  <a:schemeClr val="tx1">
                    <a:alpha val="80000"/>
                  </a:schemeClr>
                </a:solidFill>
                <a:latin typeface="Noto Sans SC"/>
                <a:ea typeface="Noto Sans SC"/>
                <a:cs typeface="Noto Sans SC"/>
                <a:sym typeface="Noto Sans SC"/>
              </a:rPr>
              <a:t>。</a:t>
            </a:r>
          </a:p>
        </p:txBody>
      </p:sp>
      <p:sp>
        <p:nvSpPr>
          <p:cNvPr id="51" name="文本框 50">
            <a:extLst>
              <a:ext uri="{FF2B5EF4-FFF2-40B4-BE49-F238E27FC236}">
                <a16:creationId xmlns:a16="http://schemas.microsoft.com/office/drawing/2014/main" id="{FCFE60E4-214E-A0DF-DBF8-0D21A62BFB4D}"/>
              </a:ext>
            </a:extLst>
          </p:cNvPr>
          <p:cNvSpPr txBox="1"/>
          <p:nvPr/>
        </p:nvSpPr>
        <p:spPr>
          <a:xfrm>
            <a:off x="5362747" y="2676159"/>
            <a:ext cx="6688879" cy="412292"/>
          </a:xfrm>
          <a:prstGeom prst="rect">
            <a:avLst/>
          </a:prstGeom>
          <a:noFill/>
        </p:spPr>
        <p:txBody>
          <a:bodyPr wrap="square" rtlCol="0">
            <a:spAutoFit/>
          </a:bodyPr>
          <a:lstStyle/>
          <a:p>
            <a:pPr>
              <a:lnSpc>
                <a:spcPct val="125000"/>
              </a:lnSpc>
              <a:defRPr/>
            </a:pPr>
            <a:r>
              <a:rPr lang="en-US" altLang="zh-CN" b="1" dirty="0" err="1">
                <a:solidFill>
                  <a:srgbClr val="C00000"/>
                </a:solidFill>
                <a:latin typeface="Noto Sans SC"/>
                <a:ea typeface="Noto Sans SC"/>
                <a:cs typeface="Noto Sans SC"/>
                <a:sym typeface="Noto Sans SC"/>
              </a:rPr>
              <a:t>目标用户：全链路专业人群</a:t>
            </a:r>
            <a:endParaRPr lang="en-US" altLang="zh-CN" dirty="0">
              <a:solidFill>
                <a:srgbClr val="C00000"/>
              </a:solidFill>
            </a:endParaRPr>
          </a:p>
        </p:txBody>
      </p:sp>
      <p:sp>
        <p:nvSpPr>
          <p:cNvPr id="53" name="矩形 52">
            <a:extLst>
              <a:ext uri="{FF2B5EF4-FFF2-40B4-BE49-F238E27FC236}">
                <a16:creationId xmlns:a16="http://schemas.microsoft.com/office/drawing/2014/main" id="{2434664F-21E7-76FB-3332-20F32D6F9501}"/>
              </a:ext>
            </a:extLst>
          </p:cNvPr>
          <p:cNvSpPr/>
          <p:nvPr/>
        </p:nvSpPr>
        <p:spPr>
          <a:xfrm>
            <a:off x="5211429" y="3943664"/>
            <a:ext cx="6663061" cy="11455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A0CF9DEF-D84D-7CB8-C269-B88E74BAEE84}"/>
              </a:ext>
            </a:extLst>
          </p:cNvPr>
          <p:cNvSpPr/>
          <p:nvPr/>
        </p:nvSpPr>
        <p:spPr>
          <a:xfrm>
            <a:off x="10686897" y="4840886"/>
            <a:ext cx="951864" cy="328089"/>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09D72D34-2F13-59AD-F5B7-42BDF22D2790}"/>
              </a:ext>
            </a:extLst>
          </p:cNvPr>
          <p:cNvSpPr txBox="1"/>
          <p:nvPr/>
        </p:nvSpPr>
        <p:spPr>
          <a:xfrm>
            <a:off x="5362747" y="4411658"/>
            <a:ext cx="6294508" cy="574516"/>
          </a:xfrm>
          <a:prstGeom prst="rect">
            <a:avLst/>
          </a:prstGeom>
          <a:noFill/>
        </p:spPr>
        <p:txBody>
          <a:bodyPr wrap="square" rtlCol="0">
            <a:spAutoFit/>
          </a:bodyPr>
          <a:lstStyle/>
          <a:p>
            <a:pPr>
              <a:lnSpc>
                <a:spcPct val="108333"/>
              </a:lnSpc>
            </a:pPr>
            <a:r>
              <a:rPr lang="en-US" altLang="zh-CN" sz="1500" dirty="0">
                <a:solidFill>
                  <a:schemeClr val="tx1">
                    <a:alpha val="80000"/>
                  </a:schemeClr>
                </a:solidFill>
                <a:latin typeface="Noto Sans SC"/>
                <a:ea typeface="Noto Sans SC"/>
                <a:cs typeface="Noto Sans SC"/>
                <a:sym typeface="Noto Sans SC"/>
              </a:rPr>
              <a:t>切入数据壁垒高的涉外垂直场景，本地15万条日美官方法条数据构建核心竞争优势，形成独特的市场护城河。</a:t>
            </a:r>
          </a:p>
        </p:txBody>
      </p:sp>
      <p:sp>
        <p:nvSpPr>
          <p:cNvPr id="59" name="文本框 58">
            <a:extLst>
              <a:ext uri="{FF2B5EF4-FFF2-40B4-BE49-F238E27FC236}">
                <a16:creationId xmlns:a16="http://schemas.microsoft.com/office/drawing/2014/main" id="{1DF9EF47-5939-EFDE-E454-64BB99C436BE}"/>
              </a:ext>
            </a:extLst>
          </p:cNvPr>
          <p:cNvSpPr txBox="1"/>
          <p:nvPr/>
        </p:nvSpPr>
        <p:spPr>
          <a:xfrm>
            <a:off x="5362747" y="4023744"/>
            <a:ext cx="6688879" cy="412292"/>
          </a:xfrm>
          <a:prstGeom prst="rect">
            <a:avLst/>
          </a:prstGeom>
          <a:noFill/>
        </p:spPr>
        <p:txBody>
          <a:bodyPr wrap="square" rtlCol="0">
            <a:spAutoFit/>
          </a:bodyPr>
          <a:lstStyle/>
          <a:p>
            <a:pPr>
              <a:lnSpc>
                <a:spcPct val="125000"/>
              </a:lnSpc>
              <a:defRPr/>
            </a:pPr>
            <a:r>
              <a:rPr lang="en-US" altLang="zh-CN" b="1" dirty="0" err="1">
                <a:solidFill>
                  <a:srgbClr val="C00000"/>
                </a:solidFill>
                <a:latin typeface="Noto Sans SC"/>
                <a:ea typeface="Noto Sans SC"/>
                <a:cs typeface="Noto Sans SC"/>
                <a:sym typeface="Noto Sans SC"/>
              </a:rPr>
              <a:t>差异化定位：避开红海，深耕垂直</a:t>
            </a:r>
            <a:endParaRPr lang="en-US" altLang="zh-CN" dirty="0">
              <a:solidFill>
                <a:srgbClr val="C00000"/>
              </a:solidFill>
            </a:endParaRPr>
          </a:p>
        </p:txBody>
      </p:sp>
      <p:sp>
        <p:nvSpPr>
          <p:cNvPr id="61" name="矩形 60">
            <a:extLst>
              <a:ext uri="{FF2B5EF4-FFF2-40B4-BE49-F238E27FC236}">
                <a16:creationId xmlns:a16="http://schemas.microsoft.com/office/drawing/2014/main" id="{D5D1BF57-3F99-4ED3-3BC4-3B339E124159}"/>
              </a:ext>
            </a:extLst>
          </p:cNvPr>
          <p:cNvSpPr/>
          <p:nvPr/>
        </p:nvSpPr>
        <p:spPr>
          <a:xfrm>
            <a:off x="5211429" y="5316514"/>
            <a:ext cx="6663061" cy="11455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661D6FB9-6255-1161-B617-637ECE562A62}"/>
              </a:ext>
            </a:extLst>
          </p:cNvPr>
          <p:cNvSpPr/>
          <p:nvPr/>
        </p:nvSpPr>
        <p:spPr>
          <a:xfrm>
            <a:off x="10686897" y="6213736"/>
            <a:ext cx="951864" cy="328089"/>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D57ECC95-4931-9EBD-9A08-71A445D3C9C2}"/>
              </a:ext>
            </a:extLst>
          </p:cNvPr>
          <p:cNvSpPr txBox="1"/>
          <p:nvPr/>
        </p:nvSpPr>
        <p:spPr>
          <a:xfrm>
            <a:off x="5362747" y="5801444"/>
            <a:ext cx="6294508" cy="574516"/>
          </a:xfrm>
          <a:prstGeom prst="rect">
            <a:avLst/>
          </a:prstGeom>
          <a:noFill/>
        </p:spPr>
        <p:txBody>
          <a:bodyPr wrap="square" rtlCol="0">
            <a:spAutoFit/>
          </a:bodyPr>
          <a:lstStyle/>
          <a:p>
            <a:pPr>
              <a:lnSpc>
                <a:spcPct val="108333"/>
              </a:lnSpc>
            </a:pPr>
            <a:r>
              <a:rPr lang="en-US" altLang="zh-CN" sz="1500" dirty="0" err="1">
                <a:solidFill>
                  <a:schemeClr val="tx1">
                    <a:alpha val="80000"/>
                  </a:schemeClr>
                </a:solidFill>
                <a:latin typeface="Noto Sans SC"/>
                <a:ea typeface="Noto Sans SC"/>
                <a:cs typeface="Noto Sans SC"/>
                <a:sym typeface="Noto Sans SC"/>
              </a:rPr>
              <a:t>涉外场景仅是验证起点，智能体流水线具备法律领域无关性，未来可快速复制扩展至更多法律细分赛道</a:t>
            </a:r>
            <a:r>
              <a:rPr lang="en-US" altLang="zh-CN" sz="1500" dirty="0">
                <a:solidFill>
                  <a:schemeClr val="tx1">
                    <a:alpha val="80000"/>
                  </a:schemeClr>
                </a:solidFill>
                <a:latin typeface="Noto Sans SC"/>
                <a:ea typeface="Noto Sans SC"/>
                <a:cs typeface="Noto Sans SC"/>
                <a:sym typeface="Noto Sans SC"/>
              </a:rPr>
              <a:t>。</a:t>
            </a:r>
          </a:p>
        </p:txBody>
      </p:sp>
      <p:sp>
        <p:nvSpPr>
          <p:cNvPr id="67" name="文本框 66">
            <a:extLst>
              <a:ext uri="{FF2B5EF4-FFF2-40B4-BE49-F238E27FC236}">
                <a16:creationId xmlns:a16="http://schemas.microsoft.com/office/drawing/2014/main" id="{31D0E4CB-BB46-9943-2247-40CBDFBBC153}"/>
              </a:ext>
            </a:extLst>
          </p:cNvPr>
          <p:cNvSpPr txBox="1"/>
          <p:nvPr/>
        </p:nvSpPr>
        <p:spPr>
          <a:xfrm>
            <a:off x="5362747" y="5396594"/>
            <a:ext cx="6688879" cy="412292"/>
          </a:xfrm>
          <a:prstGeom prst="rect">
            <a:avLst/>
          </a:prstGeom>
          <a:noFill/>
        </p:spPr>
        <p:txBody>
          <a:bodyPr wrap="square" rtlCol="0">
            <a:spAutoFit/>
          </a:bodyPr>
          <a:lstStyle/>
          <a:p>
            <a:pPr>
              <a:lnSpc>
                <a:spcPct val="125000"/>
              </a:lnSpc>
              <a:defRPr/>
            </a:pPr>
            <a:r>
              <a:rPr lang="en-US" altLang="zh-CN" b="1" dirty="0" err="1">
                <a:solidFill>
                  <a:srgbClr val="C00000"/>
                </a:solidFill>
                <a:latin typeface="Noto Sans SC"/>
                <a:ea typeface="Noto Sans SC"/>
                <a:cs typeface="Noto Sans SC"/>
                <a:sym typeface="Noto Sans SC"/>
              </a:rPr>
              <a:t>未来潜力：可复制的智能引擎</a:t>
            </a:r>
            <a:endParaRPr lang="en-US" altLang="zh-CN" dirty="0">
              <a:solidFill>
                <a:srgbClr val="C00000"/>
              </a:solidFill>
            </a:endParaRPr>
          </a:p>
        </p:txBody>
      </p:sp>
    </p:spTree>
    <p:extLst>
      <p:ext uri="{BB962C8B-B14F-4D97-AF65-F5344CB8AC3E}">
        <p14:creationId xmlns:p14="http://schemas.microsoft.com/office/powerpoint/2010/main" val="298541714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a:extLst>
              <a:ext uri="{FF2B5EF4-FFF2-40B4-BE49-F238E27FC236}">
                <a16:creationId xmlns:a16="http://schemas.microsoft.com/office/drawing/2014/main" id="{E54F9DDF-A916-4B77-8085-B15E23D0F6B4}"/>
              </a:ext>
            </a:extLst>
          </p:cNvPr>
          <p:cNvSpPr/>
          <p:nvPr/>
        </p:nvSpPr>
        <p:spPr>
          <a:xfrm>
            <a:off x="8683589" y="1931747"/>
            <a:ext cx="3159162" cy="4232884"/>
          </a:xfrm>
          <a:prstGeom prst="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56">
            <a:extLst>
              <a:ext uri="{FF2B5EF4-FFF2-40B4-BE49-F238E27FC236}">
                <a16:creationId xmlns:a16="http://schemas.microsoft.com/office/drawing/2014/main" id="{5BDC068D-F91B-4505-A8D0-532E3FA013E0}"/>
              </a:ext>
            </a:extLst>
          </p:cNvPr>
          <p:cNvSpPr/>
          <p:nvPr/>
        </p:nvSpPr>
        <p:spPr>
          <a:xfrm>
            <a:off x="8974200" y="5445965"/>
            <a:ext cx="1746657" cy="446787"/>
          </a:xfrm>
          <a:prstGeom prst="roundRect">
            <a:avLst>
              <a:gd name="adj" fmla="val 221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6E8A50E3-5075-4816-87DA-FD0034AC31E8}"/>
              </a:ext>
            </a:extLst>
          </p:cNvPr>
          <p:cNvSpPr/>
          <p:nvPr/>
        </p:nvSpPr>
        <p:spPr>
          <a:xfrm flipV="1">
            <a:off x="8851833" y="2172164"/>
            <a:ext cx="2218079" cy="60804"/>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a:extLst>
              <a:ext uri="{FF2B5EF4-FFF2-40B4-BE49-F238E27FC236}">
                <a16:creationId xmlns:a16="http://schemas.microsoft.com/office/drawing/2014/main" id="{E0782C26-4112-4A77-A8F1-E914B023435A}"/>
              </a:ext>
            </a:extLst>
          </p:cNvPr>
          <p:cNvSpPr/>
          <p:nvPr/>
        </p:nvSpPr>
        <p:spPr>
          <a:xfrm flipV="1">
            <a:off x="8851833" y="2504847"/>
            <a:ext cx="1198224" cy="60803"/>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文本框 62">
            <a:extLst>
              <a:ext uri="{FF2B5EF4-FFF2-40B4-BE49-F238E27FC236}">
                <a16:creationId xmlns:a16="http://schemas.microsoft.com/office/drawing/2014/main" id="{AA1F8606-FAA5-42E7-B12A-8BA8B1B9CF7A}"/>
              </a:ext>
            </a:extLst>
          </p:cNvPr>
          <p:cNvSpPr txBox="1"/>
          <p:nvPr/>
        </p:nvSpPr>
        <p:spPr>
          <a:xfrm>
            <a:off x="9113711" y="5498766"/>
            <a:ext cx="1607147" cy="376706"/>
          </a:xfrm>
          <a:prstGeom prst="rect">
            <a:avLst/>
          </a:prstGeom>
          <a:noFill/>
        </p:spPr>
        <p:txBody>
          <a:bodyPr wrap="square" rtlCol="0">
            <a:spAutoFit/>
          </a:bodyPr>
          <a:lstStyle/>
          <a:p>
            <a:pPr>
              <a:lnSpc>
                <a:spcPct val="125000"/>
              </a:lnSpc>
              <a:defRPr/>
            </a:pPr>
            <a:r>
              <a:rPr lang="en-US" altLang="zh-CN" sz="1600" b="1" dirty="0">
                <a:latin typeface="Noto Sans SC"/>
                <a:ea typeface="Noto Sans SC"/>
                <a:cs typeface="Noto Sans SC"/>
                <a:sym typeface="Noto Sans SC"/>
              </a:rPr>
              <a:t>法元 · Faron</a:t>
            </a:r>
            <a:endParaRPr lang="en-US" altLang="zh-CN" sz="1600" dirty="0"/>
          </a:p>
        </p:txBody>
      </p:sp>
      <p:sp>
        <p:nvSpPr>
          <p:cNvPr id="3" name="矩形 2">
            <a:extLst>
              <a:ext uri="{FF2B5EF4-FFF2-40B4-BE49-F238E27FC236}">
                <a16:creationId xmlns:a16="http://schemas.microsoft.com/office/drawing/2014/main" id="{83824C65-8752-0D28-5E1F-CAEC4C4E718E}"/>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6" name="平行四边形 5">
            <a:extLst>
              <a:ext uri="{FF2B5EF4-FFF2-40B4-BE49-F238E27FC236}">
                <a16:creationId xmlns:a16="http://schemas.microsoft.com/office/drawing/2014/main" id="{A9B40279-51DD-7210-FDB6-71ABB1162381}"/>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AC882E99-4813-0345-8D98-DE09313A8555}"/>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6C306CE-3455-238E-0652-0BD7ED99AFA8}"/>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竞品</a:t>
            </a:r>
            <a:r>
              <a:rPr lang="en-US" altLang="zh-CN" sz="3600" b="1" dirty="0" err="1">
                <a:solidFill>
                  <a:srgbClr val="FFFFFF"/>
                </a:solidFill>
                <a:latin typeface="Noto Sans SC"/>
                <a:ea typeface="Noto Sans SC"/>
                <a:cs typeface="Noto Sans SC"/>
                <a:sym typeface="Noto Sans SC"/>
              </a:rPr>
              <a:t>分析</a:t>
            </a:r>
            <a:endParaRPr lang="en-US" altLang="zh-CN" sz="3600" dirty="0"/>
          </a:p>
        </p:txBody>
      </p:sp>
      <p:pic>
        <p:nvPicPr>
          <p:cNvPr id="12" name="图片 11">
            <a:extLst>
              <a:ext uri="{FF2B5EF4-FFF2-40B4-BE49-F238E27FC236}">
                <a16:creationId xmlns:a16="http://schemas.microsoft.com/office/drawing/2014/main" id="{89097D23-0AC4-5EB7-309F-E4A57057C4F5}"/>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graphicFrame>
        <p:nvGraphicFramePr>
          <p:cNvPr id="16" name="Table 5">
            <a:extLst>
              <a:ext uri="{FF2B5EF4-FFF2-40B4-BE49-F238E27FC236}">
                <a16:creationId xmlns:a16="http://schemas.microsoft.com/office/drawing/2014/main" id="{C5DA4886-A660-C4F8-F08B-D79D9F5C29F1}"/>
              </a:ext>
            </a:extLst>
          </p:cNvPr>
          <p:cNvGraphicFramePr>
            <a:graphicFrameLocks noGrp="1"/>
          </p:cNvGraphicFramePr>
          <p:nvPr>
            <p:extLst>
              <p:ext uri="{D42A27DB-BD31-4B8C-83A1-F6EECF244321}">
                <p14:modId xmlns:p14="http://schemas.microsoft.com/office/powerpoint/2010/main" val="4292615437"/>
              </p:ext>
            </p:extLst>
          </p:nvPr>
        </p:nvGraphicFramePr>
        <p:xfrm>
          <a:off x="349249" y="1520576"/>
          <a:ext cx="7939283" cy="4885618"/>
        </p:xfrm>
        <a:graphic>
          <a:graphicData uri="http://schemas.openxmlformats.org/drawingml/2006/table">
            <a:tbl>
              <a:tblPr>
                <a:effectLst/>
              </a:tblPr>
              <a:tblGrid>
                <a:gridCol w="1746642">
                  <a:extLst>
                    <a:ext uri="{9D8B030D-6E8A-4147-A177-3AD203B41FA5}">
                      <a16:colId xmlns:a16="http://schemas.microsoft.com/office/drawing/2014/main" val="20000"/>
                    </a:ext>
                  </a:extLst>
                </a:gridCol>
                <a:gridCol w="1905428">
                  <a:extLst>
                    <a:ext uri="{9D8B030D-6E8A-4147-A177-3AD203B41FA5}">
                      <a16:colId xmlns:a16="http://schemas.microsoft.com/office/drawing/2014/main" val="20001"/>
                    </a:ext>
                  </a:extLst>
                </a:gridCol>
                <a:gridCol w="1905428">
                  <a:extLst>
                    <a:ext uri="{9D8B030D-6E8A-4147-A177-3AD203B41FA5}">
                      <a16:colId xmlns:a16="http://schemas.microsoft.com/office/drawing/2014/main" val="20002"/>
                    </a:ext>
                  </a:extLst>
                </a:gridCol>
                <a:gridCol w="2381785">
                  <a:extLst>
                    <a:ext uri="{9D8B030D-6E8A-4147-A177-3AD203B41FA5}">
                      <a16:colId xmlns:a16="http://schemas.microsoft.com/office/drawing/2014/main" val="20003"/>
                    </a:ext>
                  </a:extLst>
                </a:gridCol>
              </a:tblGrid>
              <a:tr h="708916">
                <a:tc>
                  <a:txBody>
                    <a:bodyPr/>
                    <a:lstStyle/>
                    <a:p>
                      <a:pPr marL="0" indent="0" algn="ctr">
                        <a:lnSpc>
                          <a:spcPct val="100000"/>
                        </a:lnSpc>
                        <a:defRPr/>
                      </a:pPr>
                      <a:r>
                        <a:rPr lang="en-US" sz="1800" b="1" i="0" u="none" strike="noStrike" dirty="0">
                          <a:solidFill>
                            <a:schemeClr val="bg1"/>
                          </a:solidFill>
                          <a:latin typeface="Noto Sans SC"/>
                          <a:ea typeface="Noto Sans SC"/>
                          <a:cs typeface="Noto Sans SC"/>
                          <a:sym typeface="Noto Sans SC"/>
                        </a:rPr>
                        <a:t>对比维度</a:t>
                      </a:r>
                      <a:endParaRPr lang="en-US" sz="1800" dirty="0">
                        <a:solidFill>
                          <a:schemeClr val="bg1"/>
                        </a:solidFill>
                      </a:endParaRPr>
                    </a:p>
                  </a:txBody>
                  <a:tcPr marL="101600" marR="101600" marT="101600" marB="101600" anchor="ctr">
                    <a:lnL>
                      <a:noFill/>
                    </a:lnL>
                    <a:lnR>
                      <a:noFill/>
                    </a:lnR>
                    <a:lnT>
                      <a:noFill/>
                    </a:lnT>
                    <a:lnB>
                      <a:noFill/>
                    </a:lnB>
                    <a:solidFill>
                      <a:schemeClr val="accent2">
                        <a:lumMod val="75000"/>
                      </a:schemeClr>
                    </a:solidFill>
                  </a:tcPr>
                </a:tc>
                <a:tc>
                  <a:txBody>
                    <a:bodyPr/>
                    <a:lstStyle/>
                    <a:p>
                      <a:pPr marL="0" indent="0" algn="ctr">
                        <a:lnSpc>
                          <a:spcPct val="100000"/>
                        </a:lnSpc>
                        <a:defRPr/>
                      </a:pPr>
                      <a:r>
                        <a:rPr lang="en-US" sz="1600" b="1" i="0" u="none" strike="noStrike" dirty="0" err="1">
                          <a:solidFill>
                            <a:schemeClr val="bg1"/>
                          </a:solidFill>
                          <a:latin typeface="Noto Sans SC"/>
                          <a:ea typeface="Noto Sans SC"/>
                          <a:cs typeface="Noto Sans SC"/>
                          <a:sym typeface="Noto Sans SC"/>
                        </a:rPr>
                        <a:t>通用AI对话</a:t>
                      </a:r>
                      <a:endParaRPr lang="en-US" sz="1600" b="1" i="0" u="none" strike="noStrike" dirty="0">
                        <a:solidFill>
                          <a:schemeClr val="bg1"/>
                        </a:solidFill>
                        <a:latin typeface="Noto Sans SC"/>
                        <a:ea typeface="Noto Sans SC"/>
                        <a:cs typeface="Noto Sans SC"/>
                        <a:sym typeface="Noto Sans SC"/>
                      </a:endParaRPr>
                    </a:p>
                    <a:p>
                      <a:pPr marL="0" indent="0" algn="ctr">
                        <a:lnSpc>
                          <a:spcPct val="100000"/>
                        </a:lnSpc>
                        <a:defRPr/>
                      </a:pPr>
                      <a:r>
                        <a:rPr lang="zh-CN" altLang="en-US" sz="1100" b="1" i="0" u="none" strike="noStrike" dirty="0">
                          <a:solidFill>
                            <a:schemeClr val="bg1"/>
                          </a:solidFill>
                          <a:latin typeface="Noto Sans SC"/>
                          <a:ea typeface="Noto Sans SC"/>
                          <a:sym typeface="Noto Sans SC"/>
                        </a:rPr>
                        <a:t>（豆包、</a:t>
                      </a:r>
                      <a:r>
                        <a:rPr lang="en-US" altLang="zh-CN" sz="1100" b="1" i="0" u="none" strike="noStrike" dirty="0" err="1">
                          <a:solidFill>
                            <a:schemeClr val="bg1"/>
                          </a:solidFill>
                          <a:latin typeface="Noto Sans SC"/>
                          <a:ea typeface="Noto Sans SC"/>
                          <a:sym typeface="Noto Sans SC"/>
                        </a:rPr>
                        <a:t>deepseek</a:t>
                      </a:r>
                      <a:r>
                        <a:rPr lang="zh-CN" altLang="en-US" sz="1100" b="1" i="0" u="none" strike="noStrike" dirty="0">
                          <a:solidFill>
                            <a:schemeClr val="bg1"/>
                          </a:solidFill>
                          <a:latin typeface="Noto Sans SC"/>
                          <a:ea typeface="Noto Sans SC"/>
                          <a:sym typeface="Noto Sans SC"/>
                        </a:rPr>
                        <a:t>等）</a:t>
                      </a:r>
                      <a:endParaRPr lang="en-US" sz="1100" dirty="0">
                        <a:solidFill>
                          <a:schemeClr val="bg1"/>
                        </a:solidFill>
                      </a:endParaRPr>
                    </a:p>
                  </a:txBody>
                  <a:tcPr marL="101600" marR="101600" marT="101600" marB="101600" anchor="ctr">
                    <a:lnL>
                      <a:noFill/>
                    </a:lnL>
                    <a:lnR>
                      <a:noFill/>
                    </a:lnR>
                    <a:lnT>
                      <a:noFill/>
                    </a:lnT>
                    <a:lnB>
                      <a:noFill/>
                    </a:lnB>
                    <a:solidFill>
                      <a:schemeClr val="accent2">
                        <a:lumMod val="60000"/>
                        <a:lumOff val="40000"/>
                      </a:schemeClr>
                    </a:solidFill>
                  </a:tcPr>
                </a:tc>
                <a:tc>
                  <a:txBody>
                    <a:bodyPr/>
                    <a:lstStyle/>
                    <a:p>
                      <a:pPr marL="0" indent="0" algn="ctr">
                        <a:lnSpc>
                          <a:spcPct val="100000"/>
                        </a:lnSpc>
                        <a:defRPr/>
                      </a:pPr>
                      <a:r>
                        <a:rPr lang="en-US" sz="1800" b="1" i="0" u="none" strike="noStrike" dirty="0" err="1">
                          <a:solidFill>
                            <a:schemeClr val="bg1"/>
                          </a:solidFill>
                          <a:latin typeface="Noto Sans SC"/>
                          <a:ea typeface="Noto Sans SC"/>
                          <a:cs typeface="Noto Sans SC"/>
                          <a:sym typeface="Noto Sans SC"/>
                        </a:rPr>
                        <a:t>云端审查SaaS</a:t>
                      </a:r>
                      <a:endParaRPr lang="en-US" sz="1800" dirty="0">
                        <a:solidFill>
                          <a:schemeClr val="bg1"/>
                        </a:solidFill>
                      </a:endParaRPr>
                    </a:p>
                  </a:txBody>
                  <a:tcPr marL="101600" marR="101600" marT="101600" marB="101600" anchor="ctr">
                    <a:lnL>
                      <a:noFill/>
                    </a:lnL>
                    <a:lnR>
                      <a:noFill/>
                    </a:lnR>
                    <a:lnT>
                      <a:noFill/>
                    </a:lnT>
                    <a:lnB>
                      <a:noFill/>
                    </a:lnB>
                    <a:solidFill>
                      <a:schemeClr val="accent2">
                        <a:lumMod val="60000"/>
                        <a:lumOff val="40000"/>
                      </a:schemeClr>
                    </a:solidFill>
                  </a:tcPr>
                </a:tc>
                <a:tc>
                  <a:txBody>
                    <a:bodyPr/>
                    <a:lstStyle/>
                    <a:p>
                      <a:pPr marL="0" indent="0" algn="ctr">
                        <a:lnSpc>
                          <a:spcPct val="100000"/>
                        </a:lnSpc>
                        <a:defRPr/>
                      </a:pPr>
                      <a:r>
                        <a:rPr lang="en-US" sz="2000" b="1" i="0" u="none" strike="noStrike" dirty="0">
                          <a:solidFill>
                            <a:schemeClr val="bg1"/>
                          </a:solidFill>
                          <a:latin typeface="Noto Sans SC"/>
                          <a:ea typeface="Noto Sans SC"/>
                          <a:cs typeface="Noto Sans SC"/>
                          <a:sym typeface="Noto Sans SC"/>
                        </a:rPr>
                        <a:t>法元 · Faron</a:t>
                      </a:r>
                      <a:endParaRPr lang="en-US" sz="2000" dirty="0">
                        <a:solidFill>
                          <a:schemeClr val="bg1"/>
                        </a:solidFill>
                      </a:endParaRPr>
                    </a:p>
                  </a:txBody>
                  <a:tcPr marL="101600" marR="101600" marT="101600" marB="101600" anchor="ctr">
                    <a:lnL>
                      <a:noFill/>
                    </a:lnL>
                    <a:lnR>
                      <a:noFill/>
                    </a:lnR>
                    <a:lnT>
                      <a:noFill/>
                    </a:lnT>
                    <a:lnB>
                      <a:noFill/>
                    </a:lnB>
                    <a:solidFill>
                      <a:srgbClr val="C00000"/>
                    </a:solidFill>
                  </a:tcPr>
                </a:tc>
                <a:extLst>
                  <a:ext uri="{0D108BD9-81ED-4DB2-BD59-A6C34878D82A}">
                    <a16:rowId xmlns:a16="http://schemas.microsoft.com/office/drawing/2014/main" val="10000"/>
                  </a:ext>
                </a:extLst>
              </a:tr>
              <a:tr h="759478">
                <a:tc>
                  <a:txBody>
                    <a:bodyPr/>
                    <a:lstStyle/>
                    <a:p>
                      <a:pPr marL="0" indent="0" algn="ctr">
                        <a:lnSpc>
                          <a:spcPct val="100000"/>
                        </a:lnSpc>
                        <a:defRPr/>
                      </a:pPr>
                      <a:r>
                        <a:rPr lang="en-US" sz="1600" b="1" i="0" u="none" strike="noStrike" dirty="0">
                          <a:solidFill>
                            <a:schemeClr val="tx1"/>
                          </a:solidFill>
                          <a:latin typeface="Noto Sans SC"/>
                          <a:ea typeface="Noto Sans SC"/>
                          <a:cs typeface="Noto Sans SC"/>
                          <a:sym typeface="Noto Sans SC"/>
                        </a:rPr>
                        <a:t>法条引用</a:t>
                      </a:r>
                      <a:endParaRPr lang="en-US" sz="1600" dirty="0">
                        <a:solidFill>
                          <a:schemeClr val="tx1"/>
                        </a:solidFill>
                      </a:endParaRPr>
                    </a:p>
                  </a:txBody>
                  <a:tcPr marL="101600" marR="101600" marT="101600" marB="101600" anchor="ctr">
                    <a:lnL>
                      <a:noFill/>
                    </a:lnL>
                    <a:lnR>
                      <a:noFill/>
                    </a:lnR>
                    <a:lnT>
                      <a:noFill/>
                    </a:lnT>
                    <a:lnB>
                      <a:noFill/>
                    </a:lnB>
                    <a:solidFill>
                      <a:schemeClr val="accent2">
                        <a:lumMod val="20000"/>
                        <a:lumOff val="80000"/>
                        <a:alpha val="30000"/>
                      </a:schemeClr>
                    </a:solidFill>
                  </a:tcPr>
                </a:tc>
                <a:tc>
                  <a:txBody>
                    <a:bodyPr/>
                    <a:lstStyle/>
                    <a:p>
                      <a:pPr marL="0" indent="0" algn="ctr">
                        <a:lnSpc>
                          <a:spcPct val="100000"/>
                        </a:lnSpc>
                        <a:defRPr/>
                      </a:pPr>
                      <a:r>
                        <a:rPr lang="en-US" sz="1500" b="0" i="0" u="none" strike="noStrike" dirty="0">
                          <a:solidFill>
                            <a:schemeClr val="tx1"/>
                          </a:solidFill>
                          <a:latin typeface="Noto Sans SC"/>
                          <a:ea typeface="Noto Sans SC"/>
                          <a:cs typeface="Noto Sans SC"/>
                          <a:sym typeface="Noto Sans SC"/>
                        </a:rPr>
                        <a:t>无/</a:t>
                      </a:r>
                      <a:r>
                        <a:rPr lang="en-US" sz="1500" b="0" i="0" u="none" strike="noStrike" dirty="0" err="1">
                          <a:solidFill>
                            <a:schemeClr val="tx1"/>
                          </a:solidFill>
                          <a:latin typeface="Noto Sans SC"/>
                          <a:ea typeface="Noto Sans SC"/>
                          <a:cs typeface="Noto Sans SC"/>
                          <a:sym typeface="Noto Sans SC"/>
                        </a:rPr>
                        <a:t>不可控</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部分内置</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1" i="0" u="none" strike="noStrike" dirty="0">
                          <a:solidFill>
                            <a:srgbClr val="C00000"/>
                          </a:solidFill>
                          <a:latin typeface="Noto Sans SC"/>
                          <a:ea typeface="Noto Sans SC"/>
                          <a:cs typeface="Noto Sans SC"/>
                          <a:sym typeface="Noto Sans SC"/>
                        </a:rPr>
                        <a:t>15万条真实法条</a:t>
                      </a:r>
                      <a:br>
                        <a:rPr lang="en-US" sz="1500" b="1" i="0" u="none" strike="noStrike" dirty="0">
                          <a:solidFill>
                            <a:srgbClr val="C00000"/>
                          </a:solidFill>
                          <a:latin typeface="Noto Sans SC"/>
                          <a:ea typeface="Noto Sans SC"/>
                          <a:cs typeface="Noto Sans SC"/>
                          <a:sym typeface="Noto Sans SC"/>
                        </a:rPr>
                      </a:br>
                      <a:r>
                        <a:rPr lang="en-US" sz="1500" b="1" i="0" u="none" strike="noStrike" dirty="0" err="1">
                          <a:solidFill>
                            <a:srgbClr val="C00000"/>
                          </a:solidFill>
                          <a:latin typeface="Noto Sans SC"/>
                          <a:ea typeface="Noto Sans SC"/>
                          <a:cs typeface="Noto Sans SC"/>
                          <a:sym typeface="Noto Sans SC"/>
                        </a:rPr>
                        <a:t>可反查+溯源</a:t>
                      </a:r>
                      <a:endParaRPr lang="en-US" sz="1500" dirty="0">
                        <a:solidFill>
                          <a:srgbClr val="C00000"/>
                        </a:solidFill>
                      </a:endParaRPr>
                    </a:p>
                  </a:txBody>
                  <a:tcPr marL="101600" marR="101600" marT="101600" marB="101600" anchor="ctr">
                    <a:lnL>
                      <a:noFill/>
                    </a:lnL>
                    <a:lnR>
                      <a:noFill/>
                    </a:lnR>
                    <a:lnT>
                      <a:noFill/>
                    </a:lnT>
                    <a:lnB>
                      <a:noFill/>
                    </a:lnB>
                    <a:solidFill>
                      <a:srgbClr val="C00000">
                        <a:alpha val="6000"/>
                      </a:srgbClr>
                    </a:solidFill>
                  </a:tcPr>
                </a:tc>
                <a:extLst>
                  <a:ext uri="{0D108BD9-81ED-4DB2-BD59-A6C34878D82A}">
                    <a16:rowId xmlns:a16="http://schemas.microsoft.com/office/drawing/2014/main" val="10001"/>
                  </a:ext>
                </a:extLst>
              </a:tr>
              <a:tr h="759478">
                <a:tc>
                  <a:txBody>
                    <a:bodyPr/>
                    <a:lstStyle/>
                    <a:p>
                      <a:pPr marL="0" indent="0" algn="ctr">
                        <a:lnSpc>
                          <a:spcPct val="100000"/>
                        </a:lnSpc>
                        <a:defRPr/>
                      </a:pPr>
                      <a:r>
                        <a:rPr lang="en-US" sz="1600" b="1" i="0" u="none" strike="noStrike" dirty="0" err="1">
                          <a:solidFill>
                            <a:schemeClr val="tx1"/>
                          </a:solidFill>
                          <a:latin typeface="Noto Sans SC"/>
                          <a:ea typeface="Noto Sans SC"/>
                          <a:cs typeface="Noto Sans SC"/>
                          <a:sym typeface="Noto Sans SC"/>
                        </a:rPr>
                        <a:t>数据隐私</a:t>
                      </a:r>
                      <a:endParaRPr lang="en-US" sz="1600" dirty="0">
                        <a:solidFill>
                          <a:schemeClr val="tx1"/>
                        </a:solidFill>
                      </a:endParaRPr>
                    </a:p>
                  </a:txBody>
                  <a:tcPr marL="101600" marR="101600" marT="101600" marB="101600" anchor="ctr">
                    <a:lnL>
                      <a:noFill/>
                    </a:lnL>
                    <a:lnR>
                      <a:noFill/>
                    </a:lnR>
                    <a:lnT>
                      <a:noFill/>
                    </a:lnT>
                    <a:lnB>
                      <a:noFill/>
                    </a:lnB>
                    <a:solidFill>
                      <a:schemeClr val="accent2">
                        <a:lumMod val="20000"/>
                        <a:lumOff val="80000"/>
                        <a:alpha val="60000"/>
                      </a:schemeClr>
                    </a:solid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上传云端</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上传云端</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1" i="0" u="none" strike="noStrike" dirty="0" err="1">
                          <a:solidFill>
                            <a:srgbClr val="C00000"/>
                          </a:solidFill>
                          <a:latin typeface="Noto Sans SC"/>
                          <a:ea typeface="Noto Sans SC"/>
                          <a:cs typeface="Noto Sans SC"/>
                          <a:sym typeface="Noto Sans SC"/>
                        </a:rPr>
                        <a:t>本地单机运行</a:t>
                      </a:r>
                      <a:br>
                        <a:rPr lang="en-US" sz="1500" b="1" i="0" u="none" strike="noStrike" dirty="0">
                          <a:solidFill>
                            <a:srgbClr val="C00000"/>
                          </a:solidFill>
                          <a:latin typeface="Noto Sans SC"/>
                          <a:ea typeface="Noto Sans SC"/>
                          <a:cs typeface="Noto Sans SC"/>
                          <a:sym typeface="Noto Sans SC"/>
                        </a:rPr>
                      </a:br>
                      <a:r>
                        <a:rPr lang="en-US" sz="1500" b="1" i="0" u="none" strike="noStrike" dirty="0" err="1">
                          <a:solidFill>
                            <a:srgbClr val="C00000"/>
                          </a:solidFill>
                          <a:latin typeface="Noto Sans SC"/>
                          <a:ea typeface="Noto Sans SC"/>
                          <a:cs typeface="Noto Sans SC"/>
                          <a:sym typeface="Noto Sans SC"/>
                        </a:rPr>
                        <a:t>数据不出本机</a:t>
                      </a:r>
                      <a:endParaRPr lang="en-US" sz="1500" dirty="0">
                        <a:solidFill>
                          <a:srgbClr val="C00000"/>
                        </a:solidFill>
                      </a:endParaRPr>
                    </a:p>
                  </a:txBody>
                  <a:tcPr marL="101600" marR="101600" marT="101600" marB="101600" anchor="ctr">
                    <a:lnL>
                      <a:noFill/>
                    </a:lnL>
                    <a:lnR>
                      <a:noFill/>
                    </a:lnR>
                    <a:lnT>
                      <a:noFill/>
                    </a:lnT>
                    <a:lnB>
                      <a:noFill/>
                    </a:lnB>
                    <a:solidFill>
                      <a:srgbClr val="C00000">
                        <a:alpha val="14000"/>
                      </a:srgbClr>
                    </a:solidFill>
                  </a:tcPr>
                </a:tc>
                <a:extLst>
                  <a:ext uri="{0D108BD9-81ED-4DB2-BD59-A6C34878D82A}">
                    <a16:rowId xmlns:a16="http://schemas.microsoft.com/office/drawing/2014/main" val="10002"/>
                  </a:ext>
                </a:extLst>
              </a:tr>
              <a:tr h="759478">
                <a:tc>
                  <a:txBody>
                    <a:bodyPr/>
                    <a:lstStyle/>
                    <a:p>
                      <a:pPr marL="0" indent="0" algn="ctr">
                        <a:lnSpc>
                          <a:spcPct val="100000"/>
                        </a:lnSpc>
                        <a:defRPr/>
                      </a:pPr>
                      <a:r>
                        <a:rPr lang="en-US" sz="1600" b="1" i="0" u="none" strike="noStrike" dirty="0" err="1">
                          <a:solidFill>
                            <a:schemeClr val="tx1"/>
                          </a:solidFill>
                          <a:latin typeface="Noto Sans SC"/>
                          <a:ea typeface="Noto Sans SC"/>
                          <a:cs typeface="Noto Sans SC"/>
                          <a:sym typeface="Noto Sans SC"/>
                        </a:rPr>
                        <a:t>交付产物</a:t>
                      </a:r>
                      <a:endParaRPr lang="en-US" sz="1600" dirty="0">
                        <a:solidFill>
                          <a:schemeClr val="tx1"/>
                        </a:solidFill>
                      </a:endParaRPr>
                    </a:p>
                  </a:txBody>
                  <a:tcPr marL="101600" marR="101600" marT="101600" marB="101600" anchor="ctr">
                    <a:lnL>
                      <a:noFill/>
                    </a:lnL>
                    <a:lnR>
                      <a:noFill/>
                    </a:lnR>
                    <a:lnT>
                      <a:noFill/>
                    </a:lnT>
                    <a:lnB>
                      <a:noFill/>
                    </a:lnB>
                    <a:solidFill>
                      <a:schemeClr val="accent2">
                        <a:lumMod val="20000"/>
                        <a:lumOff val="80000"/>
                        <a:alpha val="30000"/>
                      </a:schemeClr>
                    </a:solid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纯文本回复</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在线报告</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1" i="0" u="none" strike="noStrike" dirty="0" err="1">
                          <a:solidFill>
                            <a:srgbClr val="C00000"/>
                          </a:solidFill>
                          <a:latin typeface="Noto Sans SC"/>
                          <a:ea typeface="Noto Sans SC"/>
                          <a:cs typeface="Noto Sans SC"/>
                          <a:sym typeface="Noto Sans SC"/>
                        </a:rPr>
                        <a:t>标准Word文档</a:t>
                      </a:r>
                      <a:br>
                        <a:rPr lang="en-US" sz="1500" b="1" i="0" u="none" strike="noStrike" dirty="0">
                          <a:solidFill>
                            <a:srgbClr val="C00000"/>
                          </a:solidFill>
                          <a:latin typeface="Noto Sans SC"/>
                          <a:ea typeface="Noto Sans SC"/>
                          <a:cs typeface="Noto Sans SC"/>
                          <a:sym typeface="Noto Sans SC"/>
                        </a:rPr>
                      </a:br>
                      <a:r>
                        <a:rPr lang="en-US" sz="1500" b="1" i="0" u="none" strike="noStrike" dirty="0" err="1">
                          <a:solidFill>
                            <a:srgbClr val="C00000"/>
                          </a:solidFill>
                          <a:latin typeface="Noto Sans SC"/>
                          <a:ea typeface="Noto Sans SC"/>
                          <a:cs typeface="Noto Sans SC"/>
                          <a:sym typeface="Noto Sans SC"/>
                        </a:rPr>
                        <a:t>可编辑</a:t>
                      </a:r>
                      <a:r>
                        <a:rPr lang="en-US" sz="1500" b="1" i="0" u="none" strike="noStrike" dirty="0">
                          <a:solidFill>
                            <a:srgbClr val="C00000"/>
                          </a:solidFill>
                          <a:latin typeface="Noto Sans SC"/>
                          <a:ea typeface="Noto Sans SC"/>
                          <a:cs typeface="Noto Sans SC"/>
                          <a:sym typeface="Noto Sans SC"/>
                        </a:rPr>
                        <a:t>/</a:t>
                      </a:r>
                      <a:r>
                        <a:rPr lang="en-US" sz="1500" b="1" i="0" u="none" strike="noStrike" dirty="0" err="1">
                          <a:solidFill>
                            <a:srgbClr val="C00000"/>
                          </a:solidFill>
                          <a:latin typeface="Noto Sans SC"/>
                          <a:ea typeface="Noto Sans SC"/>
                          <a:cs typeface="Noto Sans SC"/>
                          <a:sym typeface="Noto Sans SC"/>
                        </a:rPr>
                        <a:t>归档</a:t>
                      </a:r>
                      <a:endParaRPr lang="en-US" sz="1500" dirty="0">
                        <a:solidFill>
                          <a:srgbClr val="C00000"/>
                        </a:solidFill>
                      </a:endParaRPr>
                    </a:p>
                  </a:txBody>
                  <a:tcPr marL="101600" marR="101600" marT="101600" marB="101600" anchor="ctr">
                    <a:lnL>
                      <a:noFill/>
                    </a:lnL>
                    <a:lnR>
                      <a:noFill/>
                    </a:lnR>
                    <a:lnT>
                      <a:noFill/>
                    </a:lnT>
                    <a:lnB>
                      <a:noFill/>
                    </a:lnB>
                    <a:solidFill>
                      <a:srgbClr val="C00000">
                        <a:alpha val="6000"/>
                      </a:srgbClr>
                    </a:solidFill>
                  </a:tcPr>
                </a:tc>
                <a:extLst>
                  <a:ext uri="{0D108BD9-81ED-4DB2-BD59-A6C34878D82A}">
                    <a16:rowId xmlns:a16="http://schemas.microsoft.com/office/drawing/2014/main" val="10003"/>
                  </a:ext>
                </a:extLst>
              </a:tr>
              <a:tr h="835694">
                <a:tc>
                  <a:txBody>
                    <a:bodyPr/>
                    <a:lstStyle/>
                    <a:p>
                      <a:pPr marL="0" indent="0" algn="ctr">
                        <a:lnSpc>
                          <a:spcPct val="100000"/>
                        </a:lnSpc>
                        <a:defRPr/>
                      </a:pPr>
                      <a:r>
                        <a:rPr lang="en-US" sz="1600" b="1" i="0" u="none" strike="noStrike" dirty="0" err="1">
                          <a:solidFill>
                            <a:schemeClr val="tx1"/>
                          </a:solidFill>
                          <a:latin typeface="Noto Sans SC"/>
                          <a:ea typeface="Noto Sans SC"/>
                          <a:cs typeface="Noto Sans SC"/>
                          <a:sym typeface="Noto Sans SC"/>
                        </a:rPr>
                        <a:t>服务流程</a:t>
                      </a:r>
                      <a:endParaRPr lang="en-US" sz="1600" dirty="0">
                        <a:solidFill>
                          <a:schemeClr val="tx1"/>
                        </a:solidFill>
                      </a:endParaRPr>
                    </a:p>
                  </a:txBody>
                  <a:tcPr marL="101600" marR="101600" marT="101600" marB="101600" anchor="ctr">
                    <a:lnL>
                      <a:noFill/>
                    </a:lnL>
                    <a:lnR>
                      <a:noFill/>
                    </a:lnR>
                    <a:lnT>
                      <a:noFill/>
                    </a:lnT>
                    <a:lnB>
                      <a:noFill/>
                    </a:lnB>
                    <a:solidFill>
                      <a:schemeClr val="accent2">
                        <a:lumMod val="20000"/>
                        <a:lumOff val="80000"/>
                        <a:alpha val="60000"/>
                      </a:schemeClr>
                    </a:solidFill>
                  </a:tcPr>
                </a:tc>
                <a:tc>
                  <a:txBody>
                    <a:bodyPr/>
                    <a:lstStyle/>
                    <a:p>
                      <a:pPr marL="0" indent="0" algn="ctr">
                        <a:lnSpc>
                          <a:spcPct val="100000"/>
                        </a:lnSpc>
                        <a:defRPr/>
                      </a:pPr>
                      <a:r>
                        <a:rPr lang="en-US" sz="1500" b="0" i="0" u="none" strike="noStrike">
                          <a:solidFill>
                            <a:schemeClr val="tx1"/>
                          </a:solidFill>
                          <a:latin typeface="Noto Sans SC"/>
                          <a:ea typeface="Noto Sans SC"/>
                          <a:cs typeface="Noto Sans SC"/>
                          <a:sym typeface="Noto Sans SC"/>
                        </a:rPr>
                        <a:t>单轮问答</a:t>
                      </a:r>
                      <a:endParaRPr lang="en-US" sz="150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单一审查场景</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1" i="0" u="none" strike="noStrike" dirty="0" err="1">
                          <a:solidFill>
                            <a:srgbClr val="C00000"/>
                          </a:solidFill>
                          <a:latin typeface="Noto Sans SC"/>
                          <a:ea typeface="Noto Sans SC"/>
                          <a:cs typeface="Noto Sans SC"/>
                          <a:sym typeface="Noto Sans SC"/>
                        </a:rPr>
                        <a:t>全流程闭环</a:t>
                      </a:r>
                      <a:br>
                        <a:rPr lang="en-US" sz="1500" b="1" i="0" u="none" strike="noStrike" dirty="0">
                          <a:solidFill>
                            <a:srgbClr val="C00000"/>
                          </a:solidFill>
                          <a:latin typeface="Noto Sans SC"/>
                          <a:ea typeface="Noto Sans SC"/>
                          <a:cs typeface="Noto Sans SC"/>
                          <a:sym typeface="Noto Sans SC"/>
                        </a:rPr>
                      </a:br>
                      <a:r>
                        <a:rPr lang="en-US" sz="1500" b="1" i="0" u="none" strike="noStrike" dirty="0" err="1">
                          <a:solidFill>
                            <a:srgbClr val="C00000"/>
                          </a:solidFill>
                          <a:latin typeface="Noto Sans SC"/>
                          <a:ea typeface="Noto Sans SC"/>
                          <a:cs typeface="Noto Sans SC"/>
                          <a:sym typeface="Noto Sans SC"/>
                        </a:rPr>
                        <a:t>从委托到交付</a:t>
                      </a:r>
                      <a:endParaRPr lang="en-US" sz="1500" dirty="0">
                        <a:solidFill>
                          <a:srgbClr val="C00000"/>
                        </a:solidFill>
                      </a:endParaRPr>
                    </a:p>
                  </a:txBody>
                  <a:tcPr marL="101600" marR="101600" marT="101600" marB="101600" anchor="ctr">
                    <a:lnL>
                      <a:noFill/>
                    </a:lnL>
                    <a:lnR>
                      <a:noFill/>
                    </a:lnR>
                    <a:lnT>
                      <a:noFill/>
                    </a:lnT>
                    <a:lnB>
                      <a:noFill/>
                    </a:lnB>
                    <a:solidFill>
                      <a:srgbClr val="C00000">
                        <a:alpha val="14000"/>
                      </a:srgbClr>
                    </a:solidFill>
                  </a:tcPr>
                </a:tc>
                <a:extLst>
                  <a:ext uri="{0D108BD9-81ED-4DB2-BD59-A6C34878D82A}">
                    <a16:rowId xmlns:a16="http://schemas.microsoft.com/office/drawing/2014/main" val="10004"/>
                  </a:ext>
                </a:extLst>
              </a:tr>
              <a:tr h="1062574">
                <a:tc>
                  <a:txBody>
                    <a:bodyPr/>
                    <a:lstStyle/>
                    <a:p>
                      <a:pPr marL="0" indent="0" algn="ctr">
                        <a:lnSpc>
                          <a:spcPct val="100000"/>
                        </a:lnSpc>
                        <a:defRPr/>
                      </a:pPr>
                      <a:r>
                        <a:rPr lang="en-US" sz="1600" b="1" i="0" u="none" strike="noStrike" dirty="0" err="1">
                          <a:solidFill>
                            <a:schemeClr val="tx1"/>
                          </a:solidFill>
                          <a:latin typeface="Noto Sans SC"/>
                          <a:ea typeface="Noto Sans SC"/>
                          <a:cs typeface="Noto Sans SC"/>
                          <a:sym typeface="Noto Sans SC"/>
                        </a:rPr>
                        <a:t>离线可用性</a:t>
                      </a:r>
                      <a:endParaRPr lang="en-US" sz="1600" dirty="0">
                        <a:solidFill>
                          <a:schemeClr val="tx1"/>
                        </a:solidFill>
                      </a:endParaRPr>
                    </a:p>
                  </a:txBody>
                  <a:tcPr marL="101600" marR="101600" marT="101600" marB="101600" anchor="ctr">
                    <a:lnL>
                      <a:noFill/>
                    </a:lnL>
                    <a:lnR>
                      <a:noFill/>
                    </a:lnR>
                    <a:lnT>
                      <a:noFill/>
                    </a:lnT>
                    <a:lnB>
                      <a:noFill/>
                    </a:lnB>
                    <a:solidFill>
                      <a:schemeClr val="accent2">
                        <a:lumMod val="20000"/>
                        <a:lumOff val="80000"/>
                        <a:alpha val="30000"/>
                      </a:schemeClr>
                    </a:solidFill>
                  </a:tcPr>
                </a:tc>
                <a:tc>
                  <a:txBody>
                    <a:bodyPr/>
                    <a:lstStyle/>
                    <a:p>
                      <a:pPr marL="0" indent="0" algn="ctr">
                        <a:lnSpc>
                          <a:spcPct val="100000"/>
                        </a:lnSpc>
                        <a:defRPr/>
                      </a:pPr>
                      <a:r>
                        <a:rPr lang="en-US" sz="1500" b="0" i="0" u="none" strike="noStrike">
                          <a:solidFill>
                            <a:schemeClr val="tx1"/>
                          </a:solidFill>
                          <a:latin typeface="Noto Sans SC"/>
                          <a:ea typeface="Noto Sans SC"/>
                          <a:cs typeface="Noto Sans SC"/>
                          <a:sym typeface="Noto Sans SC"/>
                        </a:rPr>
                        <a:t>需联网</a:t>
                      </a:r>
                      <a:endParaRPr lang="en-US" sz="150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0" i="0" u="none" strike="noStrike" dirty="0" err="1">
                          <a:solidFill>
                            <a:schemeClr val="tx1"/>
                          </a:solidFill>
                          <a:latin typeface="Noto Sans SC"/>
                          <a:ea typeface="Noto Sans SC"/>
                          <a:cs typeface="Noto Sans SC"/>
                          <a:sym typeface="Noto Sans SC"/>
                        </a:rPr>
                        <a:t>需联网</a:t>
                      </a:r>
                      <a:endParaRPr lang="en-US" sz="1500" dirty="0">
                        <a:solidFill>
                          <a:schemeClr val="tx1"/>
                        </a:solidFill>
                      </a:endParaRPr>
                    </a:p>
                  </a:txBody>
                  <a:tcPr marL="101600" marR="101600" marT="101600" marB="101600" anchor="ctr">
                    <a:lnL>
                      <a:noFill/>
                    </a:lnL>
                    <a:lnR>
                      <a:noFill/>
                    </a:lnR>
                    <a:lnT>
                      <a:noFill/>
                    </a:lnT>
                    <a:lnB>
                      <a:noFill/>
                    </a:lnB>
                    <a:noFill/>
                  </a:tcPr>
                </a:tc>
                <a:tc>
                  <a:txBody>
                    <a:bodyPr/>
                    <a:lstStyle/>
                    <a:p>
                      <a:pPr marL="0" indent="0" algn="ctr">
                        <a:lnSpc>
                          <a:spcPct val="100000"/>
                        </a:lnSpc>
                        <a:defRPr/>
                      </a:pPr>
                      <a:r>
                        <a:rPr lang="en-US" sz="1500" b="1" i="0" u="none" strike="noStrike" dirty="0">
                          <a:solidFill>
                            <a:srgbClr val="C00000"/>
                          </a:solidFill>
                          <a:latin typeface="Noto Sans SC"/>
                          <a:ea typeface="Noto Sans SC"/>
                          <a:cs typeface="Noto Sans SC"/>
                          <a:sym typeface="Noto Sans SC"/>
                        </a:rPr>
                        <a:t>断网可用</a:t>
                      </a:r>
                      <a:br>
                        <a:rPr lang="en-US" sz="1500" b="1" i="0" u="none" strike="noStrike" dirty="0">
                          <a:solidFill>
                            <a:srgbClr val="C00000"/>
                          </a:solidFill>
                          <a:latin typeface="Noto Sans SC"/>
                          <a:ea typeface="Noto Sans SC"/>
                          <a:cs typeface="Noto Sans SC"/>
                          <a:sym typeface="Noto Sans SC"/>
                        </a:rPr>
                      </a:br>
                      <a:r>
                        <a:rPr lang="zh-CN" altLang="en-US" sz="1500" b="1" i="0" u="none" strike="noStrike" dirty="0">
                          <a:solidFill>
                            <a:srgbClr val="C00000"/>
                          </a:solidFill>
                          <a:latin typeface="Noto Sans SC"/>
                          <a:ea typeface="Noto Sans SC"/>
                          <a:cs typeface="Noto Sans SC"/>
                          <a:sym typeface="Noto Sans SC"/>
                        </a:rPr>
                        <a:t>基础法库检索等</a:t>
                      </a:r>
                      <a:r>
                        <a:rPr lang="en-US" sz="1500" b="1" i="0" u="none" strike="noStrike" dirty="0" err="1">
                          <a:solidFill>
                            <a:srgbClr val="C00000"/>
                          </a:solidFill>
                          <a:latin typeface="Noto Sans SC"/>
                          <a:ea typeface="Noto Sans SC"/>
                          <a:cs typeface="Noto Sans SC"/>
                          <a:sym typeface="Noto Sans SC"/>
                        </a:rPr>
                        <a:t>功能</a:t>
                      </a:r>
                      <a:endParaRPr lang="en-US" sz="1500" b="1" i="0" u="none" strike="noStrike" dirty="0">
                        <a:solidFill>
                          <a:srgbClr val="C00000"/>
                        </a:solidFill>
                        <a:latin typeface="Noto Sans SC"/>
                        <a:ea typeface="Noto Sans SC"/>
                        <a:cs typeface="Noto Sans SC"/>
                        <a:sym typeface="Noto Sans SC"/>
                      </a:endParaRPr>
                    </a:p>
                    <a:p>
                      <a:pPr marL="0" indent="0" algn="ctr">
                        <a:lnSpc>
                          <a:spcPct val="100000"/>
                        </a:lnSpc>
                        <a:defRPr/>
                      </a:pPr>
                      <a:r>
                        <a:rPr lang="en-US" sz="1500" b="1" i="0" u="none" strike="noStrike" dirty="0" err="1">
                          <a:solidFill>
                            <a:srgbClr val="C00000"/>
                          </a:solidFill>
                          <a:latin typeface="Noto Sans SC"/>
                          <a:ea typeface="Noto Sans SC"/>
                          <a:cs typeface="Noto Sans SC"/>
                          <a:sym typeface="Noto Sans SC"/>
                        </a:rPr>
                        <a:t>离线运行</a:t>
                      </a:r>
                      <a:endParaRPr lang="en-US" sz="1500" dirty="0">
                        <a:solidFill>
                          <a:srgbClr val="C00000"/>
                        </a:solidFill>
                      </a:endParaRPr>
                    </a:p>
                  </a:txBody>
                  <a:tcPr marL="101600" marR="101600" marT="101600" marB="101600" anchor="ctr">
                    <a:lnL>
                      <a:noFill/>
                    </a:lnL>
                    <a:lnR>
                      <a:noFill/>
                    </a:lnR>
                    <a:lnT>
                      <a:noFill/>
                    </a:lnT>
                    <a:lnB>
                      <a:noFill/>
                    </a:lnB>
                    <a:solidFill>
                      <a:srgbClr val="C00000">
                        <a:alpha val="6000"/>
                      </a:srgbClr>
                    </a:solidFill>
                  </a:tcPr>
                </a:tc>
                <a:extLst>
                  <a:ext uri="{0D108BD9-81ED-4DB2-BD59-A6C34878D82A}">
                    <a16:rowId xmlns:a16="http://schemas.microsoft.com/office/drawing/2014/main" val="10005"/>
                  </a:ext>
                </a:extLst>
              </a:tr>
            </a:tbl>
          </a:graphicData>
        </a:graphic>
      </p:graphicFrame>
      <p:sp>
        <p:nvSpPr>
          <p:cNvPr id="18" name="文本框 17">
            <a:extLst>
              <a:ext uri="{FF2B5EF4-FFF2-40B4-BE49-F238E27FC236}">
                <a16:creationId xmlns:a16="http://schemas.microsoft.com/office/drawing/2014/main" id="{D8C12793-D24B-34B6-07F0-12621EB43044}"/>
              </a:ext>
            </a:extLst>
          </p:cNvPr>
          <p:cNvSpPr txBox="1"/>
          <p:nvPr/>
        </p:nvSpPr>
        <p:spPr>
          <a:xfrm>
            <a:off x="8851833" y="2882583"/>
            <a:ext cx="2822673" cy="2246449"/>
          </a:xfrm>
          <a:prstGeom prst="rect">
            <a:avLst/>
          </a:prstGeom>
          <a:noFill/>
        </p:spPr>
        <p:txBody>
          <a:bodyPr wrap="square">
            <a:spAutoFit/>
          </a:bodyPr>
          <a:lstStyle/>
          <a:p>
            <a:pPr marL="0" indent="0" algn="l">
              <a:lnSpc>
                <a:spcPct val="116666"/>
              </a:lnSpc>
              <a:defRPr/>
            </a:pPr>
            <a:r>
              <a:rPr lang="en-US" altLang="zh-CN" sz="1700" b="1" i="0" u="none" strike="noStrike" dirty="0">
                <a:solidFill>
                  <a:schemeClr val="bg1"/>
                </a:solidFill>
                <a:latin typeface="Noto Sans SC"/>
                <a:ea typeface="Noto Sans SC"/>
                <a:cs typeface="Noto Sans SC"/>
                <a:sym typeface="Noto Sans SC"/>
              </a:rPr>
              <a:t>“别家让模型自己说‘</a:t>
            </a:r>
            <a:r>
              <a:rPr lang="en-US" altLang="zh-CN" sz="1700" b="1" i="0" u="none" strike="noStrike" dirty="0" err="1">
                <a:solidFill>
                  <a:schemeClr val="bg1"/>
                </a:solidFill>
                <a:latin typeface="Noto Sans SC"/>
                <a:ea typeface="Noto Sans SC"/>
                <a:cs typeface="Noto Sans SC"/>
                <a:sym typeface="Noto Sans SC"/>
              </a:rPr>
              <a:t>我查过了</a:t>
            </a:r>
            <a:r>
              <a:rPr lang="en-US" altLang="zh-CN" sz="1700" b="1" i="0" u="none" strike="noStrike" dirty="0">
                <a:solidFill>
                  <a:schemeClr val="bg1"/>
                </a:solidFill>
                <a:latin typeface="Noto Sans SC"/>
                <a:ea typeface="Noto Sans SC"/>
                <a:cs typeface="Noto Sans SC"/>
                <a:sym typeface="Noto Sans SC"/>
              </a:rPr>
              <a:t>’，</a:t>
            </a:r>
            <a:r>
              <a:rPr lang="en-US" altLang="zh-CN" sz="1700" b="1" i="0" u="none" strike="noStrike" dirty="0" err="1">
                <a:solidFill>
                  <a:schemeClr val="bg1"/>
                </a:solidFill>
                <a:latin typeface="Noto Sans SC"/>
                <a:ea typeface="Noto Sans SC"/>
                <a:cs typeface="Noto Sans SC"/>
                <a:sym typeface="Noto Sans SC"/>
              </a:rPr>
              <a:t>我们让代码把每条引用和真实法条逐条对账</a:t>
            </a:r>
            <a:r>
              <a:rPr lang="en-US" altLang="zh-CN" sz="1700" b="1" dirty="0" err="1">
                <a:solidFill>
                  <a:schemeClr val="bg1"/>
                </a:solidFill>
                <a:latin typeface="Noto Sans SC"/>
                <a:ea typeface="Noto Sans SC"/>
                <a:cs typeface="Noto Sans SC"/>
                <a:sym typeface="Noto Sans SC"/>
              </a:rPr>
              <a:t>,</a:t>
            </a:r>
            <a:r>
              <a:rPr lang="en-US" altLang="zh-CN" sz="1700" b="1" i="0" u="none" strike="noStrike" dirty="0" err="1">
                <a:solidFill>
                  <a:schemeClr val="bg1"/>
                </a:solidFill>
                <a:latin typeface="Noto Sans SC"/>
                <a:ea typeface="Noto Sans SC"/>
                <a:cs typeface="Noto Sans SC"/>
                <a:sym typeface="Noto Sans SC"/>
              </a:rPr>
              <a:t>对不上的自动点名</a:t>
            </a:r>
            <a:r>
              <a:rPr lang="en-US" altLang="zh-CN" sz="1700" b="1" i="0" u="none" strike="noStrike" dirty="0">
                <a:solidFill>
                  <a:schemeClr val="bg1"/>
                </a:solidFill>
                <a:latin typeface="Noto Sans SC"/>
                <a:ea typeface="Noto Sans SC"/>
                <a:cs typeface="Noto Sans SC"/>
                <a:sym typeface="Noto Sans SC"/>
              </a:rPr>
              <a:t>。”</a:t>
            </a:r>
            <a:endParaRPr lang="en-US" altLang="zh-CN" sz="800" b="1" dirty="0">
              <a:solidFill>
                <a:schemeClr val="bg1"/>
              </a:solidFill>
              <a:latin typeface="Noto Sans SC"/>
              <a:ea typeface="Noto Sans SC"/>
              <a:cs typeface="Noto Sans SC"/>
              <a:sym typeface="Noto Sans SC"/>
            </a:endParaRPr>
          </a:p>
          <a:p>
            <a:pPr marL="0" indent="0" algn="l">
              <a:lnSpc>
                <a:spcPct val="116666"/>
              </a:lnSpc>
              <a:defRPr/>
            </a:pPr>
            <a:endParaRPr lang="en-US" altLang="zh-CN" sz="100" dirty="0">
              <a:solidFill>
                <a:schemeClr val="bg1"/>
              </a:solidFill>
            </a:endParaRPr>
          </a:p>
          <a:p>
            <a:pPr marL="0" indent="0" algn="l">
              <a:lnSpc>
                <a:spcPct val="125000"/>
              </a:lnSpc>
              <a:spcBef>
                <a:spcPts val="1000"/>
              </a:spcBef>
            </a:pPr>
            <a:r>
              <a:rPr lang="en-US" altLang="zh-CN" sz="1400" b="0" i="0" u="none" strike="noStrike" dirty="0" err="1">
                <a:solidFill>
                  <a:schemeClr val="bg1"/>
                </a:solidFill>
                <a:latin typeface="Noto Sans SC"/>
                <a:ea typeface="Noto Sans SC"/>
                <a:cs typeface="Noto Sans SC"/>
                <a:sym typeface="Noto Sans SC"/>
              </a:rPr>
              <a:t>这不仅是效率的提升，更是法律专业严谨性的回归，确保每一份交付成果真实可信、有据可查</a:t>
            </a:r>
            <a:r>
              <a:rPr lang="en-US" altLang="zh-CN" sz="1400" b="0" i="0" u="none" strike="noStrike" dirty="0">
                <a:solidFill>
                  <a:schemeClr val="bg1"/>
                </a:solidFill>
                <a:latin typeface="Noto Sans SC"/>
                <a:ea typeface="Noto Sans SC"/>
                <a:cs typeface="Noto Sans SC"/>
                <a:sym typeface="Noto Sans SC"/>
              </a:rPr>
              <a:t>。</a:t>
            </a:r>
          </a:p>
        </p:txBody>
      </p:sp>
    </p:spTree>
    <p:extLst>
      <p:ext uri="{BB962C8B-B14F-4D97-AF65-F5344CB8AC3E}">
        <p14:creationId xmlns:p14="http://schemas.microsoft.com/office/powerpoint/2010/main" val="162172779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0BF3-5319-F446-F31A-87B7C1BAB451}"/>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72BEF8E-AF19-7AE2-D231-84E263BFF078}"/>
              </a:ext>
            </a:extLst>
          </p:cNvPr>
          <p:cNvSpPr txBox="1"/>
          <p:nvPr/>
        </p:nvSpPr>
        <p:spPr>
          <a:xfrm>
            <a:off x="538088" y="1025764"/>
            <a:ext cx="5877924" cy="589970"/>
          </a:xfrm>
          <a:prstGeom prst="rect">
            <a:avLst/>
          </a:prstGeom>
          <a:noFill/>
        </p:spPr>
        <p:txBody>
          <a:bodyPr wrap="square" rtlCol="0">
            <a:spAutoFit/>
          </a:bodyPr>
          <a:lstStyle/>
          <a:p>
            <a:pPr>
              <a:lnSpc>
                <a:spcPct val="125000"/>
              </a:lnSpc>
              <a:defRPr/>
            </a:pPr>
            <a:r>
              <a:rPr lang="en-US" altLang="zh-CN" sz="2800" b="1" dirty="0" err="1">
                <a:latin typeface="Noto Sans SC"/>
                <a:ea typeface="Noto Sans SC"/>
                <a:cs typeface="Noto Sans SC"/>
                <a:sym typeface="Noto Sans SC"/>
              </a:rPr>
              <a:t>一款会交作业的数字员工</a:t>
            </a:r>
            <a:endParaRPr lang="en-US" altLang="zh-CN" sz="2800" dirty="0"/>
          </a:p>
        </p:txBody>
      </p:sp>
      <p:sp>
        <p:nvSpPr>
          <p:cNvPr id="7" name="矩形 6">
            <a:extLst>
              <a:ext uri="{FF2B5EF4-FFF2-40B4-BE49-F238E27FC236}">
                <a16:creationId xmlns:a16="http://schemas.microsoft.com/office/drawing/2014/main" id="{04460B21-7486-EFD1-E3A6-A0596B79313D}"/>
              </a:ext>
            </a:extLst>
          </p:cNvPr>
          <p:cNvSpPr/>
          <p:nvPr/>
        </p:nvSpPr>
        <p:spPr>
          <a:xfrm>
            <a:off x="615656" y="1714274"/>
            <a:ext cx="11045467" cy="2046497"/>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1A6896F-ED8B-A741-DB44-9EA7C94D4493}"/>
              </a:ext>
            </a:extLst>
          </p:cNvPr>
          <p:cNvSpPr/>
          <p:nvPr/>
        </p:nvSpPr>
        <p:spPr>
          <a:xfrm>
            <a:off x="787401" y="1653856"/>
            <a:ext cx="202660" cy="2046497"/>
          </a:xfrm>
          <a:prstGeom prst="rect">
            <a:avLst/>
          </a:prstGeom>
          <a:solidFill>
            <a:srgbClr val="B02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BA16A7EA-86F1-70B0-4D15-C4606715A947}"/>
              </a:ext>
            </a:extLst>
          </p:cNvPr>
          <p:cNvSpPr/>
          <p:nvPr/>
        </p:nvSpPr>
        <p:spPr>
          <a:xfrm>
            <a:off x="615656" y="2232455"/>
            <a:ext cx="11045467" cy="4289754"/>
          </a:xfrm>
          <a:prstGeom prst="rect">
            <a:avLst/>
          </a:prstGeom>
          <a:solidFill>
            <a:srgbClr val="FF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7237E4B0-2D2C-565C-2FBF-A7FD0A024654}"/>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3" name="平行四边形 22">
            <a:extLst>
              <a:ext uri="{FF2B5EF4-FFF2-40B4-BE49-F238E27FC236}">
                <a16:creationId xmlns:a16="http://schemas.microsoft.com/office/drawing/2014/main" id="{EED67CFB-D051-536C-4019-BF24F0F53609}"/>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a:extLst>
              <a:ext uri="{FF2B5EF4-FFF2-40B4-BE49-F238E27FC236}">
                <a16:creationId xmlns:a16="http://schemas.microsoft.com/office/drawing/2014/main" id="{15F7FE9D-04FC-FC9E-6C9C-6C7D02C42E14}"/>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E7867F2C-FE10-C247-2C4B-0D9BE3785439}"/>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29" name="图片 28">
            <a:extLst>
              <a:ext uri="{FF2B5EF4-FFF2-40B4-BE49-F238E27FC236}">
                <a16:creationId xmlns:a16="http://schemas.microsoft.com/office/drawing/2014/main" id="{E2DDB28E-78DC-721E-B9FC-C6CE4BB51606}"/>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4" name="文本框 3">
            <a:extLst>
              <a:ext uri="{FF2B5EF4-FFF2-40B4-BE49-F238E27FC236}">
                <a16:creationId xmlns:a16="http://schemas.microsoft.com/office/drawing/2014/main" id="{78440C26-A1E2-C923-623C-4711B58A122E}"/>
              </a:ext>
            </a:extLst>
          </p:cNvPr>
          <p:cNvSpPr txBox="1"/>
          <p:nvPr/>
        </p:nvSpPr>
        <p:spPr>
          <a:xfrm>
            <a:off x="10266205" y="1754431"/>
            <a:ext cx="1875762" cy="447815"/>
          </a:xfrm>
          <a:prstGeom prst="rect">
            <a:avLst/>
          </a:prstGeom>
          <a:noFill/>
        </p:spPr>
        <p:txBody>
          <a:bodyPr wrap="square" rtlCol="0">
            <a:spAutoFit/>
          </a:bodyPr>
          <a:lstStyle/>
          <a:p>
            <a:pPr>
              <a:lnSpc>
                <a:spcPct val="125000"/>
              </a:lnSpc>
              <a:defRPr/>
            </a:pPr>
            <a:r>
              <a:rPr lang="zh-CN" altLang="en-US" sz="2000" b="1" dirty="0">
                <a:latin typeface="Noto Sans SC"/>
                <a:ea typeface="Noto Sans SC"/>
                <a:cs typeface="Noto Sans SC"/>
                <a:sym typeface="Noto Sans SC"/>
              </a:rPr>
              <a:t>功能演示</a:t>
            </a:r>
            <a:endParaRPr lang="en-US" altLang="zh-CN" sz="2000" dirty="0"/>
          </a:p>
        </p:txBody>
      </p:sp>
      <p:pic>
        <p:nvPicPr>
          <p:cNvPr id="12" name="图片 11">
            <a:extLst>
              <a:ext uri="{FF2B5EF4-FFF2-40B4-BE49-F238E27FC236}">
                <a16:creationId xmlns:a16="http://schemas.microsoft.com/office/drawing/2014/main" id="{0E1AFC09-BF19-4D02-20C2-3B1FFB75B869}"/>
              </a:ext>
            </a:extLst>
          </p:cNvPr>
          <p:cNvPicPr>
            <a:picLocks noChangeAspect="1"/>
          </p:cNvPicPr>
          <p:nvPr/>
        </p:nvPicPr>
        <p:blipFill>
          <a:blip r:embed="rId3"/>
          <a:stretch>
            <a:fillRect/>
          </a:stretch>
        </p:blipFill>
        <p:spPr>
          <a:xfrm>
            <a:off x="601540" y="3491766"/>
            <a:ext cx="3794459" cy="2711134"/>
          </a:xfrm>
          <a:prstGeom prst="rect">
            <a:avLst/>
          </a:prstGeom>
        </p:spPr>
      </p:pic>
      <p:pic>
        <p:nvPicPr>
          <p:cNvPr id="6" name="图片 5">
            <a:extLst>
              <a:ext uri="{FF2B5EF4-FFF2-40B4-BE49-F238E27FC236}">
                <a16:creationId xmlns:a16="http://schemas.microsoft.com/office/drawing/2014/main" id="{718404F2-4A67-6B31-DDDB-810A099F90F7}"/>
              </a:ext>
            </a:extLst>
          </p:cNvPr>
          <p:cNvPicPr>
            <a:picLocks noChangeAspect="1"/>
          </p:cNvPicPr>
          <p:nvPr/>
        </p:nvPicPr>
        <p:blipFill>
          <a:blip r:embed="rId4"/>
          <a:stretch>
            <a:fillRect/>
          </a:stretch>
        </p:blipFill>
        <p:spPr>
          <a:xfrm>
            <a:off x="3766337" y="2116118"/>
            <a:ext cx="4184607" cy="2767165"/>
          </a:xfrm>
          <a:prstGeom prst="rect">
            <a:avLst/>
          </a:prstGeom>
        </p:spPr>
      </p:pic>
      <p:pic>
        <p:nvPicPr>
          <p:cNvPr id="15" name="图片 14">
            <a:extLst>
              <a:ext uri="{FF2B5EF4-FFF2-40B4-BE49-F238E27FC236}">
                <a16:creationId xmlns:a16="http://schemas.microsoft.com/office/drawing/2014/main" id="{B1797846-FC35-C3C5-33E8-1B5CD17EE845}"/>
              </a:ext>
            </a:extLst>
          </p:cNvPr>
          <p:cNvPicPr>
            <a:picLocks noChangeAspect="1"/>
          </p:cNvPicPr>
          <p:nvPr/>
        </p:nvPicPr>
        <p:blipFill>
          <a:blip r:embed="rId5"/>
          <a:stretch>
            <a:fillRect/>
          </a:stretch>
        </p:blipFill>
        <p:spPr>
          <a:xfrm>
            <a:off x="7362620" y="3237318"/>
            <a:ext cx="4382325" cy="3081804"/>
          </a:xfrm>
          <a:prstGeom prst="rect">
            <a:avLst/>
          </a:prstGeom>
        </p:spPr>
      </p:pic>
    </p:spTree>
    <p:extLst>
      <p:ext uri="{BB962C8B-B14F-4D97-AF65-F5344CB8AC3E}">
        <p14:creationId xmlns:p14="http://schemas.microsoft.com/office/powerpoint/2010/main" val="39653866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5D815BFF-D17C-434A-982C-4E3069BD2D6F}"/>
              </a:ext>
            </a:extLst>
          </p:cNvPr>
          <p:cNvSpPr/>
          <p:nvPr/>
        </p:nvSpPr>
        <p:spPr>
          <a:xfrm>
            <a:off x="-2524" y="-38518"/>
            <a:ext cx="12192000" cy="398186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B188C599-866C-D0D4-B433-EDED9F69F9FC}"/>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C1B9E4B8-6124-D121-1543-1A0BF30A8E3F}"/>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0C0AB901-23A0-E09C-5D92-91FB6B3AB3C3}"/>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89645B46-3D59-013A-A08D-D1A49B72F9B0}"/>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989B28CA-C409-1B98-623F-9B54C08189E6}"/>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6" name="AutoShape 4">
            <a:extLst>
              <a:ext uri="{FF2B5EF4-FFF2-40B4-BE49-F238E27FC236}">
                <a16:creationId xmlns:a16="http://schemas.microsoft.com/office/drawing/2014/main" id="{F64F368F-56C2-F021-6CA0-71CF4B9004F1}"/>
              </a:ext>
            </a:extLst>
          </p:cNvPr>
          <p:cNvSpPr/>
          <p:nvPr/>
        </p:nvSpPr>
        <p:spPr>
          <a:xfrm>
            <a:off x="762000" y="134616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0" name="AutoShape 6">
            <a:extLst>
              <a:ext uri="{FF2B5EF4-FFF2-40B4-BE49-F238E27FC236}">
                <a16:creationId xmlns:a16="http://schemas.microsoft.com/office/drawing/2014/main" id="{9631A24C-FDEC-B686-CAF8-10A004749309}"/>
              </a:ext>
            </a:extLst>
          </p:cNvPr>
          <p:cNvSpPr/>
          <p:nvPr/>
        </p:nvSpPr>
        <p:spPr>
          <a:xfrm>
            <a:off x="990600" y="144776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01 </a:t>
            </a:r>
            <a:r>
              <a:rPr lang="en-US" sz="2000" b="1" i="0" u="none" strike="noStrike" dirty="0" err="1">
                <a:solidFill>
                  <a:schemeClr val="bg1"/>
                </a:solidFill>
                <a:latin typeface="Noto Sans SC"/>
                <a:ea typeface="Noto Sans SC"/>
                <a:cs typeface="Noto Sans SC"/>
                <a:sym typeface="Noto Sans SC"/>
              </a:rPr>
              <a:t>首页概览</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全局掌控</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聚合今日待办、核心数据统计及最近文书动态，一键总览赛事法务全貌</a:t>
            </a:r>
            <a:r>
              <a:rPr lang="en-US" sz="1600" b="0" i="0" u="none" strike="noStrike" dirty="0">
                <a:solidFill>
                  <a:schemeClr val="bg1"/>
                </a:solidFill>
                <a:latin typeface="Noto Sans SC"/>
                <a:ea typeface="Noto Sans SC"/>
                <a:cs typeface="Noto Sans SC"/>
                <a:sym typeface="Noto Sans SC"/>
              </a:rPr>
              <a:t>。</a:t>
            </a:r>
          </a:p>
        </p:txBody>
      </p:sp>
      <p:sp>
        <p:nvSpPr>
          <p:cNvPr id="42" name="AutoShape 7">
            <a:extLst>
              <a:ext uri="{FF2B5EF4-FFF2-40B4-BE49-F238E27FC236}">
                <a16:creationId xmlns:a16="http://schemas.microsoft.com/office/drawing/2014/main" id="{D19BD824-CFE1-0E64-854A-67703D02C29B}"/>
              </a:ext>
            </a:extLst>
          </p:cNvPr>
          <p:cNvSpPr/>
          <p:nvPr/>
        </p:nvSpPr>
        <p:spPr>
          <a:xfrm>
            <a:off x="762000" y="264475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7" name="AutoShape 9">
            <a:extLst>
              <a:ext uri="{FF2B5EF4-FFF2-40B4-BE49-F238E27FC236}">
                <a16:creationId xmlns:a16="http://schemas.microsoft.com/office/drawing/2014/main" id="{4BBF21B2-41FF-E4AC-F9B2-C74B474CFF87}"/>
              </a:ext>
            </a:extLst>
          </p:cNvPr>
          <p:cNvSpPr/>
          <p:nvPr/>
        </p:nvSpPr>
        <p:spPr>
          <a:xfrm>
            <a:off x="990600" y="274635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02 </a:t>
            </a:r>
            <a:r>
              <a:rPr lang="en-US" sz="2000" b="1" i="0" u="none" strike="noStrike" dirty="0" err="1">
                <a:solidFill>
                  <a:schemeClr val="bg1"/>
                </a:solidFill>
                <a:latin typeface="Noto Sans SC"/>
                <a:ea typeface="Noto Sans SC"/>
                <a:cs typeface="Noto Sans SC"/>
                <a:sym typeface="Noto Sans SC"/>
              </a:rPr>
              <a:t>法规查询</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精准检索</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内置本地法库，支持关键词智能联想，快速定位赛事相关条款与判例</a:t>
            </a:r>
            <a:r>
              <a:rPr lang="en-US" sz="1600" b="0" i="0" u="none" strike="noStrike" dirty="0">
                <a:solidFill>
                  <a:schemeClr val="bg1"/>
                </a:solidFill>
                <a:latin typeface="Noto Sans SC"/>
                <a:ea typeface="Noto Sans SC"/>
                <a:cs typeface="Noto Sans SC"/>
                <a:sym typeface="Noto Sans SC"/>
              </a:rPr>
              <a:t>。</a:t>
            </a:r>
          </a:p>
        </p:txBody>
      </p:sp>
      <p:sp>
        <p:nvSpPr>
          <p:cNvPr id="49" name="AutoShape 10">
            <a:extLst>
              <a:ext uri="{FF2B5EF4-FFF2-40B4-BE49-F238E27FC236}">
                <a16:creationId xmlns:a16="http://schemas.microsoft.com/office/drawing/2014/main" id="{84459467-234F-AD1A-B03C-AE48FA15BE5B}"/>
              </a:ext>
            </a:extLst>
          </p:cNvPr>
          <p:cNvSpPr/>
          <p:nvPr/>
        </p:nvSpPr>
        <p:spPr>
          <a:xfrm>
            <a:off x="762000" y="4102068"/>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3" name="AutoShape 12">
            <a:extLst>
              <a:ext uri="{FF2B5EF4-FFF2-40B4-BE49-F238E27FC236}">
                <a16:creationId xmlns:a16="http://schemas.microsoft.com/office/drawing/2014/main" id="{19308A5F-A146-DFA4-F3F9-79FE623F7845}"/>
              </a:ext>
            </a:extLst>
          </p:cNvPr>
          <p:cNvSpPr/>
          <p:nvPr/>
        </p:nvSpPr>
        <p:spPr>
          <a:xfrm>
            <a:off x="990600" y="4203668"/>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03 </a:t>
            </a:r>
            <a:r>
              <a:rPr lang="en-US" sz="2000" b="1" i="0" u="none" strike="noStrike" dirty="0" err="1">
                <a:latin typeface="Noto Sans SC"/>
                <a:ea typeface="Noto Sans SC"/>
                <a:cs typeface="Noto Sans SC"/>
                <a:sym typeface="Noto Sans SC"/>
              </a:rPr>
              <a:t>智能模板</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高效起草</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预置标准化赛事文书模板，支持自定义字段，一键生成合规文件</a:t>
            </a:r>
            <a:r>
              <a:rPr lang="en-US" sz="1600" b="0" i="0" u="none" strike="noStrike" dirty="0">
                <a:latin typeface="Noto Sans SC"/>
                <a:ea typeface="Noto Sans SC"/>
                <a:cs typeface="Noto Sans SC"/>
                <a:sym typeface="Noto Sans SC"/>
              </a:rPr>
              <a:t>。</a:t>
            </a:r>
          </a:p>
        </p:txBody>
      </p:sp>
      <p:sp>
        <p:nvSpPr>
          <p:cNvPr id="55" name="AutoShape 13">
            <a:extLst>
              <a:ext uri="{FF2B5EF4-FFF2-40B4-BE49-F238E27FC236}">
                <a16:creationId xmlns:a16="http://schemas.microsoft.com/office/drawing/2014/main" id="{CA07DAE7-475F-8F6B-7629-9AF670ED880D}"/>
              </a:ext>
            </a:extLst>
          </p:cNvPr>
          <p:cNvSpPr/>
          <p:nvPr/>
        </p:nvSpPr>
        <p:spPr>
          <a:xfrm>
            <a:off x="762000" y="5365687"/>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9" name="AutoShape 15">
            <a:extLst>
              <a:ext uri="{FF2B5EF4-FFF2-40B4-BE49-F238E27FC236}">
                <a16:creationId xmlns:a16="http://schemas.microsoft.com/office/drawing/2014/main" id="{ABC002F5-FC7F-A772-55BD-D54464B1E4C0}"/>
              </a:ext>
            </a:extLst>
          </p:cNvPr>
          <p:cNvSpPr/>
          <p:nvPr/>
        </p:nvSpPr>
        <p:spPr>
          <a:xfrm>
            <a:off x="990600" y="5467287"/>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04 </a:t>
            </a:r>
            <a:r>
              <a:rPr lang="en-US" sz="2000" b="1" i="0" u="none" strike="noStrike" dirty="0" err="1">
                <a:latin typeface="Noto Sans SC"/>
                <a:ea typeface="Noto Sans SC"/>
                <a:cs typeface="Noto Sans SC"/>
                <a:sym typeface="Noto Sans SC"/>
              </a:rPr>
              <a:t>文书智能体「小元</a:t>
            </a:r>
            <a:r>
              <a:rPr lang="en-US" sz="2000" b="1" i="0" u="none" strike="noStrike" dirty="0">
                <a:latin typeface="Noto Sans SC"/>
                <a:ea typeface="Noto Sans SC"/>
                <a:cs typeface="Noto Sans SC"/>
                <a:sym typeface="Noto Sans SC"/>
              </a:rPr>
              <a:t>」</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核心任务引擎，基于大模型自动生成、审查与优化赛事法律文书</a:t>
            </a:r>
            <a:r>
              <a:rPr lang="en-US" sz="1600" b="0" i="0" u="none" strike="noStrike" dirty="0">
                <a:latin typeface="Noto Sans SC"/>
                <a:ea typeface="Noto Sans SC"/>
                <a:cs typeface="Noto Sans SC"/>
                <a:sym typeface="Noto Sans SC"/>
              </a:rPr>
              <a:t>。</a:t>
            </a:r>
          </a:p>
        </p:txBody>
      </p:sp>
      <p:pic>
        <p:nvPicPr>
          <p:cNvPr id="3" name="图片 2">
            <a:extLst>
              <a:ext uri="{FF2B5EF4-FFF2-40B4-BE49-F238E27FC236}">
                <a16:creationId xmlns:a16="http://schemas.microsoft.com/office/drawing/2014/main" id="{07DD405E-7183-457F-2539-4E6275D50F01}"/>
              </a:ext>
            </a:extLst>
          </p:cNvPr>
          <p:cNvPicPr>
            <a:picLocks noChangeAspect="1"/>
          </p:cNvPicPr>
          <p:nvPr/>
        </p:nvPicPr>
        <p:blipFill>
          <a:blip r:embed="rId3"/>
          <a:stretch>
            <a:fillRect/>
          </a:stretch>
        </p:blipFill>
        <p:spPr>
          <a:xfrm>
            <a:off x="6491909" y="1447769"/>
            <a:ext cx="5243605" cy="3435364"/>
          </a:xfrm>
          <a:prstGeom prst="rect">
            <a:avLst/>
          </a:prstGeom>
        </p:spPr>
      </p:pic>
    </p:spTree>
    <p:extLst>
      <p:ext uri="{BB962C8B-B14F-4D97-AF65-F5344CB8AC3E}">
        <p14:creationId xmlns:p14="http://schemas.microsoft.com/office/powerpoint/2010/main" val="147939590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F5826-1FD7-7A1B-1E8B-2E9524F8687E}"/>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BDA7CEDE-5876-C8AF-D40D-FD7B2263D989}"/>
              </a:ext>
            </a:extLst>
          </p:cNvPr>
          <p:cNvSpPr/>
          <p:nvPr/>
        </p:nvSpPr>
        <p:spPr>
          <a:xfrm>
            <a:off x="-2524" y="-38518"/>
            <a:ext cx="12192000" cy="398186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142519ED-7F7D-A9B4-35A2-8AAC8EBF144D}"/>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4FF6D963-ECB5-A3A6-15FD-BB9A7FEE90A3}"/>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58A9A644-F181-15F5-B020-CBDD54E71CDF}"/>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16E7532E-ACD8-6C56-E6D3-08440FC0E66F}"/>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420A39AC-41C2-01F5-69A2-9DB8648E5986}"/>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6" name="AutoShape 4">
            <a:extLst>
              <a:ext uri="{FF2B5EF4-FFF2-40B4-BE49-F238E27FC236}">
                <a16:creationId xmlns:a16="http://schemas.microsoft.com/office/drawing/2014/main" id="{622A6574-5C37-0723-1EF3-57C21701143E}"/>
              </a:ext>
            </a:extLst>
          </p:cNvPr>
          <p:cNvSpPr/>
          <p:nvPr/>
        </p:nvSpPr>
        <p:spPr>
          <a:xfrm>
            <a:off x="762000" y="134616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0" name="AutoShape 6">
            <a:extLst>
              <a:ext uri="{FF2B5EF4-FFF2-40B4-BE49-F238E27FC236}">
                <a16:creationId xmlns:a16="http://schemas.microsoft.com/office/drawing/2014/main" id="{0E8880FA-CB95-BCB5-F0EC-A177B9CC142D}"/>
              </a:ext>
            </a:extLst>
          </p:cNvPr>
          <p:cNvSpPr/>
          <p:nvPr/>
        </p:nvSpPr>
        <p:spPr>
          <a:xfrm>
            <a:off x="990600" y="144776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01 </a:t>
            </a:r>
            <a:r>
              <a:rPr lang="en-US" sz="2000" b="1" i="0" u="none" strike="noStrike" dirty="0" err="1">
                <a:solidFill>
                  <a:schemeClr val="bg1"/>
                </a:solidFill>
                <a:latin typeface="Noto Sans SC"/>
                <a:ea typeface="Noto Sans SC"/>
                <a:cs typeface="Noto Sans SC"/>
                <a:sym typeface="Noto Sans SC"/>
              </a:rPr>
              <a:t>首页概览</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全局掌控</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聚合今日待办、核心数据统计及最近文书动态，一键总览赛事法务全貌</a:t>
            </a:r>
            <a:r>
              <a:rPr lang="en-US" sz="1600" b="0" i="0" u="none" strike="noStrike" dirty="0">
                <a:solidFill>
                  <a:schemeClr val="bg1"/>
                </a:solidFill>
                <a:latin typeface="Noto Sans SC"/>
                <a:ea typeface="Noto Sans SC"/>
                <a:cs typeface="Noto Sans SC"/>
                <a:sym typeface="Noto Sans SC"/>
              </a:rPr>
              <a:t>。</a:t>
            </a:r>
          </a:p>
        </p:txBody>
      </p:sp>
      <p:sp>
        <p:nvSpPr>
          <p:cNvPr id="42" name="AutoShape 7">
            <a:extLst>
              <a:ext uri="{FF2B5EF4-FFF2-40B4-BE49-F238E27FC236}">
                <a16:creationId xmlns:a16="http://schemas.microsoft.com/office/drawing/2014/main" id="{3DFDEF2C-33E9-33D3-5E35-63B7DCE074CF}"/>
              </a:ext>
            </a:extLst>
          </p:cNvPr>
          <p:cNvSpPr/>
          <p:nvPr/>
        </p:nvSpPr>
        <p:spPr>
          <a:xfrm>
            <a:off x="762000" y="264475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7" name="AutoShape 9">
            <a:extLst>
              <a:ext uri="{FF2B5EF4-FFF2-40B4-BE49-F238E27FC236}">
                <a16:creationId xmlns:a16="http://schemas.microsoft.com/office/drawing/2014/main" id="{09CC9F13-A280-6175-C470-F67D19DC0F0B}"/>
              </a:ext>
            </a:extLst>
          </p:cNvPr>
          <p:cNvSpPr/>
          <p:nvPr/>
        </p:nvSpPr>
        <p:spPr>
          <a:xfrm>
            <a:off x="990600" y="274635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02 </a:t>
            </a:r>
            <a:r>
              <a:rPr lang="en-US" sz="2000" b="1" i="0" u="none" strike="noStrike" dirty="0" err="1">
                <a:solidFill>
                  <a:schemeClr val="bg1"/>
                </a:solidFill>
                <a:latin typeface="Noto Sans SC"/>
                <a:ea typeface="Noto Sans SC"/>
                <a:cs typeface="Noto Sans SC"/>
                <a:sym typeface="Noto Sans SC"/>
              </a:rPr>
              <a:t>法规查询</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精准检索</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内置本地法库，支持关键词智能联想，快速定位赛事相关条款与判例</a:t>
            </a:r>
            <a:r>
              <a:rPr lang="en-US" sz="1600" b="0" i="0" u="none" strike="noStrike" dirty="0">
                <a:solidFill>
                  <a:schemeClr val="bg1"/>
                </a:solidFill>
                <a:latin typeface="Noto Sans SC"/>
                <a:ea typeface="Noto Sans SC"/>
                <a:cs typeface="Noto Sans SC"/>
                <a:sym typeface="Noto Sans SC"/>
              </a:rPr>
              <a:t>。</a:t>
            </a:r>
          </a:p>
        </p:txBody>
      </p:sp>
      <p:sp>
        <p:nvSpPr>
          <p:cNvPr id="49" name="AutoShape 10">
            <a:extLst>
              <a:ext uri="{FF2B5EF4-FFF2-40B4-BE49-F238E27FC236}">
                <a16:creationId xmlns:a16="http://schemas.microsoft.com/office/drawing/2014/main" id="{7DC1CCA6-B359-AF65-78DA-52BE0662BDA0}"/>
              </a:ext>
            </a:extLst>
          </p:cNvPr>
          <p:cNvSpPr/>
          <p:nvPr/>
        </p:nvSpPr>
        <p:spPr>
          <a:xfrm>
            <a:off x="762000" y="4102068"/>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3" name="AutoShape 12">
            <a:extLst>
              <a:ext uri="{FF2B5EF4-FFF2-40B4-BE49-F238E27FC236}">
                <a16:creationId xmlns:a16="http://schemas.microsoft.com/office/drawing/2014/main" id="{3513406A-5E4C-9596-1E75-CBC43BC08B1C}"/>
              </a:ext>
            </a:extLst>
          </p:cNvPr>
          <p:cNvSpPr/>
          <p:nvPr/>
        </p:nvSpPr>
        <p:spPr>
          <a:xfrm>
            <a:off x="990600" y="4203668"/>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03 </a:t>
            </a:r>
            <a:r>
              <a:rPr lang="en-US" sz="2000" b="1" i="0" u="none" strike="noStrike" dirty="0" err="1">
                <a:latin typeface="Noto Sans SC"/>
                <a:ea typeface="Noto Sans SC"/>
                <a:cs typeface="Noto Sans SC"/>
                <a:sym typeface="Noto Sans SC"/>
              </a:rPr>
              <a:t>智能模板</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高效起草</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预置标准化赛事文书模板，支持自定义字段，一键生成合规文件</a:t>
            </a:r>
            <a:r>
              <a:rPr lang="en-US" sz="1600" b="0" i="0" u="none" strike="noStrike" dirty="0">
                <a:latin typeface="Noto Sans SC"/>
                <a:ea typeface="Noto Sans SC"/>
                <a:cs typeface="Noto Sans SC"/>
                <a:sym typeface="Noto Sans SC"/>
              </a:rPr>
              <a:t>。</a:t>
            </a:r>
          </a:p>
        </p:txBody>
      </p:sp>
      <p:sp>
        <p:nvSpPr>
          <p:cNvPr id="55" name="AutoShape 13">
            <a:extLst>
              <a:ext uri="{FF2B5EF4-FFF2-40B4-BE49-F238E27FC236}">
                <a16:creationId xmlns:a16="http://schemas.microsoft.com/office/drawing/2014/main" id="{BB38DD8E-AF4E-5121-F435-7A4FED5818B8}"/>
              </a:ext>
            </a:extLst>
          </p:cNvPr>
          <p:cNvSpPr/>
          <p:nvPr/>
        </p:nvSpPr>
        <p:spPr>
          <a:xfrm>
            <a:off x="762000" y="5365687"/>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9" name="AutoShape 15">
            <a:extLst>
              <a:ext uri="{FF2B5EF4-FFF2-40B4-BE49-F238E27FC236}">
                <a16:creationId xmlns:a16="http://schemas.microsoft.com/office/drawing/2014/main" id="{5482B452-252F-8E70-67B9-054D0D377A0F}"/>
              </a:ext>
            </a:extLst>
          </p:cNvPr>
          <p:cNvSpPr/>
          <p:nvPr/>
        </p:nvSpPr>
        <p:spPr>
          <a:xfrm>
            <a:off x="990600" y="5467287"/>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04 </a:t>
            </a:r>
            <a:r>
              <a:rPr lang="en-US" sz="2000" b="1" i="0" u="none" strike="noStrike" dirty="0" err="1">
                <a:latin typeface="Noto Sans SC"/>
                <a:ea typeface="Noto Sans SC"/>
                <a:cs typeface="Noto Sans SC"/>
                <a:sym typeface="Noto Sans SC"/>
              </a:rPr>
              <a:t>文书智能体「小元</a:t>
            </a:r>
            <a:r>
              <a:rPr lang="en-US" sz="2000" b="1" i="0" u="none" strike="noStrike" dirty="0">
                <a:latin typeface="Noto Sans SC"/>
                <a:ea typeface="Noto Sans SC"/>
                <a:cs typeface="Noto Sans SC"/>
                <a:sym typeface="Noto Sans SC"/>
              </a:rPr>
              <a:t>」</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核心任务引擎，基于大模型自动生成、审查与优化赛事法律文书</a:t>
            </a:r>
            <a:r>
              <a:rPr lang="en-US" sz="1600" b="0" i="0" u="none" strike="noStrike" dirty="0">
                <a:latin typeface="Noto Sans SC"/>
                <a:ea typeface="Noto Sans SC"/>
                <a:cs typeface="Noto Sans SC"/>
                <a:sym typeface="Noto Sans SC"/>
              </a:rPr>
              <a:t>。</a:t>
            </a:r>
          </a:p>
        </p:txBody>
      </p:sp>
      <p:pic>
        <p:nvPicPr>
          <p:cNvPr id="3" name="图片 2">
            <a:extLst>
              <a:ext uri="{FF2B5EF4-FFF2-40B4-BE49-F238E27FC236}">
                <a16:creationId xmlns:a16="http://schemas.microsoft.com/office/drawing/2014/main" id="{82DC93BA-B44D-1F0D-EF14-A9355D291E40}"/>
              </a:ext>
            </a:extLst>
          </p:cNvPr>
          <p:cNvPicPr>
            <a:picLocks noChangeAspect="1"/>
          </p:cNvPicPr>
          <p:nvPr/>
        </p:nvPicPr>
        <p:blipFill>
          <a:blip r:embed="rId3"/>
          <a:stretch>
            <a:fillRect/>
          </a:stretch>
        </p:blipFill>
        <p:spPr>
          <a:xfrm>
            <a:off x="6491909" y="1447769"/>
            <a:ext cx="5243605" cy="3435364"/>
          </a:xfrm>
          <a:prstGeom prst="rect">
            <a:avLst/>
          </a:prstGeom>
        </p:spPr>
      </p:pic>
    </p:spTree>
    <p:extLst>
      <p:ext uri="{BB962C8B-B14F-4D97-AF65-F5344CB8AC3E}">
        <p14:creationId xmlns:p14="http://schemas.microsoft.com/office/powerpoint/2010/main" val="278010681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9C708-9C9A-C417-D6B3-04FAA779EA34}"/>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F815C02D-9D81-50BB-9141-ABA7D9F9E7D5}"/>
              </a:ext>
            </a:extLst>
          </p:cNvPr>
          <p:cNvSpPr/>
          <p:nvPr/>
        </p:nvSpPr>
        <p:spPr>
          <a:xfrm>
            <a:off x="-2524" y="-38518"/>
            <a:ext cx="12192000" cy="398186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67CBE5DE-F7FC-92DF-6E70-6AD247073E66}"/>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AE63DBCF-10EC-A187-3A89-5F2700A064BF}"/>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42A9BB4A-FF26-90B4-D088-579AD7D5EFE5}"/>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667E3700-2A99-0D65-5E7F-CB415CAA82F3}"/>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9AFA697B-D0C0-C026-DC85-1F753BF2C182}"/>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6" name="AutoShape 4">
            <a:extLst>
              <a:ext uri="{FF2B5EF4-FFF2-40B4-BE49-F238E27FC236}">
                <a16:creationId xmlns:a16="http://schemas.microsoft.com/office/drawing/2014/main" id="{1DEFEC3E-9955-BD9B-EE12-E57C25CFE089}"/>
              </a:ext>
            </a:extLst>
          </p:cNvPr>
          <p:cNvSpPr/>
          <p:nvPr/>
        </p:nvSpPr>
        <p:spPr>
          <a:xfrm>
            <a:off x="762000" y="134616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0" name="AutoShape 6">
            <a:extLst>
              <a:ext uri="{FF2B5EF4-FFF2-40B4-BE49-F238E27FC236}">
                <a16:creationId xmlns:a16="http://schemas.microsoft.com/office/drawing/2014/main" id="{25F0BE4C-EADF-F354-C374-C48F13A249D2}"/>
              </a:ext>
            </a:extLst>
          </p:cNvPr>
          <p:cNvSpPr/>
          <p:nvPr/>
        </p:nvSpPr>
        <p:spPr>
          <a:xfrm>
            <a:off x="990600" y="144776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01 </a:t>
            </a:r>
            <a:r>
              <a:rPr lang="en-US" sz="2000" b="1" i="0" u="none" strike="noStrike" dirty="0" err="1">
                <a:solidFill>
                  <a:schemeClr val="bg1"/>
                </a:solidFill>
                <a:latin typeface="Noto Sans SC"/>
                <a:ea typeface="Noto Sans SC"/>
                <a:cs typeface="Noto Sans SC"/>
                <a:sym typeface="Noto Sans SC"/>
              </a:rPr>
              <a:t>首页概览</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全局掌控</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聚合今日待办、核心数据统计及最近文书动态，一键总览赛事法务全貌</a:t>
            </a:r>
            <a:r>
              <a:rPr lang="en-US" sz="1600" b="0" i="0" u="none" strike="noStrike" dirty="0">
                <a:solidFill>
                  <a:schemeClr val="bg1"/>
                </a:solidFill>
                <a:latin typeface="Noto Sans SC"/>
                <a:ea typeface="Noto Sans SC"/>
                <a:cs typeface="Noto Sans SC"/>
                <a:sym typeface="Noto Sans SC"/>
              </a:rPr>
              <a:t>。</a:t>
            </a:r>
          </a:p>
        </p:txBody>
      </p:sp>
      <p:sp>
        <p:nvSpPr>
          <p:cNvPr id="42" name="AutoShape 7">
            <a:extLst>
              <a:ext uri="{FF2B5EF4-FFF2-40B4-BE49-F238E27FC236}">
                <a16:creationId xmlns:a16="http://schemas.microsoft.com/office/drawing/2014/main" id="{42BB628C-96AF-1009-4B0A-D3084562E02C}"/>
              </a:ext>
            </a:extLst>
          </p:cNvPr>
          <p:cNvSpPr/>
          <p:nvPr/>
        </p:nvSpPr>
        <p:spPr>
          <a:xfrm>
            <a:off x="762000" y="264475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7" name="AutoShape 9">
            <a:extLst>
              <a:ext uri="{FF2B5EF4-FFF2-40B4-BE49-F238E27FC236}">
                <a16:creationId xmlns:a16="http://schemas.microsoft.com/office/drawing/2014/main" id="{01142CE0-0204-260B-C1D2-14CAEAFA90C9}"/>
              </a:ext>
            </a:extLst>
          </p:cNvPr>
          <p:cNvSpPr/>
          <p:nvPr/>
        </p:nvSpPr>
        <p:spPr>
          <a:xfrm>
            <a:off x="990600" y="274635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02 </a:t>
            </a:r>
            <a:r>
              <a:rPr lang="en-US" sz="2000" b="1" i="0" u="none" strike="noStrike" dirty="0" err="1">
                <a:solidFill>
                  <a:schemeClr val="bg1"/>
                </a:solidFill>
                <a:latin typeface="Noto Sans SC"/>
                <a:ea typeface="Noto Sans SC"/>
                <a:cs typeface="Noto Sans SC"/>
                <a:sym typeface="Noto Sans SC"/>
              </a:rPr>
              <a:t>法规查询</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精准检索</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内置本地法库，支持关键词智能联想，快速定位赛事相关条款与判例</a:t>
            </a:r>
            <a:r>
              <a:rPr lang="en-US" sz="1600" b="0" i="0" u="none" strike="noStrike" dirty="0">
                <a:solidFill>
                  <a:schemeClr val="bg1"/>
                </a:solidFill>
                <a:latin typeface="Noto Sans SC"/>
                <a:ea typeface="Noto Sans SC"/>
                <a:cs typeface="Noto Sans SC"/>
                <a:sym typeface="Noto Sans SC"/>
              </a:rPr>
              <a:t>。</a:t>
            </a:r>
          </a:p>
        </p:txBody>
      </p:sp>
      <p:sp>
        <p:nvSpPr>
          <p:cNvPr id="49" name="AutoShape 10">
            <a:extLst>
              <a:ext uri="{FF2B5EF4-FFF2-40B4-BE49-F238E27FC236}">
                <a16:creationId xmlns:a16="http://schemas.microsoft.com/office/drawing/2014/main" id="{360DB781-2AD8-A320-04F4-1BE7BA33FA0E}"/>
              </a:ext>
            </a:extLst>
          </p:cNvPr>
          <p:cNvSpPr/>
          <p:nvPr/>
        </p:nvSpPr>
        <p:spPr>
          <a:xfrm>
            <a:off x="762000" y="4102068"/>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3" name="AutoShape 12">
            <a:extLst>
              <a:ext uri="{FF2B5EF4-FFF2-40B4-BE49-F238E27FC236}">
                <a16:creationId xmlns:a16="http://schemas.microsoft.com/office/drawing/2014/main" id="{83DC9E01-0FA8-36DE-5452-14AA21AC6EB5}"/>
              </a:ext>
            </a:extLst>
          </p:cNvPr>
          <p:cNvSpPr/>
          <p:nvPr/>
        </p:nvSpPr>
        <p:spPr>
          <a:xfrm>
            <a:off x="990600" y="4203668"/>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03 </a:t>
            </a:r>
            <a:r>
              <a:rPr lang="en-US" sz="2000" b="1" i="0" u="none" strike="noStrike" dirty="0" err="1">
                <a:latin typeface="Noto Sans SC"/>
                <a:ea typeface="Noto Sans SC"/>
                <a:cs typeface="Noto Sans SC"/>
                <a:sym typeface="Noto Sans SC"/>
              </a:rPr>
              <a:t>智能模板</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高效起草</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预置标准化赛事文书模板，支持自定义字段，一键生成合规文件</a:t>
            </a:r>
            <a:r>
              <a:rPr lang="en-US" sz="1600" b="0" i="0" u="none" strike="noStrike" dirty="0">
                <a:latin typeface="Noto Sans SC"/>
                <a:ea typeface="Noto Sans SC"/>
                <a:cs typeface="Noto Sans SC"/>
                <a:sym typeface="Noto Sans SC"/>
              </a:rPr>
              <a:t>。</a:t>
            </a:r>
          </a:p>
        </p:txBody>
      </p:sp>
      <p:sp>
        <p:nvSpPr>
          <p:cNvPr id="55" name="AutoShape 13">
            <a:extLst>
              <a:ext uri="{FF2B5EF4-FFF2-40B4-BE49-F238E27FC236}">
                <a16:creationId xmlns:a16="http://schemas.microsoft.com/office/drawing/2014/main" id="{B9BFF17A-ED1E-50BC-7FD3-9E645347A4A8}"/>
              </a:ext>
            </a:extLst>
          </p:cNvPr>
          <p:cNvSpPr/>
          <p:nvPr/>
        </p:nvSpPr>
        <p:spPr>
          <a:xfrm>
            <a:off x="762000" y="5365687"/>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9" name="AutoShape 15">
            <a:extLst>
              <a:ext uri="{FF2B5EF4-FFF2-40B4-BE49-F238E27FC236}">
                <a16:creationId xmlns:a16="http://schemas.microsoft.com/office/drawing/2014/main" id="{15021126-EA05-67C5-4DA7-3FB8266BF093}"/>
              </a:ext>
            </a:extLst>
          </p:cNvPr>
          <p:cNvSpPr/>
          <p:nvPr/>
        </p:nvSpPr>
        <p:spPr>
          <a:xfrm>
            <a:off x="990600" y="5467287"/>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04 </a:t>
            </a:r>
            <a:r>
              <a:rPr lang="en-US" sz="2000" b="1" i="0" u="none" strike="noStrike" dirty="0" err="1">
                <a:latin typeface="Noto Sans SC"/>
                <a:ea typeface="Noto Sans SC"/>
                <a:cs typeface="Noto Sans SC"/>
                <a:sym typeface="Noto Sans SC"/>
              </a:rPr>
              <a:t>文书智能体「小元</a:t>
            </a:r>
            <a:r>
              <a:rPr lang="en-US" sz="2000" b="1" i="0" u="none" strike="noStrike" dirty="0">
                <a:latin typeface="Noto Sans SC"/>
                <a:ea typeface="Noto Sans SC"/>
                <a:cs typeface="Noto Sans SC"/>
                <a:sym typeface="Noto Sans SC"/>
              </a:rPr>
              <a:t>」</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核心任务引擎，基于大模型自动生成、审查与优化赛事法律文书</a:t>
            </a:r>
            <a:r>
              <a:rPr lang="en-US" sz="1600" b="0" i="0" u="none" strike="noStrike" dirty="0">
                <a:latin typeface="Noto Sans SC"/>
                <a:ea typeface="Noto Sans SC"/>
                <a:cs typeface="Noto Sans SC"/>
                <a:sym typeface="Noto Sans SC"/>
              </a:rPr>
              <a:t>。</a:t>
            </a:r>
          </a:p>
        </p:txBody>
      </p:sp>
      <p:pic>
        <p:nvPicPr>
          <p:cNvPr id="3" name="图片 2">
            <a:extLst>
              <a:ext uri="{FF2B5EF4-FFF2-40B4-BE49-F238E27FC236}">
                <a16:creationId xmlns:a16="http://schemas.microsoft.com/office/drawing/2014/main" id="{42B15E59-8390-DDBD-C4FA-FE99128D2C0A}"/>
              </a:ext>
            </a:extLst>
          </p:cNvPr>
          <p:cNvPicPr>
            <a:picLocks noChangeAspect="1"/>
          </p:cNvPicPr>
          <p:nvPr/>
        </p:nvPicPr>
        <p:blipFill>
          <a:blip r:embed="rId3"/>
          <a:stretch>
            <a:fillRect/>
          </a:stretch>
        </p:blipFill>
        <p:spPr>
          <a:xfrm>
            <a:off x="6491909" y="1447769"/>
            <a:ext cx="5243605" cy="3435364"/>
          </a:xfrm>
          <a:prstGeom prst="rect">
            <a:avLst/>
          </a:prstGeom>
        </p:spPr>
      </p:pic>
      <p:pic>
        <p:nvPicPr>
          <p:cNvPr id="5" name="图片 4">
            <a:extLst>
              <a:ext uri="{FF2B5EF4-FFF2-40B4-BE49-F238E27FC236}">
                <a16:creationId xmlns:a16="http://schemas.microsoft.com/office/drawing/2014/main" id="{5739FCD4-13BA-97A7-4FA6-6B6F421820E5}"/>
              </a:ext>
            </a:extLst>
          </p:cNvPr>
          <p:cNvPicPr>
            <a:picLocks noChangeAspect="1"/>
          </p:cNvPicPr>
          <p:nvPr/>
        </p:nvPicPr>
        <p:blipFill>
          <a:blip r:embed="rId4"/>
          <a:stretch>
            <a:fillRect/>
          </a:stretch>
        </p:blipFill>
        <p:spPr>
          <a:xfrm>
            <a:off x="6525276" y="1447768"/>
            <a:ext cx="5243604" cy="3703901"/>
          </a:xfrm>
          <a:prstGeom prst="rect">
            <a:avLst/>
          </a:prstGeom>
        </p:spPr>
      </p:pic>
      <p:pic>
        <p:nvPicPr>
          <p:cNvPr id="9" name="图片 8">
            <a:extLst>
              <a:ext uri="{FF2B5EF4-FFF2-40B4-BE49-F238E27FC236}">
                <a16:creationId xmlns:a16="http://schemas.microsoft.com/office/drawing/2014/main" id="{3948F490-A726-3193-E728-F0C5757D81E3}"/>
              </a:ext>
            </a:extLst>
          </p:cNvPr>
          <p:cNvPicPr>
            <a:picLocks noChangeAspect="1"/>
          </p:cNvPicPr>
          <p:nvPr/>
        </p:nvPicPr>
        <p:blipFill>
          <a:blip r:embed="rId5"/>
          <a:stretch>
            <a:fillRect/>
          </a:stretch>
        </p:blipFill>
        <p:spPr>
          <a:xfrm>
            <a:off x="6491909" y="1472820"/>
            <a:ext cx="5443432" cy="3603876"/>
          </a:xfrm>
          <a:prstGeom prst="rect">
            <a:avLst/>
          </a:prstGeom>
        </p:spPr>
      </p:pic>
    </p:spTree>
    <p:extLst>
      <p:ext uri="{BB962C8B-B14F-4D97-AF65-F5344CB8AC3E}">
        <p14:creationId xmlns:p14="http://schemas.microsoft.com/office/powerpoint/2010/main" val="321834878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BC74-E1D2-8507-03C2-982DBBE00C49}"/>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A32D27C9-66F2-F5C1-9C9F-88F04A814651}"/>
              </a:ext>
            </a:extLst>
          </p:cNvPr>
          <p:cNvSpPr/>
          <p:nvPr/>
        </p:nvSpPr>
        <p:spPr>
          <a:xfrm>
            <a:off x="-2524" y="-38518"/>
            <a:ext cx="12192000" cy="398186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C8C2D963-BD06-93B5-049D-307D0F3043DF}"/>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461A09BE-1868-29FE-CE6F-FE00134EF043}"/>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79D15664-EE06-7F2C-5DFC-37A035AFFEA9}"/>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5F57E359-B4DC-97A9-A01F-F1A056DA594E}"/>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2E387FD7-AFDB-7F19-0698-3879E47AE017}"/>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6" name="AutoShape 4">
            <a:extLst>
              <a:ext uri="{FF2B5EF4-FFF2-40B4-BE49-F238E27FC236}">
                <a16:creationId xmlns:a16="http://schemas.microsoft.com/office/drawing/2014/main" id="{A7122107-5C13-C32A-665B-3A748482D9A7}"/>
              </a:ext>
            </a:extLst>
          </p:cNvPr>
          <p:cNvSpPr/>
          <p:nvPr/>
        </p:nvSpPr>
        <p:spPr>
          <a:xfrm>
            <a:off x="762000" y="134616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0" name="AutoShape 6">
            <a:extLst>
              <a:ext uri="{FF2B5EF4-FFF2-40B4-BE49-F238E27FC236}">
                <a16:creationId xmlns:a16="http://schemas.microsoft.com/office/drawing/2014/main" id="{FAABB1C8-CE56-2A7B-F7A0-7E8D1741E755}"/>
              </a:ext>
            </a:extLst>
          </p:cNvPr>
          <p:cNvSpPr/>
          <p:nvPr/>
        </p:nvSpPr>
        <p:spPr>
          <a:xfrm>
            <a:off x="990600" y="144776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01 </a:t>
            </a:r>
            <a:r>
              <a:rPr lang="en-US" sz="2000" b="1" i="0" u="none" strike="noStrike" dirty="0" err="1">
                <a:solidFill>
                  <a:schemeClr val="bg1"/>
                </a:solidFill>
                <a:latin typeface="Noto Sans SC"/>
                <a:ea typeface="Noto Sans SC"/>
                <a:cs typeface="Noto Sans SC"/>
                <a:sym typeface="Noto Sans SC"/>
              </a:rPr>
              <a:t>首页概览</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全局掌控</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聚合今日待办、核心数据统计及最近文书动态，一键总览赛事法务全貌</a:t>
            </a:r>
            <a:r>
              <a:rPr lang="en-US" sz="1600" b="0" i="0" u="none" strike="noStrike" dirty="0">
                <a:solidFill>
                  <a:schemeClr val="bg1"/>
                </a:solidFill>
                <a:latin typeface="Noto Sans SC"/>
                <a:ea typeface="Noto Sans SC"/>
                <a:cs typeface="Noto Sans SC"/>
                <a:sym typeface="Noto Sans SC"/>
              </a:rPr>
              <a:t>。</a:t>
            </a:r>
          </a:p>
        </p:txBody>
      </p:sp>
      <p:sp>
        <p:nvSpPr>
          <p:cNvPr id="42" name="AutoShape 7">
            <a:extLst>
              <a:ext uri="{FF2B5EF4-FFF2-40B4-BE49-F238E27FC236}">
                <a16:creationId xmlns:a16="http://schemas.microsoft.com/office/drawing/2014/main" id="{FB65D3C0-E4AB-BB57-61B2-413A4E3855B9}"/>
              </a:ext>
            </a:extLst>
          </p:cNvPr>
          <p:cNvSpPr/>
          <p:nvPr/>
        </p:nvSpPr>
        <p:spPr>
          <a:xfrm>
            <a:off x="762000" y="2644759"/>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47" name="AutoShape 9">
            <a:extLst>
              <a:ext uri="{FF2B5EF4-FFF2-40B4-BE49-F238E27FC236}">
                <a16:creationId xmlns:a16="http://schemas.microsoft.com/office/drawing/2014/main" id="{4B083A17-FDC1-286E-8E87-86EA1CE3BB1F}"/>
              </a:ext>
            </a:extLst>
          </p:cNvPr>
          <p:cNvSpPr/>
          <p:nvPr/>
        </p:nvSpPr>
        <p:spPr>
          <a:xfrm>
            <a:off x="990600" y="2746359"/>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02 </a:t>
            </a:r>
            <a:r>
              <a:rPr lang="en-US" sz="2000" b="1" i="0" u="none" strike="noStrike" dirty="0" err="1">
                <a:solidFill>
                  <a:schemeClr val="bg1"/>
                </a:solidFill>
                <a:latin typeface="Noto Sans SC"/>
                <a:ea typeface="Noto Sans SC"/>
                <a:cs typeface="Noto Sans SC"/>
                <a:sym typeface="Noto Sans SC"/>
              </a:rPr>
              <a:t>法规查询</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精准检索</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内置本地法库，支持关键词智能联想，快速定位赛事相关条款与判例</a:t>
            </a:r>
            <a:r>
              <a:rPr lang="en-US" sz="1600" b="0" i="0" u="none" strike="noStrike" dirty="0">
                <a:solidFill>
                  <a:schemeClr val="bg1"/>
                </a:solidFill>
                <a:latin typeface="Noto Sans SC"/>
                <a:ea typeface="Noto Sans SC"/>
                <a:cs typeface="Noto Sans SC"/>
                <a:sym typeface="Noto Sans SC"/>
              </a:rPr>
              <a:t>。</a:t>
            </a:r>
          </a:p>
        </p:txBody>
      </p:sp>
      <p:sp>
        <p:nvSpPr>
          <p:cNvPr id="49" name="AutoShape 10">
            <a:extLst>
              <a:ext uri="{FF2B5EF4-FFF2-40B4-BE49-F238E27FC236}">
                <a16:creationId xmlns:a16="http://schemas.microsoft.com/office/drawing/2014/main" id="{7B652A8F-30D8-0AA8-FF5D-224D42ECBD6F}"/>
              </a:ext>
            </a:extLst>
          </p:cNvPr>
          <p:cNvSpPr/>
          <p:nvPr/>
        </p:nvSpPr>
        <p:spPr>
          <a:xfrm>
            <a:off x="762000" y="4102068"/>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3" name="AutoShape 12">
            <a:extLst>
              <a:ext uri="{FF2B5EF4-FFF2-40B4-BE49-F238E27FC236}">
                <a16:creationId xmlns:a16="http://schemas.microsoft.com/office/drawing/2014/main" id="{EE03542F-6181-39C0-0C17-3244CD8E49EF}"/>
              </a:ext>
            </a:extLst>
          </p:cNvPr>
          <p:cNvSpPr/>
          <p:nvPr/>
        </p:nvSpPr>
        <p:spPr>
          <a:xfrm>
            <a:off x="990600" y="4203668"/>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03 </a:t>
            </a:r>
            <a:r>
              <a:rPr lang="en-US" sz="2000" b="1" i="0" u="none" strike="noStrike" dirty="0" err="1">
                <a:latin typeface="Noto Sans SC"/>
                <a:ea typeface="Noto Sans SC"/>
                <a:cs typeface="Noto Sans SC"/>
                <a:sym typeface="Noto Sans SC"/>
              </a:rPr>
              <a:t>智能模板</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高效起草</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预置标准化赛事文书模板，支持自定义字段，一键生成合规文件</a:t>
            </a:r>
            <a:r>
              <a:rPr lang="en-US" sz="1600" b="0" i="0" u="none" strike="noStrike" dirty="0">
                <a:latin typeface="Noto Sans SC"/>
                <a:ea typeface="Noto Sans SC"/>
                <a:cs typeface="Noto Sans SC"/>
                <a:sym typeface="Noto Sans SC"/>
              </a:rPr>
              <a:t>。</a:t>
            </a:r>
          </a:p>
        </p:txBody>
      </p:sp>
      <p:sp>
        <p:nvSpPr>
          <p:cNvPr id="55" name="AutoShape 13">
            <a:extLst>
              <a:ext uri="{FF2B5EF4-FFF2-40B4-BE49-F238E27FC236}">
                <a16:creationId xmlns:a16="http://schemas.microsoft.com/office/drawing/2014/main" id="{7A3423FC-4E23-4F9F-C37D-3D83DD90AFC0}"/>
              </a:ext>
            </a:extLst>
          </p:cNvPr>
          <p:cNvSpPr/>
          <p:nvPr/>
        </p:nvSpPr>
        <p:spPr>
          <a:xfrm>
            <a:off x="762000" y="5365687"/>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a:p>
        </p:txBody>
      </p:sp>
      <p:sp>
        <p:nvSpPr>
          <p:cNvPr id="59" name="AutoShape 15">
            <a:extLst>
              <a:ext uri="{FF2B5EF4-FFF2-40B4-BE49-F238E27FC236}">
                <a16:creationId xmlns:a16="http://schemas.microsoft.com/office/drawing/2014/main" id="{3439355F-C3D9-C885-029E-E16DE57EA47A}"/>
              </a:ext>
            </a:extLst>
          </p:cNvPr>
          <p:cNvSpPr/>
          <p:nvPr/>
        </p:nvSpPr>
        <p:spPr>
          <a:xfrm>
            <a:off x="990600" y="5467287"/>
            <a:ext cx="485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04 </a:t>
            </a:r>
            <a:r>
              <a:rPr lang="en-US" sz="2000" b="1" i="0" u="none" strike="noStrike" dirty="0" err="1">
                <a:latin typeface="Noto Sans SC"/>
                <a:ea typeface="Noto Sans SC"/>
                <a:cs typeface="Noto Sans SC"/>
                <a:sym typeface="Noto Sans SC"/>
              </a:rPr>
              <a:t>文书智能体「小元</a:t>
            </a:r>
            <a:r>
              <a:rPr lang="en-US" sz="2000" b="1" i="0" u="none" strike="noStrike" dirty="0">
                <a:latin typeface="Noto Sans SC"/>
                <a:ea typeface="Noto Sans SC"/>
                <a:cs typeface="Noto Sans SC"/>
                <a:sym typeface="Noto Sans SC"/>
              </a:rPr>
              <a:t>」</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核心任务引擎，基于大模型自动生成、审查与优化赛事法律文书</a:t>
            </a:r>
            <a:r>
              <a:rPr lang="en-US" sz="1600" b="0" i="0" u="none" strike="noStrike" dirty="0">
                <a:latin typeface="Noto Sans SC"/>
                <a:ea typeface="Noto Sans SC"/>
                <a:cs typeface="Noto Sans SC"/>
                <a:sym typeface="Noto Sans SC"/>
              </a:rPr>
              <a:t>。</a:t>
            </a:r>
          </a:p>
        </p:txBody>
      </p:sp>
      <p:pic>
        <p:nvPicPr>
          <p:cNvPr id="3" name="图片 2">
            <a:extLst>
              <a:ext uri="{FF2B5EF4-FFF2-40B4-BE49-F238E27FC236}">
                <a16:creationId xmlns:a16="http://schemas.microsoft.com/office/drawing/2014/main" id="{3126D749-D116-EF60-185D-9A1F3B600602}"/>
              </a:ext>
            </a:extLst>
          </p:cNvPr>
          <p:cNvPicPr>
            <a:picLocks noChangeAspect="1"/>
          </p:cNvPicPr>
          <p:nvPr/>
        </p:nvPicPr>
        <p:blipFill>
          <a:blip r:embed="rId3"/>
          <a:stretch>
            <a:fillRect/>
          </a:stretch>
        </p:blipFill>
        <p:spPr>
          <a:xfrm>
            <a:off x="6491909" y="1447769"/>
            <a:ext cx="5243605" cy="3435364"/>
          </a:xfrm>
          <a:prstGeom prst="rect">
            <a:avLst/>
          </a:prstGeom>
        </p:spPr>
      </p:pic>
      <p:pic>
        <p:nvPicPr>
          <p:cNvPr id="5" name="图片 4">
            <a:extLst>
              <a:ext uri="{FF2B5EF4-FFF2-40B4-BE49-F238E27FC236}">
                <a16:creationId xmlns:a16="http://schemas.microsoft.com/office/drawing/2014/main" id="{1402A7E3-61F9-18BE-22D2-B609BF0877FD}"/>
              </a:ext>
            </a:extLst>
          </p:cNvPr>
          <p:cNvPicPr>
            <a:picLocks noChangeAspect="1"/>
          </p:cNvPicPr>
          <p:nvPr/>
        </p:nvPicPr>
        <p:blipFill>
          <a:blip r:embed="rId4"/>
          <a:stretch>
            <a:fillRect/>
          </a:stretch>
        </p:blipFill>
        <p:spPr>
          <a:xfrm>
            <a:off x="6525276" y="1447768"/>
            <a:ext cx="5243604" cy="3703901"/>
          </a:xfrm>
          <a:prstGeom prst="rect">
            <a:avLst/>
          </a:prstGeom>
        </p:spPr>
      </p:pic>
      <p:pic>
        <p:nvPicPr>
          <p:cNvPr id="9" name="图片 8">
            <a:extLst>
              <a:ext uri="{FF2B5EF4-FFF2-40B4-BE49-F238E27FC236}">
                <a16:creationId xmlns:a16="http://schemas.microsoft.com/office/drawing/2014/main" id="{1D673B9E-F8DB-90B5-F09C-1AA83AB3F898}"/>
              </a:ext>
            </a:extLst>
          </p:cNvPr>
          <p:cNvPicPr>
            <a:picLocks noChangeAspect="1"/>
          </p:cNvPicPr>
          <p:nvPr/>
        </p:nvPicPr>
        <p:blipFill>
          <a:blip r:embed="rId5"/>
          <a:stretch>
            <a:fillRect/>
          </a:stretch>
        </p:blipFill>
        <p:spPr>
          <a:xfrm>
            <a:off x="6491909" y="1472820"/>
            <a:ext cx="5443432" cy="3603876"/>
          </a:xfrm>
          <a:prstGeom prst="rect">
            <a:avLst/>
          </a:prstGeom>
        </p:spPr>
      </p:pic>
      <p:pic>
        <p:nvPicPr>
          <p:cNvPr id="7" name="图片 6">
            <a:extLst>
              <a:ext uri="{FF2B5EF4-FFF2-40B4-BE49-F238E27FC236}">
                <a16:creationId xmlns:a16="http://schemas.microsoft.com/office/drawing/2014/main" id="{104471FA-9328-8EF9-47FB-9368E1C570AB}"/>
              </a:ext>
            </a:extLst>
          </p:cNvPr>
          <p:cNvPicPr>
            <a:picLocks noChangeAspect="1"/>
          </p:cNvPicPr>
          <p:nvPr/>
        </p:nvPicPr>
        <p:blipFill>
          <a:blip r:embed="rId6"/>
          <a:stretch>
            <a:fillRect/>
          </a:stretch>
        </p:blipFill>
        <p:spPr>
          <a:xfrm>
            <a:off x="6478743" y="1435222"/>
            <a:ext cx="5469763" cy="3447911"/>
          </a:xfrm>
          <a:prstGeom prst="rect">
            <a:avLst/>
          </a:prstGeom>
        </p:spPr>
      </p:pic>
    </p:spTree>
    <p:extLst>
      <p:ext uri="{BB962C8B-B14F-4D97-AF65-F5344CB8AC3E}">
        <p14:creationId xmlns:p14="http://schemas.microsoft.com/office/powerpoint/2010/main" val="48920271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18914-BB54-4FB2-E50F-6860CF619100}"/>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2778DCC5-17F5-3B2E-FDBC-E2E2D2191E6D}"/>
              </a:ext>
            </a:extLst>
          </p:cNvPr>
          <p:cNvSpPr/>
          <p:nvPr/>
        </p:nvSpPr>
        <p:spPr>
          <a:xfrm>
            <a:off x="-2524" y="-38518"/>
            <a:ext cx="12192000" cy="401361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4644350A-9B3D-346A-6F5A-B3569CF45C1A}"/>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BF397C64-8EE4-E9F5-3A51-FBB70AB25395}"/>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ABD583BD-960A-1E95-2440-E71C3887859D}"/>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DCF51CC0-13B4-7A27-7D7F-4E1BA717D638}"/>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075EAF53-27D8-B515-D682-4321724DB77E}"/>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61" name="AutoShape 16">
            <a:extLst>
              <a:ext uri="{FF2B5EF4-FFF2-40B4-BE49-F238E27FC236}">
                <a16:creationId xmlns:a16="http://schemas.microsoft.com/office/drawing/2014/main" id="{D01F641D-3107-B346-677B-A4C7C4E9C766}"/>
              </a:ext>
            </a:extLst>
          </p:cNvPr>
          <p:cNvSpPr/>
          <p:nvPr/>
        </p:nvSpPr>
        <p:spPr>
          <a:xfrm>
            <a:off x="6223000" y="1464461"/>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65" name="AutoShape 18">
            <a:extLst>
              <a:ext uri="{FF2B5EF4-FFF2-40B4-BE49-F238E27FC236}">
                <a16:creationId xmlns:a16="http://schemas.microsoft.com/office/drawing/2014/main" id="{AB71CAF7-B733-CA29-E9DA-9EE7AECFE898}"/>
              </a:ext>
            </a:extLst>
          </p:cNvPr>
          <p:cNvSpPr/>
          <p:nvPr/>
        </p:nvSpPr>
        <p:spPr>
          <a:xfrm>
            <a:off x="6597650" y="1566061"/>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05 </a:t>
            </a:r>
            <a:r>
              <a:rPr lang="en-US" sz="2000" b="1" i="0" u="none" strike="noStrike" dirty="0" err="1">
                <a:solidFill>
                  <a:schemeClr val="bg1"/>
                </a:solidFill>
                <a:latin typeface="Noto Sans SC"/>
                <a:ea typeface="Noto Sans SC"/>
                <a:cs typeface="Noto Sans SC"/>
                <a:sym typeface="Noto Sans SC"/>
              </a:rPr>
              <a:t>多语翻译</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沟通无碍</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支持多语种实时互译，精准覆盖法律术语，消除跨境沟通障碍</a:t>
            </a:r>
            <a:r>
              <a:rPr lang="en-US" sz="1600" b="0" i="0" u="none" strike="noStrike" dirty="0">
                <a:solidFill>
                  <a:schemeClr val="bg1"/>
                </a:solidFill>
                <a:latin typeface="Noto Sans SC"/>
                <a:ea typeface="Noto Sans SC"/>
                <a:cs typeface="Noto Sans SC"/>
                <a:sym typeface="Noto Sans SC"/>
              </a:rPr>
              <a:t>。</a:t>
            </a:r>
          </a:p>
        </p:txBody>
      </p:sp>
      <p:sp>
        <p:nvSpPr>
          <p:cNvPr id="67" name="AutoShape 19">
            <a:extLst>
              <a:ext uri="{FF2B5EF4-FFF2-40B4-BE49-F238E27FC236}">
                <a16:creationId xmlns:a16="http://schemas.microsoft.com/office/drawing/2014/main" id="{946CA984-9F3F-C8CD-7D6E-43E0215263C3}"/>
              </a:ext>
            </a:extLst>
          </p:cNvPr>
          <p:cNvSpPr/>
          <p:nvPr/>
        </p:nvSpPr>
        <p:spPr>
          <a:xfrm>
            <a:off x="6223000" y="2709846"/>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71" name="AutoShape 21">
            <a:extLst>
              <a:ext uri="{FF2B5EF4-FFF2-40B4-BE49-F238E27FC236}">
                <a16:creationId xmlns:a16="http://schemas.microsoft.com/office/drawing/2014/main" id="{DB65EAA2-2DC0-71B6-5A20-11319C4920CA}"/>
              </a:ext>
            </a:extLst>
          </p:cNvPr>
          <p:cNvSpPr/>
          <p:nvPr/>
        </p:nvSpPr>
        <p:spPr>
          <a:xfrm>
            <a:off x="6597650" y="2811446"/>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06 </a:t>
            </a:r>
            <a:r>
              <a:rPr lang="en-US" sz="2000" b="1" i="0" u="none" strike="noStrike" dirty="0" err="1">
                <a:solidFill>
                  <a:schemeClr val="bg1"/>
                </a:solidFill>
                <a:latin typeface="Noto Sans SC"/>
                <a:ea typeface="Noto Sans SC"/>
                <a:cs typeface="Noto Sans SC"/>
                <a:sym typeface="Noto Sans SC"/>
              </a:rPr>
              <a:t>智能待办</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风险预警</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全流程任务节点自动追踪，关键时限智能预警，杜绝工作遗漏</a:t>
            </a:r>
            <a:r>
              <a:rPr lang="en-US" sz="1600" b="0" i="0" u="none" strike="noStrike" dirty="0">
                <a:solidFill>
                  <a:schemeClr val="bg1"/>
                </a:solidFill>
                <a:latin typeface="Noto Sans SC"/>
                <a:ea typeface="Noto Sans SC"/>
                <a:cs typeface="Noto Sans SC"/>
                <a:sym typeface="Noto Sans SC"/>
              </a:rPr>
              <a:t>。</a:t>
            </a:r>
          </a:p>
        </p:txBody>
      </p:sp>
      <p:sp>
        <p:nvSpPr>
          <p:cNvPr id="79" name="AutoShape 25">
            <a:extLst>
              <a:ext uri="{FF2B5EF4-FFF2-40B4-BE49-F238E27FC236}">
                <a16:creationId xmlns:a16="http://schemas.microsoft.com/office/drawing/2014/main" id="{7BAED596-298E-76BA-E1B8-6A93654E4570}"/>
              </a:ext>
            </a:extLst>
          </p:cNvPr>
          <p:cNvSpPr/>
          <p:nvPr/>
        </p:nvSpPr>
        <p:spPr>
          <a:xfrm>
            <a:off x="6223000" y="4179085"/>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dirty="0"/>
          </a:p>
        </p:txBody>
      </p:sp>
      <p:sp>
        <p:nvSpPr>
          <p:cNvPr id="83" name="AutoShape 27">
            <a:extLst>
              <a:ext uri="{FF2B5EF4-FFF2-40B4-BE49-F238E27FC236}">
                <a16:creationId xmlns:a16="http://schemas.microsoft.com/office/drawing/2014/main" id="{EAF5721C-DDF6-9D1F-7623-DDB9A76DF1C2}"/>
              </a:ext>
            </a:extLst>
          </p:cNvPr>
          <p:cNvSpPr/>
          <p:nvPr/>
        </p:nvSpPr>
        <p:spPr>
          <a:xfrm>
            <a:off x="6597650" y="4255285"/>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07 </a:t>
            </a:r>
            <a:r>
              <a:rPr lang="en-US" sz="2000" b="1" i="0" u="none" strike="noStrike" dirty="0" err="1">
                <a:latin typeface="Noto Sans SC"/>
                <a:ea typeface="Noto Sans SC"/>
                <a:cs typeface="Noto Sans SC"/>
                <a:sym typeface="Noto Sans SC"/>
              </a:rPr>
              <a:t>多模导入</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高效归集</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支持文档、图片等多格式材料批量上传，自动解析关键信息</a:t>
            </a:r>
            <a:r>
              <a:rPr lang="en-US" sz="1600" b="0" i="0" u="none" strike="noStrike" dirty="0">
                <a:latin typeface="Noto Sans SC"/>
                <a:ea typeface="Noto Sans SC"/>
                <a:cs typeface="Noto Sans SC"/>
                <a:sym typeface="Noto Sans SC"/>
              </a:rPr>
              <a:t>。</a:t>
            </a:r>
          </a:p>
        </p:txBody>
      </p:sp>
      <p:pic>
        <p:nvPicPr>
          <p:cNvPr id="3" name="图片 2">
            <a:extLst>
              <a:ext uri="{FF2B5EF4-FFF2-40B4-BE49-F238E27FC236}">
                <a16:creationId xmlns:a16="http://schemas.microsoft.com/office/drawing/2014/main" id="{0D5F44BC-14AC-BD4A-9C66-1D5971EF0A59}"/>
              </a:ext>
            </a:extLst>
          </p:cNvPr>
          <p:cNvPicPr>
            <a:picLocks noChangeAspect="1"/>
          </p:cNvPicPr>
          <p:nvPr/>
        </p:nvPicPr>
        <p:blipFill>
          <a:blip r:embed="rId3"/>
          <a:stretch>
            <a:fillRect/>
          </a:stretch>
        </p:blipFill>
        <p:spPr>
          <a:xfrm>
            <a:off x="319122" y="1826078"/>
            <a:ext cx="5582232" cy="3514459"/>
          </a:xfrm>
          <a:prstGeom prst="rect">
            <a:avLst/>
          </a:prstGeom>
        </p:spPr>
      </p:pic>
    </p:spTree>
    <p:extLst>
      <p:ext uri="{BB962C8B-B14F-4D97-AF65-F5344CB8AC3E}">
        <p14:creationId xmlns:p14="http://schemas.microsoft.com/office/powerpoint/2010/main" val="31760513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51A6-BB30-905A-86CB-1EB85C778043}"/>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FCB06649-A19A-04CE-172F-83E2E14A7907}"/>
              </a:ext>
            </a:extLst>
          </p:cNvPr>
          <p:cNvSpPr/>
          <p:nvPr/>
        </p:nvSpPr>
        <p:spPr>
          <a:xfrm>
            <a:off x="-2524" y="-38518"/>
            <a:ext cx="12192000" cy="401361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3E372F41-4384-FF6A-D951-D700B6F96760}"/>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A7AC949E-DEE3-76A0-D84C-ABFB04C4BB3D}"/>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DE38584D-15BD-5A7E-187D-6D5DCA6977C1}"/>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C35F74EA-2018-C191-9747-BF6F741C6E84}"/>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45D2CEE8-EA0F-D4C0-0F82-4D65012F8109}"/>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61" name="AutoShape 16">
            <a:extLst>
              <a:ext uri="{FF2B5EF4-FFF2-40B4-BE49-F238E27FC236}">
                <a16:creationId xmlns:a16="http://schemas.microsoft.com/office/drawing/2014/main" id="{62F62B14-9004-536A-C52F-C4B0B7ADBBB1}"/>
              </a:ext>
            </a:extLst>
          </p:cNvPr>
          <p:cNvSpPr/>
          <p:nvPr/>
        </p:nvSpPr>
        <p:spPr>
          <a:xfrm>
            <a:off x="6223000" y="1464461"/>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65" name="AutoShape 18">
            <a:extLst>
              <a:ext uri="{FF2B5EF4-FFF2-40B4-BE49-F238E27FC236}">
                <a16:creationId xmlns:a16="http://schemas.microsoft.com/office/drawing/2014/main" id="{869728C7-2596-7F79-9CC4-EDC4F282FC06}"/>
              </a:ext>
            </a:extLst>
          </p:cNvPr>
          <p:cNvSpPr/>
          <p:nvPr/>
        </p:nvSpPr>
        <p:spPr>
          <a:xfrm>
            <a:off x="6597650" y="1566061"/>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05 </a:t>
            </a:r>
            <a:r>
              <a:rPr lang="en-US" sz="2000" b="1" i="0" u="none" strike="noStrike" dirty="0" err="1">
                <a:solidFill>
                  <a:schemeClr val="bg1"/>
                </a:solidFill>
                <a:latin typeface="Noto Sans SC"/>
                <a:ea typeface="Noto Sans SC"/>
                <a:cs typeface="Noto Sans SC"/>
                <a:sym typeface="Noto Sans SC"/>
              </a:rPr>
              <a:t>多语翻译</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沟通无碍</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支持多语种实时互译，精准覆盖法律术语，消除跨境沟通障碍</a:t>
            </a:r>
            <a:r>
              <a:rPr lang="en-US" sz="1600" b="0" i="0" u="none" strike="noStrike" dirty="0">
                <a:solidFill>
                  <a:schemeClr val="bg1"/>
                </a:solidFill>
                <a:latin typeface="Noto Sans SC"/>
                <a:ea typeface="Noto Sans SC"/>
                <a:cs typeface="Noto Sans SC"/>
                <a:sym typeface="Noto Sans SC"/>
              </a:rPr>
              <a:t>。</a:t>
            </a:r>
          </a:p>
        </p:txBody>
      </p:sp>
      <p:sp>
        <p:nvSpPr>
          <p:cNvPr id="67" name="AutoShape 19">
            <a:extLst>
              <a:ext uri="{FF2B5EF4-FFF2-40B4-BE49-F238E27FC236}">
                <a16:creationId xmlns:a16="http://schemas.microsoft.com/office/drawing/2014/main" id="{36CE7F81-B7B1-ED5E-6AE8-2CF33D0F14A6}"/>
              </a:ext>
            </a:extLst>
          </p:cNvPr>
          <p:cNvSpPr/>
          <p:nvPr/>
        </p:nvSpPr>
        <p:spPr>
          <a:xfrm>
            <a:off x="6223000" y="2709846"/>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71" name="AutoShape 21">
            <a:extLst>
              <a:ext uri="{FF2B5EF4-FFF2-40B4-BE49-F238E27FC236}">
                <a16:creationId xmlns:a16="http://schemas.microsoft.com/office/drawing/2014/main" id="{54AA6FD0-EEDC-9D09-8427-794B7C45C87F}"/>
              </a:ext>
            </a:extLst>
          </p:cNvPr>
          <p:cNvSpPr/>
          <p:nvPr/>
        </p:nvSpPr>
        <p:spPr>
          <a:xfrm>
            <a:off x="6597650" y="2811446"/>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06 </a:t>
            </a:r>
            <a:r>
              <a:rPr lang="en-US" sz="2000" b="1" i="0" u="none" strike="noStrike" dirty="0" err="1">
                <a:solidFill>
                  <a:schemeClr val="bg1"/>
                </a:solidFill>
                <a:latin typeface="Noto Sans SC"/>
                <a:ea typeface="Noto Sans SC"/>
                <a:cs typeface="Noto Sans SC"/>
                <a:sym typeface="Noto Sans SC"/>
              </a:rPr>
              <a:t>智能待办</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风险预警</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全流程任务节点自动追踪，关键时限智能预警，杜绝工作遗漏</a:t>
            </a:r>
            <a:r>
              <a:rPr lang="en-US" sz="1600" b="0" i="0" u="none" strike="noStrike" dirty="0">
                <a:solidFill>
                  <a:schemeClr val="bg1"/>
                </a:solidFill>
                <a:latin typeface="Noto Sans SC"/>
                <a:ea typeface="Noto Sans SC"/>
                <a:cs typeface="Noto Sans SC"/>
                <a:sym typeface="Noto Sans SC"/>
              </a:rPr>
              <a:t>。</a:t>
            </a:r>
          </a:p>
        </p:txBody>
      </p:sp>
      <p:sp>
        <p:nvSpPr>
          <p:cNvPr id="79" name="AutoShape 25">
            <a:extLst>
              <a:ext uri="{FF2B5EF4-FFF2-40B4-BE49-F238E27FC236}">
                <a16:creationId xmlns:a16="http://schemas.microsoft.com/office/drawing/2014/main" id="{4B594A79-9FCE-7368-E26E-BD3C34F72CF2}"/>
              </a:ext>
            </a:extLst>
          </p:cNvPr>
          <p:cNvSpPr/>
          <p:nvPr/>
        </p:nvSpPr>
        <p:spPr>
          <a:xfrm>
            <a:off x="6223000" y="4179085"/>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dirty="0"/>
          </a:p>
        </p:txBody>
      </p:sp>
      <p:sp>
        <p:nvSpPr>
          <p:cNvPr id="83" name="AutoShape 27">
            <a:extLst>
              <a:ext uri="{FF2B5EF4-FFF2-40B4-BE49-F238E27FC236}">
                <a16:creationId xmlns:a16="http://schemas.microsoft.com/office/drawing/2014/main" id="{5EC1B0C6-3AEA-A012-7A01-1459D80C3A33}"/>
              </a:ext>
            </a:extLst>
          </p:cNvPr>
          <p:cNvSpPr/>
          <p:nvPr/>
        </p:nvSpPr>
        <p:spPr>
          <a:xfrm>
            <a:off x="6597650" y="4255285"/>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07 </a:t>
            </a:r>
            <a:r>
              <a:rPr lang="en-US" sz="2000" b="1" i="0" u="none" strike="noStrike" dirty="0" err="1">
                <a:latin typeface="Noto Sans SC"/>
                <a:ea typeface="Noto Sans SC"/>
                <a:cs typeface="Noto Sans SC"/>
                <a:sym typeface="Noto Sans SC"/>
              </a:rPr>
              <a:t>多模导入</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高效归集</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支持文档、图片等多格式材料批量上传，自动解析关键信息</a:t>
            </a:r>
            <a:r>
              <a:rPr lang="en-US" sz="1600" b="0" i="0" u="none" strike="noStrike" dirty="0">
                <a:latin typeface="Noto Sans SC"/>
                <a:ea typeface="Noto Sans SC"/>
                <a:cs typeface="Noto Sans SC"/>
                <a:sym typeface="Noto Sans SC"/>
              </a:rPr>
              <a:t>。</a:t>
            </a:r>
          </a:p>
        </p:txBody>
      </p:sp>
      <p:pic>
        <p:nvPicPr>
          <p:cNvPr id="3" name="图片 2">
            <a:extLst>
              <a:ext uri="{FF2B5EF4-FFF2-40B4-BE49-F238E27FC236}">
                <a16:creationId xmlns:a16="http://schemas.microsoft.com/office/drawing/2014/main" id="{30DB2A0A-DABA-0F5D-8E2F-AC7B100FCF8C}"/>
              </a:ext>
            </a:extLst>
          </p:cNvPr>
          <p:cNvPicPr>
            <a:picLocks noChangeAspect="1"/>
          </p:cNvPicPr>
          <p:nvPr/>
        </p:nvPicPr>
        <p:blipFill>
          <a:blip r:embed="rId3"/>
          <a:stretch>
            <a:fillRect/>
          </a:stretch>
        </p:blipFill>
        <p:spPr>
          <a:xfrm>
            <a:off x="319122" y="1826078"/>
            <a:ext cx="5582232" cy="3514459"/>
          </a:xfrm>
          <a:prstGeom prst="rect">
            <a:avLst/>
          </a:prstGeom>
        </p:spPr>
      </p:pic>
      <p:pic>
        <p:nvPicPr>
          <p:cNvPr id="5" name="图片 4">
            <a:extLst>
              <a:ext uri="{FF2B5EF4-FFF2-40B4-BE49-F238E27FC236}">
                <a16:creationId xmlns:a16="http://schemas.microsoft.com/office/drawing/2014/main" id="{082AB07B-5B60-0373-F06C-95CC1A703373}"/>
              </a:ext>
            </a:extLst>
          </p:cNvPr>
          <p:cNvPicPr>
            <a:picLocks noChangeAspect="1"/>
          </p:cNvPicPr>
          <p:nvPr/>
        </p:nvPicPr>
        <p:blipFill>
          <a:blip r:embed="rId4"/>
          <a:stretch>
            <a:fillRect/>
          </a:stretch>
        </p:blipFill>
        <p:spPr>
          <a:xfrm>
            <a:off x="263082" y="1614446"/>
            <a:ext cx="5694312" cy="3937722"/>
          </a:xfrm>
          <a:prstGeom prst="rect">
            <a:avLst/>
          </a:prstGeom>
        </p:spPr>
      </p:pic>
    </p:spTree>
    <p:extLst>
      <p:ext uri="{BB962C8B-B14F-4D97-AF65-F5344CB8AC3E}">
        <p14:creationId xmlns:p14="http://schemas.microsoft.com/office/powerpoint/2010/main" val="18759258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807B0-3106-BD1A-C1D7-1EA2E1D1249F}"/>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5DC5AC66-24EF-E269-D3E1-CB030F5433F0}"/>
              </a:ext>
            </a:extLst>
          </p:cNvPr>
          <p:cNvSpPr/>
          <p:nvPr/>
        </p:nvSpPr>
        <p:spPr>
          <a:xfrm>
            <a:off x="-2524" y="-38518"/>
            <a:ext cx="12192000" cy="4013618"/>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7DAF006C-4AF5-7494-8504-EE95FCDCA8A7}"/>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F2ADB6EE-F849-9527-D5C1-6DAF0EF354A7}"/>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244D214D-9012-4AB5-58E3-1BC19D20F142}"/>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6E5D8FA8-5C09-0ADC-D830-7EC212AE068F}"/>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3" name="图片 42">
            <a:extLst>
              <a:ext uri="{FF2B5EF4-FFF2-40B4-BE49-F238E27FC236}">
                <a16:creationId xmlns:a16="http://schemas.microsoft.com/office/drawing/2014/main" id="{2603DF34-672F-4D15-21E1-0F96E5DC4944}"/>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61" name="AutoShape 16">
            <a:extLst>
              <a:ext uri="{FF2B5EF4-FFF2-40B4-BE49-F238E27FC236}">
                <a16:creationId xmlns:a16="http://schemas.microsoft.com/office/drawing/2014/main" id="{F2263471-256E-1036-3C0E-477BBE1E91A7}"/>
              </a:ext>
            </a:extLst>
          </p:cNvPr>
          <p:cNvSpPr/>
          <p:nvPr/>
        </p:nvSpPr>
        <p:spPr>
          <a:xfrm>
            <a:off x="6223000" y="1464461"/>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65" name="AutoShape 18">
            <a:extLst>
              <a:ext uri="{FF2B5EF4-FFF2-40B4-BE49-F238E27FC236}">
                <a16:creationId xmlns:a16="http://schemas.microsoft.com/office/drawing/2014/main" id="{85E3A547-78AC-9869-D830-72D0D7C83A0E}"/>
              </a:ext>
            </a:extLst>
          </p:cNvPr>
          <p:cNvSpPr/>
          <p:nvPr/>
        </p:nvSpPr>
        <p:spPr>
          <a:xfrm>
            <a:off x="6597650" y="1566061"/>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05 </a:t>
            </a:r>
            <a:r>
              <a:rPr lang="en-US" sz="2000" b="1" i="0" u="none" strike="noStrike" dirty="0" err="1">
                <a:solidFill>
                  <a:schemeClr val="bg1"/>
                </a:solidFill>
                <a:latin typeface="Noto Sans SC"/>
                <a:ea typeface="Noto Sans SC"/>
                <a:cs typeface="Noto Sans SC"/>
                <a:sym typeface="Noto Sans SC"/>
              </a:rPr>
              <a:t>多语翻译</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沟通无碍</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支持多语种实时互译，精准覆盖法律术语，消除跨境沟通障碍</a:t>
            </a:r>
            <a:r>
              <a:rPr lang="en-US" sz="1600" b="0" i="0" u="none" strike="noStrike" dirty="0">
                <a:solidFill>
                  <a:schemeClr val="bg1"/>
                </a:solidFill>
                <a:latin typeface="Noto Sans SC"/>
                <a:ea typeface="Noto Sans SC"/>
                <a:cs typeface="Noto Sans SC"/>
                <a:sym typeface="Noto Sans SC"/>
              </a:rPr>
              <a:t>。</a:t>
            </a:r>
          </a:p>
        </p:txBody>
      </p:sp>
      <p:sp>
        <p:nvSpPr>
          <p:cNvPr id="67" name="AutoShape 19">
            <a:extLst>
              <a:ext uri="{FF2B5EF4-FFF2-40B4-BE49-F238E27FC236}">
                <a16:creationId xmlns:a16="http://schemas.microsoft.com/office/drawing/2014/main" id="{734F69F1-844D-0D72-834A-CEF174E74F20}"/>
              </a:ext>
            </a:extLst>
          </p:cNvPr>
          <p:cNvSpPr/>
          <p:nvPr/>
        </p:nvSpPr>
        <p:spPr>
          <a:xfrm>
            <a:off x="6223000" y="2709846"/>
            <a:ext cx="5207000" cy="1041400"/>
          </a:xfrm>
          <a:prstGeom prst="roundRect">
            <a:avLst>
              <a:gd name="adj" fmla="val 0"/>
            </a:avLst>
          </a:prstGeom>
          <a:solidFill>
            <a:srgbClr val="FFFFFF">
              <a:alpha val="0"/>
            </a:srgbClr>
          </a:solidFill>
          <a:ln w="25400" cap="flat" cmpd="sng">
            <a:solidFill>
              <a:schemeClr val="bg1"/>
            </a:solidFill>
            <a:prstDash val="solid"/>
            <a:round/>
          </a:ln>
        </p:spPr>
        <p:txBody>
          <a:bodyPr vert="horz" wrap="square" lIns="63500" tIns="63500" rIns="63500" bIns="63500" rtlCol="0" anchor="ctr"/>
          <a:lstStyle/>
          <a:p>
            <a:pPr algn="ctr">
              <a:defRPr/>
            </a:pPr>
            <a:endParaRPr/>
          </a:p>
        </p:txBody>
      </p:sp>
      <p:sp>
        <p:nvSpPr>
          <p:cNvPr id="71" name="AutoShape 21">
            <a:extLst>
              <a:ext uri="{FF2B5EF4-FFF2-40B4-BE49-F238E27FC236}">
                <a16:creationId xmlns:a16="http://schemas.microsoft.com/office/drawing/2014/main" id="{EE0AFF88-8910-3690-C785-B12268A59FA8}"/>
              </a:ext>
            </a:extLst>
          </p:cNvPr>
          <p:cNvSpPr/>
          <p:nvPr/>
        </p:nvSpPr>
        <p:spPr>
          <a:xfrm>
            <a:off x="6597650" y="2811446"/>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bg1"/>
                </a:solidFill>
                <a:latin typeface="Noto Sans SC"/>
                <a:ea typeface="Noto Sans SC"/>
                <a:cs typeface="Noto Sans SC"/>
                <a:sym typeface="Noto Sans SC"/>
              </a:rPr>
              <a:t>06 </a:t>
            </a:r>
            <a:r>
              <a:rPr lang="en-US" sz="2000" b="1" i="0" u="none" strike="noStrike" dirty="0" err="1">
                <a:solidFill>
                  <a:schemeClr val="bg1"/>
                </a:solidFill>
                <a:latin typeface="Noto Sans SC"/>
                <a:ea typeface="Noto Sans SC"/>
                <a:cs typeface="Noto Sans SC"/>
                <a:sym typeface="Noto Sans SC"/>
              </a:rPr>
              <a:t>智能待办</a:t>
            </a:r>
            <a:r>
              <a:rPr lang="en-US" sz="2000" b="1" i="0" u="none" strike="noStrike" dirty="0">
                <a:solidFill>
                  <a:schemeClr val="bg1"/>
                </a:solidFill>
                <a:latin typeface="Noto Sans SC"/>
                <a:ea typeface="Noto Sans SC"/>
                <a:cs typeface="Noto Sans SC"/>
                <a:sym typeface="Noto Sans SC"/>
              </a:rPr>
              <a:t> · </a:t>
            </a:r>
            <a:r>
              <a:rPr lang="en-US" sz="2000" b="1" i="0" u="none" strike="noStrike" dirty="0" err="1">
                <a:solidFill>
                  <a:schemeClr val="bg1"/>
                </a:solidFill>
                <a:latin typeface="Noto Sans SC"/>
                <a:ea typeface="Noto Sans SC"/>
                <a:cs typeface="Noto Sans SC"/>
                <a:sym typeface="Noto Sans SC"/>
              </a:rPr>
              <a:t>风险预警</a:t>
            </a:r>
            <a:endParaRPr lang="en-US" sz="1400" dirty="0">
              <a:solidFill>
                <a:schemeClr val="bg1"/>
              </a:solidFill>
            </a:endParaRPr>
          </a:p>
          <a:p>
            <a:pPr marL="0" indent="0" algn="l">
              <a:lnSpc>
                <a:spcPct val="108333"/>
              </a:lnSpc>
            </a:pPr>
            <a:r>
              <a:rPr lang="en-US" sz="1600" b="0" i="0" u="none" strike="noStrike" dirty="0" err="1">
                <a:solidFill>
                  <a:schemeClr val="bg1"/>
                </a:solidFill>
                <a:latin typeface="Noto Sans SC"/>
                <a:ea typeface="Noto Sans SC"/>
                <a:cs typeface="Noto Sans SC"/>
                <a:sym typeface="Noto Sans SC"/>
              </a:rPr>
              <a:t>全流程任务节点自动追踪，关键时限智能预警，杜绝工作遗漏</a:t>
            </a:r>
            <a:r>
              <a:rPr lang="en-US" sz="1600" b="0" i="0" u="none" strike="noStrike" dirty="0">
                <a:solidFill>
                  <a:schemeClr val="bg1"/>
                </a:solidFill>
                <a:latin typeface="Noto Sans SC"/>
                <a:ea typeface="Noto Sans SC"/>
                <a:cs typeface="Noto Sans SC"/>
                <a:sym typeface="Noto Sans SC"/>
              </a:rPr>
              <a:t>。</a:t>
            </a:r>
          </a:p>
        </p:txBody>
      </p:sp>
      <p:sp>
        <p:nvSpPr>
          <p:cNvPr id="79" name="AutoShape 25">
            <a:extLst>
              <a:ext uri="{FF2B5EF4-FFF2-40B4-BE49-F238E27FC236}">
                <a16:creationId xmlns:a16="http://schemas.microsoft.com/office/drawing/2014/main" id="{00094294-8DB0-AA89-BFBD-7D129B155FF8}"/>
              </a:ext>
            </a:extLst>
          </p:cNvPr>
          <p:cNvSpPr/>
          <p:nvPr/>
        </p:nvSpPr>
        <p:spPr>
          <a:xfrm>
            <a:off x="6223000" y="4179085"/>
            <a:ext cx="5207000" cy="1041400"/>
          </a:xfrm>
          <a:prstGeom prst="roundRect">
            <a:avLst>
              <a:gd name="adj" fmla="val 0"/>
            </a:avLst>
          </a:prstGeom>
          <a:solidFill>
            <a:srgbClr val="FFFFFF">
              <a:alpha val="8000"/>
            </a:srgbClr>
          </a:solidFill>
          <a:ln w="25400" cap="flat" cmpd="sng">
            <a:solidFill>
              <a:srgbClr val="C00000"/>
            </a:solidFill>
            <a:prstDash val="solid"/>
            <a:round/>
          </a:ln>
        </p:spPr>
        <p:txBody>
          <a:bodyPr vert="horz" wrap="square" lIns="63500" tIns="63500" rIns="63500" bIns="63500" rtlCol="0" anchor="ctr"/>
          <a:lstStyle/>
          <a:p>
            <a:pPr algn="ctr">
              <a:defRPr/>
            </a:pPr>
            <a:endParaRPr dirty="0"/>
          </a:p>
        </p:txBody>
      </p:sp>
      <p:sp>
        <p:nvSpPr>
          <p:cNvPr id="83" name="AutoShape 27">
            <a:extLst>
              <a:ext uri="{FF2B5EF4-FFF2-40B4-BE49-F238E27FC236}">
                <a16:creationId xmlns:a16="http://schemas.microsoft.com/office/drawing/2014/main" id="{02EF959B-0881-013A-EAC9-4755F2AA304A}"/>
              </a:ext>
            </a:extLst>
          </p:cNvPr>
          <p:cNvSpPr/>
          <p:nvPr/>
        </p:nvSpPr>
        <p:spPr>
          <a:xfrm>
            <a:off x="6597650" y="4255285"/>
            <a:ext cx="47053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07 </a:t>
            </a:r>
            <a:r>
              <a:rPr lang="en-US" sz="2000" b="1" i="0" u="none" strike="noStrike" dirty="0" err="1">
                <a:latin typeface="Noto Sans SC"/>
                <a:ea typeface="Noto Sans SC"/>
                <a:cs typeface="Noto Sans SC"/>
                <a:sym typeface="Noto Sans SC"/>
              </a:rPr>
              <a:t>多模导入</a:t>
            </a:r>
            <a:r>
              <a:rPr lang="en-US" sz="2000" b="1" i="0" u="none" strike="noStrike" dirty="0">
                <a:latin typeface="Noto Sans SC"/>
                <a:ea typeface="Noto Sans SC"/>
                <a:cs typeface="Noto Sans SC"/>
                <a:sym typeface="Noto Sans SC"/>
              </a:rPr>
              <a:t> · </a:t>
            </a:r>
            <a:r>
              <a:rPr lang="en-US" sz="2000" b="1" i="0" u="none" strike="noStrike" dirty="0" err="1">
                <a:latin typeface="Noto Sans SC"/>
                <a:ea typeface="Noto Sans SC"/>
                <a:cs typeface="Noto Sans SC"/>
                <a:sym typeface="Noto Sans SC"/>
              </a:rPr>
              <a:t>高效归集</a:t>
            </a:r>
            <a:endParaRPr lang="en-US" sz="1400" dirty="0"/>
          </a:p>
          <a:p>
            <a:pPr marL="0" indent="0" algn="l">
              <a:lnSpc>
                <a:spcPct val="108333"/>
              </a:lnSpc>
            </a:pPr>
            <a:r>
              <a:rPr lang="en-US" sz="1600" b="0" i="0" u="none" strike="noStrike" dirty="0" err="1">
                <a:latin typeface="Noto Sans SC"/>
                <a:ea typeface="Noto Sans SC"/>
                <a:cs typeface="Noto Sans SC"/>
                <a:sym typeface="Noto Sans SC"/>
              </a:rPr>
              <a:t>支持文档、图片等多格式材料批量上传，自动解析关键信息</a:t>
            </a:r>
            <a:r>
              <a:rPr lang="en-US" sz="1600" b="0" i="0" u="none" strike="noStrike" dirty="0">
                <a:latin typeface="Noto Sans SC"/>
                <a:ea typeface="Noto Sans SC"/>
                <a:cs typeface="Noto Sans SC"/>
                <a:sym typeface="Noto Sans SC"/>
              </a:rPr>
              <a:t>。</a:t>
            </a:r>
          </a:p>
        </p:txBody>
      </p:sp>
      <p:pic>
        <p:nvPicPr>
          <p:cNvPr id="7" name="图片 6">
            <a:extLst>
              <a:ext uri="{FF2B5EF4-FFF2-40B4-BE49-F238E27FC236}">
                <a16:creationId xmlns:a16="http://schemas.microsoft.com/office/drawing/2014/main" id="{BCBABBEF-0431-6ED7-2F18-89CACEAC774A}"/>
              </a:ext>
            </a:extLst>
          </p:cNvPr>
          <p:cNvPicPr>
            <a:picLocks noChangeAspect="1"/>
          </p:cNvPicPr>
          <p:nvPr/>
        </p:nvPicPr>
        <p:blipFill>
          <a:blip r:embed="rId3"/>
          <a:stretch>
            <a:fillRect/>
          </a:stretch>
        </p:blipFill>
        <p:spPr>
          <a:xfrm>
            <a:off x="193381" y="1566061"/>
            <a:ext cx="5859284" cy="3492560"/>
          </a:xfrm>
          <a:prstGeom prst="rect">
            <a:avLst/>
          </a:prstGeom>
        </p:spPr>
      </p:pic>
    </p:spTree>
    <p:extLst>
      <p:ext uri="{BB962C8B-B14F-4D97-AF65-F5344CB8AC3E}">
        <p14:creationId xmlns:p14="http://schemas.microsoft.com/office/powerpoint/2010/main" val="20628539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3625229F-06A7-4A07-AA80-CDD4BEC86D86}"/>
              </a:ext>
            </a:extLst>
          </p:cNvPr>
          <p:cNvSpPr txBox="1"/>
          <p:nvPr/>
        </p:nvSpPr>
        <p:spPr>
          <a:xfrm>
            <a:off x="2715842" y="1184000"/>
            <a:ext cx="6626965" cy="661015"/>
          </a:xfrm>
          <a:prstGeom prst="rect">
            <a:avLst/>
          </a:prstGeom>
          <a:noFill/>
        </p:spPr>
        <p:txBody>
          <a:bodyPr wrap="square" rtlCol="0">
            <a:spAutoFit/>
          </a:bodyPr>
          <a:lstStyle/>
          <a:p>
            <a:pPr algn="ctr">
              <a:lnSpc>
                <a:spcPct val="125000"/>
              </a:lnSpc>
              <a:defRPr/>
            </a:pPr>
            <a:r>
              <a:rPr lang="en-US" altLang="zh-CN" sz="3200" b="1" dirty="0" err="1">
                <a:latin typeface="Noto Sans SC"/>
                <a:ea typeface="Noto Sans SC"/>
                <a:cs typeface="Noto Sans SC"/>
                <a:sym typeface="Noto Sans SC"/>
              </a:rPr>
              <a:t>文书智能体</a:t>
            </a:r>
            <a:r>
              <a:rPr lang="en-US" altLang="zh-CN" sz="3200" b="1" dirty="0" err="1">
                <a:solidFill>
                  <a:srgbClr val="C00000"/>
                </a:solidFill>
                <a:latin typeface="Noto Sans SC"/>
                <a:ea typeface="Noto Sans SC"/>
                <a:cs typeface="Noto Sans SC"/>
                <a:sym typeface="Noto Sans SC"/>
              </a:rPr>
              <a:t>「小元</a:t>
            </a:r>
            <a:r>
              <a:rPr lang="en-US" altLang="zh-CN" sz="3200" b="1" dirty="0">
                <a:solidFill>
                  <a:srgbClr val="C00000"/>
                </a:solidFill>
                <a:latin typeface="Noto Sans SC"/>
                <a:ea typeface="Noto Sans SC"/>
                <a:cs typeface="Noto Sans SC"/>
                <a:sym typeface="Noto Sans SC"/>
              </a:rPr>
              <a:t>」</a:t>
            </a:r>
            <a:r>
              <a:rPr lang="en-US" altLang="zh-CN" sz="3200" b="1" dirty="0">
                <a:latin typeface="Noto Sans SC"/>
                <a:ea typeface="Noto Sans SC"/>
                <a:cs typeface="Noto Sans SC"/>
                <a:sym typeface="Noto Sans SC"/>
              </a:rPr>
              <a:t>：</a:t>
            </a:r>
            <a:r>
              <a:rPr lang="en-US" altLang="zh-CN" sz="3200" b="1" dirty="0" err="1">
                <a:latin typeface="Noto Sans SC"/>
                <a:ea typeface="Noto Sans SC"/>
                <a:cs typeface="Noto Sans SC"/>
                <a:sym typeface="Noto Sans SC"/>
              </a:rPr>
              <a:t>端到端闭环</a:t>
            </a:r>
            <a:endParaRPr lang="en-US" altLang="zh-CN" sz="1600" dirty="0"/>
          </a:p>
        </p:txBody>
      </p:sp>
      <p:sp>
        <p:nvSpPr>
          <p:cNvPr id="28" name="矩形 27">
            <a:extLst>
              <a:ext uri="{FF2B5EF4-FFF2-40B4-BE49-F238E27FC236}">
                <a16:creationId xmlns:a16="http://schemas.microsoft.com/office/drawing/2014/main" id="{11920059-6165-4C43-AE1E-EAC3F91E287E}"/>
              </a:ext>
            </a:extLst>
          </p:cNvPr>
          <p:cNvSpPr/>
          <p:nvPr/>
        </p:nvSpPr>
        <p:spPr>
          <a:xfrm>
            <a:off x="0" y="5991853"/>
            <a:ext cx="12192000" cy="866146"/>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DD9DBE7A-97F1-4481-BFB3-1F74F212AC76}"/>
              </a:ext>
            </a:extLst>
          </p:cNvPr>
          <p:cNvGrpSpPr/>
          <p:nvPr/>
        </p:nvGrpSpPr>
        <p:grpSpPr>
          <a:xfrm>
            <a:off x="10235393" y="6252974"/>
            <a:ext cx="804972" cy="315205"/>
            <a:chOff x="7782560" y="1656080"/>
            <a:chExt cx="1553203" cy="405350"/>
          </a:xfrm>
        </p:grpSpPr>
        <p:cxnSp>
          <p:nvCxnSpPr>
            <p:cNvPr id="30" name="直接连接符 29">
              <a:extLst>
                <a:ext uri="{FF2B5EF4-FFF2-40B4-BE49-F238E27FC236}">
                  <a16:creationId xmlns:a16="http://schemas.microsoft.com/office/drawing/2014/main" id="{3FB6815F-4826-4417-AC0A-66E5DFA5B9C1}"/>
                </a:ext>
              </a:extLst>
            </p:cNvPr>
            <p:cNvCxnSpPr/>
            <p:nvPr/>
          </p:nvCxnSpPr>
          <p:spPr>
            <a:xfrm>
              <a:off x="7782560" y="1656080"/>
              <a:ext cx="15532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F89A15F9-A19B-485A-8272-C90FF9A942A8}"/>
                </a:ext>
              </a:extLst>
            </p:cNvPr>
            <p:cNvCxnSpPr/>
            <p:nvPr/>
          </p:nvCxnSpPr>
          <p:spPr>
            <a:xfrm>
              <a:off x="7782560" y="1838960"/>
              <a:ext cx="15532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0541B430-60A4-45E4-8751-04CD98E77EB2}"/>
                </a:ext>
              </a:extLst>
            </p:cNvPr>
            <p:cNvCxnSpPr/>
            <p:nvPr/>
          </p:nvCxnSpPr>
          <p:spPr>
            <a:xfrm>
              <a:off x="7782560" y="2061430"/>
              <a:ext cx="15532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4" name="矩形 33">
            <a:extLst>
              <a:ext uri="{FF2B5EF4-FFF2-40B4-BE49-F238E27FC236}">
                <a16:creationId xmlns:a16="http://schemas.microsoft.com/office/drawing/2014/main" id="{120CBC80-27B9-FCD7-3D40-B35FA4F5C6BF}"/>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6" name="平行四边形 35">
            <a:extLst>
              <a:ext uri="{FF2B5EF4-FFF2-40B4-BE49-F238E27FC236}">
                <a16:creationId xmlns:a16="http://schemas.microsoft.com/office/drawing/2014/main" id="{734ED3AF-A243-70D3-823E-051B33B3BA21}"/>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平行四边形 37">
            <a:extLst>
              <a:ext uri="{FF2B5EF4-FFF2-40B4-BE49-F238E27FC236}">
                <a16:creationId xmlns:a16="http://schemas.microsoft.com/office/drawing/2014/main" id="{87EE6DDE-419E-8240-AEB6-A0D9904629E8}"/>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FD781CF-D41E-AE46-B00D-18A8574AEABD}"/>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功能介绍</a:t>
            </a:r>
            <a:endParaRPr lang="en-US" altLang="zh-CN" sz="3600" dirty="0"/>
          </a:p>
        </p:txBody>
      </p:sp>
      <p:pic>
        <p:nvPicPr>
          <p:cNvPr id="42" name="图片 41">
            <a:extLst>
              <a:ext uri="{FF2B5EF4-FFF2-40B4-BE49-F238E27FC236}">
                <a16:creationId xmlns:a16="http://schemas.microsoft.com/office/drawing/2014/main" id="{E7F5B443-8AD0-4301-927C-943EAE91FD1D}"/>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5" name="文本框 34">
            <a:extLst>
              <a:ext uri="{FF2B5EF4-FFF2-40B4-BE49-F238E27FC236}">
                <a16:creationId xmlns:a16="http://schemas.microsoft.com/office/drawing/2014/main" id="{C8E66E84-9486-5DFE-7DC4-2744F2567EE8}"/>
              </a:ext>
            </a:extLst>
          </p:cNvPr>
          <p:cNvSpPr txBox="1"/>
          <p:nvPr/>
        </p:nvSpPr>
        <p:spPr>
          <a:xfrm>
            <a:off x="634012" y="6104882"/>
            <a:ext cx="6221002" cy="589970"/>
          </a:xfrm>
          <a:prstGeom prst="rect">
            <a:avLst/>
          </a:prstGeom>
          <a:noFill/>
        </p:spPr>
        <p:txBody>
          <a:bodyPr wrap="square">
            <a:spAutoFit/>
          </a:bodyPr>
          <a:lstStyle/>
          <a:p>
            <a:pPr>
              <a:lnSpc>
                <a:spcPct val="125000"/>
              </a:lnSpc>
              <a:defRPr/>
            </a:pPr>
            <a:r>
              <a:rPr lang="en-US" altLang="zh-CN" sz="2800" b="1" dirty="0" err="1">
                <a:solidFill>
                  <a:schemeClr val="bg1"/>
                </a:solidFill>
                <a:latin typeface="Noto Sans SC"/>
                <a:ea typeface="Noto Sans SC"/>
                <a:cs typeface="Noto Sans SC"/>
                <a:sym typeface="Noto Sans SC"/>
              </a:rPr>
              <a:t>法元</a:t>
            </a:r>
            <a:r>
              <a:rPr lang="en-US" altLang="zh-CN" sz="2800" b="1" dirty="0">
                <a:solidFill>
                  <a:schemeClr val="bg1"/>
                </a:solidFill>
                <a:latin typeface="Noto Sans SC"/>
                <a:ea typeface="Noto Sans SC"/>
                <a:cs typeface="Noto Sans SC"/>
                <a:sym typeface="Noto Sans SC"/>
              </a:rPr>
              <a:t> · Faron</a:t>
            </a:r>
            <a:endParaRPr lang="en-US" altLang="zh-CN" sz="2800" dirty="0">
              <a:solidFill>
                <a:schemeClr val="bg1"/>
              </a:solidFill>
            </a:endParaRPr>
          </a:p>
        </p:txBody>
      </p:sp>
      <p:pic>
        <p:nvPicPr>
          <p:cNvPr id="55" name="Picture 6">
            <a:extLst>
              <a:ext uri="{FF2B5EF4-FFF2-40B4-BE49-F238E27FC236}">
                <a16:creationId xmlns:a16="http://schemas.microsoft.com/office/drawing/2014/main" id="{9D08421C-45C0-6C13-4B42-3968A2C793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357" y="2180440"/>
            <a:ext cx="304800" cy="304800"/>
          </a:xfrm>
          <a:prstGeom prst="rect">
            <a:avLst/>
          </a:prstGeom>
        </p:spPr>
      </p:pic>
      <p:sp>
        <p:nvSpPr>
          <p:cNvPr id="57" name="AutoShape 7">
            <a:extLst>
              <a:ext uri="{FF2B5EF4-FFF2-40B4-BE49-F238E27FC236}">
                <a16:creationId xmlns:a16="http://schemas.microsoft.com/office/drawing/2014/main" id="{A437EECC-CB4E-39B8-1DBD-88FC3AD38833}"/>
              </a:ext>
            </a:extLst>
          </p:cNvPr>
          <p:cNvSpPr/>
          <p:nvPr/>
        </p:nvSpPr>
        <p:spPr>
          <a:xfrm>
            <a:off x="1219757" y="215504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a:latin typeface="Noto Sans SC"/>
                <a:ea typeface="Noto Sans SC"/>
                <a:cs typeface="Noto Sans SC"/>
                <a:sym typeface="Noto Sans SC"/>
              </a:rPr>
              <a:t>5 </a:t>
            </a:r>
            <a:r>
              <a:rPr lang="en-US" b="1" i="0" u="none" strike="noStrike" dirty="0" err="1">
                <a:latin typeface="Noto Sans SC"/>
                <a:ea typeface="Noto Sans SC"/>
                <a:cs typeface="Noto Sans SC"/>
                <a:sym typeface="Noto Sans SC"/>
              </a:rPr>
              <a:t>类核心任务</a:t>
            </a:r>
            <a:r>
              <a:rPr lang="en-US" b="1" i="0" u="none" strike="noStrike" dirty="0">
                <a:latin typeface="Noto Sans SC"/>
                <a:ea typeface="Noto Sans SC"/>
                <a:cs typeface="Noto Sans SC"/>
                <a:sym typeface="Noto Sans SC"/>
              </a:rPr>
              <a:t> (v0.7.3)</a:t>
            </a:r>
            <a:endParaRPr lang="en-US" sz="1200" dirty="0"/>
          </a:p>
        </p:txBody>
      </p:sp>
      <p:sp>
        <p:nvSpPr>
          <p:cNvPr id="59" name="AutoShape 8">
            <a:extLst>
              <a:ext uri="{FF2B5EF4-FFF2-40B4-BE49-F238E27FC236}">
                <a16:creationId xmlns:a16="http://schemas.microsoft.com/office/drawing/2014/main" id="{0BCE3188-8C45-3CBF-FB7F-FE4B5C616E8B}"/>
              </a:ext>
            </a:extLst>
          </p:cNvPr>
          <p:cNvSpPr/>
          <p:nvPr/>
        </p:nvSpPr>
        <p:spPr>
          <a:xfrm>
            <a:off x="813357" y="2638610"/>
            <a:ext cx="3226216" cy="1356101"/>
          </a:xfrm>
          <a:prstGeom prst="rect">
            <a:avLst/>
          </a:prstGeom>
          <a:noFill/>
          <a:ln w="12700" cap="flat" cmpd="sng">
            <a:noFill/>
            <a:prstDash val="solid"/>
            <a:round/>
          </a:ln>
        </p:spPr>
        <p:txBody>
          <a:bodyPr vert="horz" wrap="square" lIns="0" tIns="0" rIns="0" bIns="0" rtlCol="0" anchor="ctr" anchorCtr="0"/>
          <a:lstStyle/>
          <a:p>
            <a:pPr>
              <a:defRPr/>
            </a:pPr>
            <a:r>
              <a:rPr lang="en-US" sz="1400" b="0" i="0" u="none" strike="noStrike" dirty="0">
                <a:latin typeface="Noto Sans SC"/>
                <a:ea typeface="Noto Sans SC"/>
                <a:cs typeface="Noto Sans SC"/>
                <a:sym typeface="Noto Sans SC"/>
              </a:rPr>
              <a:t>覆盖合同审查、起诉状、证据目录、质证意见、代理词五大高频法律文书场景，精准匹配实务需求，一键生成专业合规的初稿，大幅缩减起草时间</a:t>
            </a:r>
            <a:r>
              <a:rPr lang="zh-CN" altLang="en-US" sz="1400" b="0" i="0" u="none" strike="noStrike" dirty="0">
                <a:latin typeface="Noto Sans SC"/>
                <a:ea typeface="Noto Sans SC"/>
                <a:cs typeface="Noto Sans SC"/>
                <a:sym typeface="Noto Sans SC"/>
              </a:rPr>
              <a:t>。</a:t>
            </a:r>
            <a:endParaRPr lang="en-US" sz="1200" dirty="0"/>
          </a:p>
        </p:txBody>
      </p:sp>
      <p:pic>
        <p:nvPicPr>
          <p:cNvPr id="63" name="Picture 10">
            <a:extLst>
              <a:ext uri="{FF2B5EF4-FFF2-40B4-BE49-F238E27FC236}">
                <a16:creationId xmlns:a16="http://schemas.microsoft.com/office/drawing/2014/main" id="{D7BD296C-A9EA-0875-B222-ACA1220B4D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3357" y="4172961"/>
            <a:ext cx="304800" cy="304800"/>
          </a:xfrm>
          <a:prstGeom prst="rect">
            <a:avLst/>
          </a:prstGeom>
        </p:spPr>
      </p:pic>
      <p:sp>
        <p:nvSpPr>
          <p:cNvPr id="65" name="AutoShape 11">
            <a:extLst>
              <a:ext uri="{FF2B5EF4-FFF2-40B4-BE49-F238E27FC236}">
                <a16:creationId xmlns:a16="http://schemas.microsoft.com/office/drawing/2014/main" id="{E9DB109A-BB9F-6738-540E-AD6659F413D1}"/>
              </a:ext>
            </a:extLst>
          </p:cNvPr>
          <p:cNvSpPr/>
          <p:nvPr/>
        </p:nvSpPr>
        <p:spPr>
          <a:xfrm>
            <a:off x="1219757" y="4147561"/>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人机协同</a:t>
            </a:r>
            <a:r>
              <a:rPr lang="en-US" b="1" i="0" u="none" strike="noStrike" dirty="0">
                <a:latin typeface="Noto Sans SC"/>
                <a:ea typeface="Noto Sans SC"/>
                <a:cs typeface="Noto Sans SC"/>
                <a:sym typeface="Noto Sans SC"/>
              </a:rPr>
              <a:t> · </a:t>
            </a:r>
            <a:r>
              <a:rPr lang="en-US" b="1" i="0" u="none" strike="noStrike" dirty="0" err="1">
                <a:latin typeface="Noto Sans SC"/>
                <a:ea typeface="Noto Sans SC"/>
                <a:cs typeface="Noto Sans SC"/>
                <a:sym typeface="Noto Sans SC"/>
              </a:rPr>
              <a:t>可控可溯</a:t>
            </a:r>
            <a:endParaRPr lang="en-US" sz="1200" dirty="0"/>
          </a:p>
        </p:txBody>
      </p:sp>
      <p:sp>
        <p:nvSpPr>
          <p:cNvPr id="67" name="AutoShape 12">
            <a:extLst>
              <a:ext uri="{FF2B5EF4-FFF2-40B4-BE49-F238E27FC236}">
                <a16:creationId xmlns:a16="http://schemas.microsoft.com/office/drawing/2014/main" id="{60C65992-F9C0-85F8-4750-5E566D8EDB0E}"/>
              </a:ext>
            </a:extLst>
          </p:cNvPr>
          <p:cNvSpPr/>
          <p:nvPr/>
        </p:nvSpPr>
        <p:spPr>
          <a:xfrm>
            <a:off x="813357" y="4539432"/>
            <a:ext cx="3226217"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latin typeface="Noto Sans SC"/>
                <a:ea typeface="Noto Sans SC"/>
                <a:cs typeface="Noto Sans SC"/>
                <a:sym typeface="Noto Sans SC"/>
              </a:rPr>
              <a:t>设置人工确认闸门，关键节点可暂停、续跑；支持任务历史载入续跑，确保过程透明、结果可控，兼顾效率与严谨。</a:t>
            </a:r>
            <a:endParaRPr lang="en-US" sz="1200"/>
          </a:p>
        </p:txBody>
      </p:sp>
      <p:pic>
        <p:nvPicPr>
          <p:cNvPr id="71" name="Picture 14">
            <a:extLst>
              <a:ext uri="{FF2B5EF4-FFF2-40B4-BE49-F238E27FC236}">
                <a16:creationId xmlns:a16="http://schemas.microsoft.com/office/drawing/2014/main" id="{76407713-DAE2-7C62-ABC6-3629EDD1D2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557" y="2180440"/>
            <a:ext cx="304800" cy="304800"/>
          </a:xfrm>
          <a:prstGeom prst="rect">
            <a:avLst/>
          </a:prstGeom>
        </p:spPr>
      </p:pic>
      <p:sp>
        <p:nvSpPr>
          <p:cNvPr id="73" name="AutoShape 15">
            <a:extLst>
              <a:ext uri="{FF2B5EF4-FFF2-40B4-BE49-F238E27FC236}">
                <a16:creationId xmlns:a16="http://schemas.microsoft.com/office/drawing/2014/main" id="{91620249-972D-5484-C1FF-7CAD4AA821AA}"/>
              </a:ext>
            </a:extLst>
          </p:cNvPr>
          <p:cNvSpPr/>
          <p:nvPr/>
        </p:nvSpPr>
        <p:spPr>
          <a:xfrm>
            <a:off x="4851957" y="215504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全流程闭环自动化</a:t>
            </a:r>
            <a:endParaRPr lang="en-US" sz="1200" dirty="0"/>
          </a:p>
        </p:txBody>
      </p:sp>
      <p:sp>
        <p:nvSpPr>
          <p:cNvPr id="75" name="AutoShape 16">
            <a:extLst>
              <a:ext uri="{FF2B5EF4-FFF2-40B4-BE49-F238E27FC236}">
                <a16:creationId xmlns:a16="http://schemas.microsoft.com/office/drawing/2014/main" id="{6374136D-58E7-19B2-C749-EF490090FC35}"/>
              </a:ext>
            </a:extLst>
          </p:cNvPr>
          <p:cNvSpPr/>
          <p:nvPr/>
        </p:nvSpPr>
        <p:spPr>
          <a:xfrm>
            <a:off x="4498751" y="2431919"/>
            <a:ext cx="3226216"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latin typeface="Noto Sans SC"/>
                <a:ea typeface="Noto Sans SC"/>
                <a:cs typeface="Noto Sans SC"/>
                <a:sym typeface="Noto Sans SC"/>
              </a:rPr>
              <a:t>实现从听懂委托到生成交付文档全链路闭环。内置确定性引用自检与知识图谱二段校验，确保输出内容的准确性与合规性</a:t>
            </a:r>
            <a:r>
              <a:rPr lang="en-US" sz="1400" b="0" i="0" u="none" strike="noStrike" dirty="0">
                <a:latin typeface="Noto Sans SC"/>
                <a:ea typeface="Noto Sans SC"/>
                <a:cs typeface="Noto Sans SC"/>
                <a:sym typeface="Noto Sans SC"/>
              </a:rPr>
              <a:t>。</a:t>
            </a:r>
            <a:endParaRPr lang="en-US" sz="1200" dirty="0"/>
          </a:p>
        </p:txBody>
      </p:sp>
      <p:pic>
        <p:nvPicPr>
          <p:cNvPr id="79" name="Picture 18">
            <a:extLst>
              <a:ext uri="{FF2B5EF4-FFF2-40B4-BE49-F238E27FC236}">
                <a16:creationId xmlns:a16="http://schemas.microsoft.com/office/drawing/2014/main" id="{19E753C7-75B4-F99E-945E-F8D756055C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45557" y="4172961"/>
            <a:ext cx="304800" cy="304800"/>
          </a:xfrm>
          <a:prstGeom prst="rect">
            <a:avLst/>
          </a:prstGeom>
        </p:spPr>
      </p:pic>
      <p:sp>
        <p:nvSpPr>
          <p:cNvPr id="81" name="AutoShape 19">
            <a:extLst>
              <a:ext uri="{FF2B5EF4-FFF2-40B4-BE49-F238E27FC236}">
                <a16:creationId xmlns:a16="http://schemas.microsoft.com/office/drawing/2014/main" id="{CF3EA8F1-9A20-B359-9684-D45C5549217D}"/>
              </a:ext>
            </a:extLst>
          </p:cNvPr>
          <p:cNvSpPr/>
          <p:nvPr/>
        </p:nvSpPr>
        <p:spPr>
          <a:xfrm>
            <a:off x="4851957" y="4147561"/>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知识图谱</a:t>
            </a:r>
            <a:r>
              <a:rPr lang="en-US" b="1" i="0" u="none" strike="noStrike" dirty="0">
                <a:latin typeface="Noto Sans SC"/>
                <a:ea typeface="Noto Sans SC"/>
                <a:cs typeface="Noto Sans SC"/>
                <a:sym typeface="Noto Sans SC"/>
              </a:rPr>
              <a:t> · </a:t>
            </a:r>
            <a:r>
              <a:rPr lang="en-US" b="1" i="0" u="none" strike="noStrike" dirty="0" err="1">
                <a:latin typeface="Noto Sans SC"/>
                <a:ea typeface="Noto Sans SC"/>
                <a:cs typeface="Noto Sans SC"/>
                <a:sym typeface="Noto Sans SC"/>
              </a:rPr>
              <a:t>智能规划</a:t>
            </a:r>
            <a:endParaRPr lang="en-US" sz="1200" dirty="0"/>
          </a:p>
        </p:txBody>
      </p:sp>
      <p:sp>
        <p:nvSpPr>
          <p:cNvPr id="83" name="AutoShape 20">
            <a:extLst>
              <a:ext uri="{FF2B5EF4-FFF2-40B4-BE49-F238E27FC236}">
                <a16:creationId xmlns:a16="http://schemas.microsoft.com/office/drawing/2014/main" id="{C6024454-1BCF-73A0-3969-DA77B1EB8D0B}"/>
              </a:ext>
            </a:extLst>
          </p:cNvPr>
          <p:cNvSpPr/>
          <p:nvPr/>
        </p:nvSpPr>
        <p:spPr>
          <a:xfrm>
            <a:off x="4445557" y="4539432"/>
            <a:ext cx="3226217"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latin typeface="Noto Sans SC"/>
                <a:ea typeface="Noto Sans SC"/>
                <a:cs typeface="Noto Sans SC"/>
                <a:sym typeface="Noto Sans SC"/>
              </a:rPr>
              <a:t>基于案由骨架驱动规划，确保法律要件无遗漏；采用候选边人工确认机制，让知识图谱随使用持续进化，越用越聪明。</a:t>
            </a:r>
            <a:endParaRPr lang="en-US" sz="1200"/>
          </a:p>
        </p:txBody>
      </p:sp>
      <p:pic>
        <p:nvPicPr>
          <p:cNvPr id="87" name="Picture 22">
            <a:extLst>
              <a:ext uri="{FF2B5EF4-FFF2-40B4-BE49-F238E27FC236}">
                <a16:creationId xmlns:a16="http://schemas.microsoft.com/office/drawing/2014/main" id="{E813D1CC-3C4F-0B30-EAFA-CD5FA6D82E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77757" y="2180440"/>
            <a:ext cx="304800" cy="304800"/>
          </a:xfrm>
          <a:prstGeom prst="rect">
            <a:avLst/>
          </a:prstGeom>
        </p:spPr>
      </p:pic>
      <p:sp>
        <p:nvSpPr>
          <p:cNvPr id="89" name="AutoShape 23">
            <a:extLst>
              <a:ext uri="{FF2B5EF4-FFF2-40B4-BE49-F238E27FC236}">
                <a16:creationId xmlns:a16="http://schemas.microsoft.com/office/drawing/2014/main" id="{6212E41D-658E-7542-F96E-69021B0EBE75}"/>
              </a:ext>
            </a:extLst>
          </p:cNvPr>
          <p:cNvSpPr/>
          <p:nvPr/>
        </p:nvSpPr>
        <p:spPr>
          <a:xfrm>
            <a:off x="8484157" y="215504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多模态材料兼容</a:t>
            </a:r>
            <a:endParaRPr lang="en-US" sz="1200" dirty="0"/>
          </a:p>
        </p:txBody>
      </p:sp>
      <p:sp>
        <p:nvSpPr>
          <p:cNvPr id="91" name="AutoShape 24">
            <a:extLst>
              <a:ext uri="{FF2B5EF4-FFF2-40B4-BE49-F238E27FC236}">
                <a16:creationId xmlns:a16="http://schemas.microsoft.com/office/drawing/2014/main" id="{0698ED67-EB63-4485-C18A-294F9A4ACCEF}"/>
              </a:ext>
            </a:extLst>
          </p:cNvPr>
          <p:cNvSpPr/>
          <p:nvPr/>
        </p:nvSpPr>
        <p:spPr>
          <a:xfrm>
            <a:off x="8130951" y="2431919"/>
            <a:ext cx="3226216" cy="1524000"/>
          </a:xfrm>
          <a:prstGeom prst="rect">
            <a:avLst/>
          </a:prstGeom>
          <a:noFill/>
          <a:ln w="12700" cap="flat" cmpd="sng">
            <a:noFill/>
            <a:prstDash val="solid"/>
            <a:round/>
          </a:ln>
        </p:spPr>
        <p:txBody>
          <a:bodyPr vert="horz" wrap="square" lIns="0" tIns="0" rIns="0" bIns="0" rtlCol="0" anchor="ctr" anchorCtr="0"/>
          <a:lstStyle/>
          <a:p>
            <a:pPr>
              <a:lnSpc>
                <a:spcPct val="116666"/>
              </a:lnSpc>
              <a:defRPr/>
            </a:pPr>
            <a:r>
              <a:rPr lang="en-US" altLang="zh-CN" sz="1400" dirty="0" err="1">
                <a:latin typeface="Noto Sans SC"/>
                <a:ea typeface="Noto Sans SC"/>
                <a:cs typeface="Noto Sans SC"/>
                <a:sym typeface="Noto Sans SC"/>
              </a:rPr>
              <a:t>通过智能解析技术</a:t>
            </a:r>
            <a:r>
              <a:rPr lang="zh-CN" altLang="en-US" sz="1400" dirty="0">
                <a:latin typeface="Noto Sans SC"/>
                <a:ea typeface="Noto Sans SC"/>
                <a:cs typeface="Noto Sans SC"/>
                <a:sym typeface="Noto Sans SC"/>
              </a:rPr>
              <a:t>的</a:t>
            </a:r>
            <a:r>
              <a:rPr lang="en-US" altLang="zh-CN" sz="1400" dirty="0" err="1">
                <a:latin typeface="Noto Sans SC"/>
                <a:ea typeface="Noto Sans SC"/>
                <a:cs typeface="Noto Sans SC"/>
                <a:sym typeface="Noto Sans SC"/>
              </a:rPr>
              <a:t>自动提取</a:t>
            </a:r>
            <a:r>
              <a:rPr lang="zh-CN" altLang="en-US" sz="1400" dirty="0">
                <a:latin typeface="Noto Sans SC"/>
                <a:ea typeface="Noto Sans SC"/>
                <a:cs typeface="Noto Sans SC"/>
                <a:sym typeface="Noto Sans SC"/>
              </a:rPr>
              <a:t>功能</a:t>
            </a:r>
            <a:r>
              <a:rPr lang="zh-CN" altLang="en-US" sz="1400" b="0" i="0" u="none" strike="noStrike" dirty="0">
                <a:latin typeface="Noto Sans SC"/>
                <a:ea typeface="Noto Sans SC"/>
                <a:cs typeface="Noto Sans SC"/>
                <a:sym typeface="Noto Sans SC"/>
              </a:rPr>
              <a:t>实现</a:t>
            </a:r>
            <a:r>
              <a:rPr lang="en-US" altLang="zh-CN" sz="1400" b="0" i="0" u="none" strike="noStrike" dirty="0">
                <a:latin typeface="Noto Sans SC"/>
                <a:ea typeface="Noto Sans SC"/>
                <a:cs typeface="Noto Sans SC"/>
                <a:sym typeface="Noto Sans SC"/>
              </a:rPr>
              <a:t>PDF</a:t>
            </a:r>
            <a:r>
              <a:rPr lang="zh-CN" altLang="en-US" sz="1400" b="0" i="0" u="none" strike="noStrike" dirty="0">
                <a:latin typeface="Noto Sans SC"/>
                <a:ea typeface="Noto Sans SC"/>
                <a:cs typeface="Noto Sans SC"/>
                <a:sym typeface="Noto Sans SC"/>
              </a:rPr>
              <a:t>、</a:t>
            </a:r>
            <a:r>
              <a:rPr lang="en-US" altLang="zh-CN" sz="1400" b="0" i="0" u="none" strike="noStrike" dirty="0">
                <a:latin typeface="Noto Sans SC"/>
                <a:ea typeface="Noto Sans SC"/>
                <a:cs typeface="Noto Sans SC"/>
                <a:sym typeface="Noto Sans SC"/>
              </a:rPr>
              <a:t>DOCX</a:t>
            </a:r>
            <a:r>
              <a:rPr lang="zh-CN" altLang="en-US" sz="1400" b="0" i="0" u="none" strike="noStrike" dirty="0">
                <a:latin typeface="Noto Sans SC"/>
                <a:ea typeface="Noto Sans SC"/>
                <a:cs typeface="Noto Sans SC"/>
                <a:sym typeface="Noto Sans SC"/>
              </a:rPr>
              <a:t>、</a:t>
            </a:r>
            <a:r>
              <a:rPr lang="en-US" altLang="zh-CN" sz="1400" b="0" i="0" u="none" strike="noStrike" dirty="0">
                <a:latin typeface="Noto Sans SC"/>
                <a:ea typeface="Noto Sans SC"/>
                <a:cs typeface="Noto Sans SC"/>
                <a:sym typeface="Noto Sans SC"/>
              </a:rPr>
              <a:t>XLSX</a:t>
            </a:r>
            <a:r>
              <a:rPr lang="zh-CN" altLang="en-US" sz="1400" b="0" i="0" u="none" strike="noStrike" dirty="0">
                <a:latin typeface="Noto Sans SC"/>
                <a:ea typeface="Noto Sans SC"/>
                <a:cs typeface="Noto Sans SC"/>
                <a:sym typeface="Noto Sans SC"/>
              </a:rPr>
              <a:t>、</a:t>
            </a:r>
            <a:r>
              <a:rPr lang="en-US" altLang="zh-CN" sz="1400" b="0" i="0" u="none" strike="noStrike" dirty="0">
                <a:latin typeface="Noto Sans SC"/>
                <a:ea typeface="Noto Sans SC"/>
                <a:cs typeface="Noto Sans SC"/>
                <a:sym typeface="Noto Sans SC"/>
              </a:rPr>
              <a:t>PPTX</a:t>
            </a:r>
            <a:r>
              <a:rPr lang="zh-CN" altLang="en-US" sz="1400" b="0" i="0" u="none" strike="noStrike" dirty="0">
                <a:latin typeface="Noto Sans SC"/>
                <a:ea typeface="Noto Sans SC"/>
                <a:cs typeface="Noto Sans SC"/>
                <a:sym typeface="Noto Sans SC"/>
              </a:rPr>
              <a:t>、图片及纯文本等多种格式材料入料，</a:t>
            </a:r>
            <a:r>
              <a:rPr lang="en-US" sz="1400" b="0" i="0" u="none" strike="noStrike" dirty="0" err="1">
                <a:latin typeface="Noto Sans SC"/>
                <a:ea typeface="Noto Sans SC"/>
                <a:cs typeface="Noto Sans SC"/>
                <a:sym typeface="Noto Sans SC"/>
              </a:rPr>
              <a:t>满足多样化的材料输入需求</a:t>
            </a:r>
            <a:r>
              <a:rPr lang="en-US" sz="1400" b="0" i="0" u="none" strike="noStrike" dirty="0">
                <a:latin typeface="Noto Sans SC"/>
                <a:ea typeface="Noto Sans SC"/>
                <a:cs typeface="Noto Sans SC"/>
                <a:sym typeface="Noto Sans SC"/>
              </a:rPr>
              <a:t>。</a:t>
            </a:r>
            <a:endParaRPr lang="en-US" sz="1200" dirty="0"/>
          </a:p>
        </p:txBody>
      </p:sp>
      <p:pic>
        <p:nvPicPr>
          <p:cNvPr id="95" name="Picture 26">
            <a:extLst>
              <a:ext uri="{FF2B5EF4-FFF2-40B4-BE49-F238E27FC236}">
                <a16:creationId xmlns:a16="http://schemas.microsoft.com/office/drawing/2014/main" id="{69EE1CB8-1E0B-C9D8-26BC-FBA6D3E05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77757" y="4172961"/>
            <a:ext cx="304800" cy="304800"/>
          </a:xfrm>
          <a:prstGeom prst="rect">
            <a:avLst/>
          </a:prstGeom>
        </p:spPr>
      </p:pic>
      <p:sp>
        <p:nvSpPr>
          <p:cNvPr id="97" name="AutoShape 27">
            <a:extLst>
              <a:ext uri="{FF2B5EF4-FFF2-40B4-BE49-F238E27FC236}">
                <a16:creationId xmlns:a16="http://schemas.microsoft.com/office/drawing/2014/main" id="{7F10D7FD-124A-E73E-2E74-C6C2A75A7EB4}"/>
              </a:ext>
            </a:extLst>
          </p:cNvPr>
          <p:cNvSpPr/>
          <p:nvPr/>
        </p:nvSpPr>
        <p:spPr>
          <a:xfrm>
            <a:off x="8484157" y="4147561"/>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交付沉淀</a:t>
            </a:r>
            <a:r>
              <a:rPr lang="en-US" b="1" i="0" u="none" strike="noStrike" dirty="0">
                <a:latin typeface="Noto Sans SC"/>
                <a:ea typeface="Noto Sans SC"/>
                <a:cs typeface="Noto Sans SC"/>
                <a:sym typeface="Noto Sans SC"/>
              </a:rPr>
              <a:t> · </a:t>
            </a:r>
            <a:r>
              <a:rPr lang="en-US" b="1" i="0" u="none" strike="noStrike" dirty="0" err="1">
                <a:latin typeface="Noto Sans SC"/>
                <a:ea typeface="Noto Sans SC"/>
                <a:cs typeface="Noto Sans SC"/>
                <a:sym typeface="Noto Sans SC"/>
              </a:rPr>
              <a:t>资产复用</a:t>
            </a:r>
            <a:endParaRPr lang="en-US" sz="1200" dirty="0"/>
          </a:p>
        </p:txBody>
      </p:sp>
      <p:sp>
        <p:nvSpPr>
          <p:cNvPr id="99" name="AutoShape 28">
            <a:extLst>
              <a:ext uri="{FF2B5EF4-FFF2-40B4-BE49-F238E27FC236}">
                <a16:creationId xmlns:a16="http://schemas.microsoft.com/office/drawing/2014/main" id="{50F0BCA7-9A56-45A9-3F1A-AA6151FEF8A4}"/>
              </a:ext>
            </a:extLst>
          </p:cNvPr>
          <p:cNvSpPr/>
          <p:nvPr/>
        </p:nvSpPr>
        <p:spPr>
          <a:xfrm>
            <a:off x="8077757" y="4539432"/>
            <a:ext cx="3226217"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latin typeface="Noto Sans SC"/>
                <a:ea typeface="Noto Sans SC"/>
                <a:cs typeface="Noto Sans SC"/>
                <a:sym typeface="Noto Sans SC"/>
              </a:rPr>
              <a:t>一键生成标准.docx交付文件，自动记入最近文书库，形成可复用的法律知识资产，为后续案件处理提供高效参考。</a:t>
            </a:r>
            <a:endParaRPr lang="en-US" sz="1200"/>
          </a:p>
        </p:txBody>
      </p:sp>
      <p:sp>
        <p:nvSpPr>
          <p:cNvPr id="101" name="AutoShape 5">
            <a:extLst>
              <a:ext uri="{FF2B5EF4-FFF2-40B4-BE49-F238E27FC236}">
                <a16:creationId xmlns:a16="http://schemas.microsoft.com/office/drawing/2014/main" id="{54287ED9-ACA1-6813-A61A-0EA6F1E3AA23}"/>
              </a:ext>
            </a:extLst>
          </p:cNvPr>
          <p:cNvSpPr/>
          <p:nvPr/>
        </p:nvSpPr>
        <p:spPr>
          <a:xfrm>
            <a:off x="625242" y="1958044"/>
            <a:ext cx="3575406" cy="2022596"/>
          </a:xfrm>
          <a:prstGeom prst="roundRect">
            <a:avLst>
              <a:gd name="adj" fmla="val 0"/>
            </a:avLst>
          </a:prstGeom>
          <a:solidFill>
            <a:srgbClr val="FFFFFF">
              <a:alpha val="0"/>
            </a:srgbClr>
          </a:solidFill>
          <a:ln w="25400" cap="flat" cmpd="sng">
            <a:solidFill>
              <a:srgbClr val="C00000">
                <a:alpha val="67000"/>
              </a:srgbClr>
            </a:solidFill>
            <a:prstDash val="solid"/>
            <a:round/>
          </a:ln>
        </p:spPr>
        <p:txBody>
          <a:bodyPr vert="horz" wrap="square" lIns="63500" tIns="63500" rIns="63500" bIns="63500" rtlCol="0" anchor="ctr"/>
          <a:lstStyle/>
          <a:p>
            <a:pPr algn="ctr">
              <a:defRPr/>
            </a:pPr>
            <a:endParaRPr dirty="0"/>
          </a:p>
        </p:txBody>
      </p:sp>
      <p:sp>
        <p:nvSpPr>
          <p:cNvPr id="103" name="AutoShape 5">
            <a:extLst>
              <a:ext uri="{FF2B5EF4-FFF2-40B4-BE49-F238E27FC236}">
                <a16:creationId xmlns:a16="http://schemas.microsoft.com/office/drawing/2014/main" id="{9A7D3F44-521F-649E-FEA0-7CD247237057}"/>
              </a:ext>
            </a:extLst>
          </p:cNvPr>
          <p:cNvSpPr/>
          <p:nvPr/>
        </p:nvSpPr>
        <p:spPr>
          <a:xfrm>
            <a:off x="4302248" y="1961819"/>
            <a:ext cx="3575406" cy="2022596"/>
          </a:xfrm>
          <a:prstGeom prst="roundRect">
            <a:avLst>
              <a:gd name="adj" fmla="val 0"/>
            </a:avLst>
          </a:prstGeom>
          <a:solidFill>
            <a:srgbClr val="FFFFFF">
              <a:alpha val="0"/>
            </a:srgbClr>
          </a:solidFill>
          <a:ln w="25400" cap="flat" cmpd="sng">
            <a:solidFill>
              <a:srgbClr val="C00000">
                <a:alpha val="67000"/>
              </a:srgbClr>
            </a:solidFill>
            <a:prstDash val="solid"/>
            <a:round/>
          </a:ln>
        </p:spPr>
        <p:txBody>
          <a:bodyPr vert="horz" wrap="square" lIns="63500" tIns="63500" rIns="63500" bIns="63500" rtlCol="0" anchor="ctr"/>
          <a:lstStyle/>
          <a:p>
            <a:pPr algn="ctr">
              <a:defRPr/>
            </a:pPr>
            <a:endParaRPr/>
          </a:p>
        </p:txBody>
      </p:sp>
      <p:sp>
        <p:nvSpPr>
          <p:cNvPr id="105" name="AutoShape 5">
            <a:extLst>
              <a:ext uri="{FF2B5EF4-FFF2-40B4-BE49-F238E27FC236}">
                <a16:creationId xmlns:a16="http://schemas.microsoft.com/office/drawing/2014/main" id="{7EBA8AA8-2FC9-4F27-832F-C48A0F6FABD4}"/>
              </a:ext>
            </a:extLst>
          </p:cNvPr>
          <p:cNvSpPr/>
          <p:nvPr/>
        </p:nvSpPr>
        <p:spPr>
          <a:xfrm>
            <a:off x="7968353" y="1982756"/>
            <a:ext cx="3575406" cy="2022596"/>
          </a:xfrm>
          <a:prstGeom prst="roundRect">
            <a:avLst>
              <a:gd name="adj" fmla="val 0"/>
            </a:avLst>
          </a:prstGeom>
          <a:solidFill>
            <a:srgbClr val="FFFFFF">
              <a:alpha val="0"/>
            </a:srgbClr>
          </a:solidFill>
          <a:ln w="25400" cap="flat" cmpd="sng">
            <a:solidFill>
              <a:srgbClr val="C00000">
                <a:alpha val="67000"/>
              </a:srgbClr>
            </a:solidFill>
            <a:prstDash val="solid"/>
            <a:round/>
          </a:ln>
        </p:spPr>
        <p:txBody>
          <a:bodyPr vert="horz" wrap="square" lIns="63500" tIns="63500" rIns="63500" bIns="63500" rtlCol="0" anchor="ctr"/>
          <a:lstStyle/>
          <a:p>
            <a:pPr algn="ctr">
              <a:defRPr/>
            </a:pPr>
            <a:endParaRPr dirty="0"/>
          </a:p>
        </p:txBody>
      </p:sp>
      <p:sp>
        <p:nvSpPr>
          <p:cNvPr id="107" name="AutoShape 5">
            <a:extLst>
              <a:ext uri="{FF2B5EF4-FFF2-40B4-BE49-F238E27FC236}">
                <a16:creationId xmlns:a16="http://schemas.microsoft.com/office/drawing/2014/main" id="{AE346B2F-D96D-8F22-8911-BD05B9561369}"/>
              </a:ext>
            </a:extLst>
          </p:cNvPr>
          <p:cNvSpPr/>
          <p:nvPr/>
        </p:nvSpPr>
        <p:spPr>
          <a:xfrm>
            <a:off x="625242" y="3903283"/>
            <a:ext cx="3575406" cy="1885835"/>
          </a:xfrm>
          <a:prstGeom prst="roundRect">
            <a:avLst>
              <a:gd name="adj" fmla="val 0"/>
            </a:avLst>
          </a:prstGeom>
          <a:solidFill>
            <a:srgbClr val="FFFFFF">
              <a:alpha val="0"/>
            </a:srgbClr>
          </a:solidFill>
          <a:ln w="25400" cap="flat" cmpd="sng">
            <a:solidFill>
              <a:srgbClr val="C00000">
                <a:alpha val="67000"/>
              </a:srgbClr>
            </a:solidFill>
            <a:prstDash val="solid"/>
            <a:round/>
          </a:ln>
        </p:spPr>
        <p:txBody>
          <a:bodyPr vert="horz" wrap="square" lIns="63500" tIns="63500" rIns="63500" bIns="63500" rtlCol="0" anchor="ctr"/>
          <a:lstStyle/>
          <a:p>
            <a:pPr algn="ctr">
              <a:defRPr/>
            </a:pPr>
            <a:endParaRPr/>
          </a:p>
        </p:txBody>
      </p:sp>
      <p:sp>
        <p:nvSpPr>
          <p:cNvPr id="109" name="AutoShape 5">
            <a:extLst>
              <a:ext uri="{FF2B5EF4-FFF2-40B4-BE49-F238E27FC236}">
                <a16:creationId xmlns:a16="http://schemas.microsoft.com/office/drawing/2014/main" id="{916BEDBE-E050-3CE5-25AA-0B53124DBB73}"/>
              </a:ext>
            </a:extLst>
          </p:cNvPr>
          <p:cNvSpPr/>
          <p:nvPr/>
        </p:nvSpPr>
        <p:spPr>
          <a:xfrm>
            <a:off x="4302248" y="3903283"/>
            <a:ext cx="3575406" cy="1885836"/>
          </a:xfrm>
          <a:prstGeom prst="roundRect">
            <a:avLst>
              <a:gd name="adj" fmla="val 0"/>
            </a:avLst>
          </a:prstGeom>
          <a:solidFill>
            <a:srgbClr val="FFFFFF">
              <a:alpha val="0"/>
            </a:srgbClr>
          </a:solidFill>
          <a:ln w="25400" cap="flat" cmpd="sng">
            <a:solidFill>
              <a:srgbClr val="C00000">
                <a:alpha val="67000"/>
              </a:srgbClr>
            </a:solidFill>
            <a:prstDash val="solid"/>
            <a:round/>
          </a:ln>
        </p:spPr>
        <p:txBody>
          <a:bodyPr vert="horz" wrap="square" lIns="63500" tIns="63500" rIns="63500" bIns="63500" rtlCol="0" anchor="ctr"/>
          <a:lstStyle/>
          <a:p>
            <a:pPr algn="ctr">
              <a:defRPr/>
            </a:pPr>
            <a:endParaRPr/>
          </a:p>
        </p:txBody>
      </p:sp>
      <p:sp>
        <p:nvSpPr>
          <p:cNvPr id="111" name="AutoShape 5">
            <a:extLst>
              <a:ext uri="{FF2B5EF4-FFF2-40B4-BE49-F238E27FC236}">
                <a16:creationId xmlns:a16="http://schemas.microsoft.com/office/drawing/2014/main" id="{72A461C3-CE28-812B-B16A-162CC4AEA2A9}"/>
              </a:ext>
            </a:extLst>
          </p:cNvPr>
          <p:cNvSpPr/>
          <p:nvPr/>
        </p:nvSpPr>
        <p:spPr>
          <a:xfrm>
            <a:off x="7968353" y="3903283"/>
            <a:ext cx="3575406" cy="1885836"/>
          </a:xfrm>
          <a:prstGeom prst="roundRect">
            <a:avLst>
              <a:gd name="adj" fmla="val 0"/>
            </a:avLst>
          </a:prstGeom>
          <a:solidFill>
            <a:srgbClr val="FFFFFF">
              <a:alpha val="0"/>
            </a:srgbClr>
          </a:solidFill>
          <a:ln w="25400" cap="flat" cmpd="sng">
            <a:solidFill>
              <a:srgbClr val="C00000">
                <a:alpha val="67000"/>
              </a:srgbClr>
            </a:solid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74760752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8C1C6DB-2509-463D-A61B-E7B8220D763F}"/>
              </a:ext>
            </a:extLst>
          </p:cNvPr>
          <p:cNvSpPr/>
          <p:nvPr/>
        </p:nvSpPr>
        <p:spPr>
          <a:xfrm>
            <a:off x="0" y="2366500"/>
            <a:ext cx="12192000" cy="366490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004709A-58E6-4D7F-B197-08E4E33D7ECF}"/>
              </a:ext>
            </a:extLst>
          </p:cNvPr>
          <p:cNvSpPr/>
          <p:nvPr/>
        </p:nvSpPr>
        <p:spPr>
          <a:xfrm>
            <a:off x="10784124" y="2555197"/>
            <a:ext cx="726006" cy="118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B9D4B2E5-F68D-4080-BA7E-89E4B4FFF290}"/>
              </a:ext>
            </a:extLst>
          </p:cNvPr>
          <p:cNvSpPr txBox="1"/>
          <p:nvPr/>
        </p:nvSpPr>
        <p:spPr>
          <a:xfrm>
            <a:off x="8599471" y="2860880"/>
            <a:ext cx="3109566" cy="2982996"/>
          </a:xfrm>
          <a:prstGeom prst="rect">
            <a:avLst/>
          </a:prstGeom>
          <a:noFill/>
        </p:spPr>
        <p:txBody>
          <a:bodyPr wrap="square" rtlCol="0">
            <a:spAutoFit/>
          </a:bodyPr>
          <a:lstStyle/>
          <a:p>
            <a:pPr>
              <a:lnSpc>
                <a:spcPct val="116666"/>
              </a:lnSpc>
            </a:pPr>
            <a:r>
              <a:rPr lang="zh-CN" altLang="en-US" dirty="0">
                <a:solidFill>
                  <a:schemeClr val="bg1"/>
                </a:solidFill>
                <a:latin typeface="Noto Sans SC"/>
                <a:ea typeface="Noto Sans SC"/>
                <a:cs typeface="Noto Sans SC"/>
                <a:sym typeface="Noto Sans SC"/>
              </a:rPr>
              <a:t>预设计</a:t>
            </a:r>
            <a:r>
              <a:rPr lang="en-US" altLang="zh-CN" dirty="0" err="1">
                <a:solidFill>
                  <a:schemeClr val="bg1"/>
                </a:solidFill>
                <a:latin typeface="Noto Sans SC"/>
                <a:ea typeface="Noto Sans SC"/>
                <a:cs typeface="Noto Sans SC"/>
                <a:sym typeface="Noto Sans SC"/>
              </a:rPr>
              <a:t>云端架构，采用</a:t>
            </a:r>
            <a:r>
              <a:rPr lang="en-US" altLang="zh-CN" b="1" dirty="0" err="1">
                <a:solidFill>
                  <a:schemeClr val="bg1"/>
                </a:solidFill>
                <a:latin typeface="Noto Sans SC"/>
                <a:ea typeface="Noto Sans SC"/>
                <a:cs typeface="Noto Sans SC"/>
                <a:sym typeface="Noto Sans SC"/>
              </a:rPr>
              <a:t>“本地化</a:t>
            </a:r>
            <a:r>
              <a:rPr lang="en-US" altLang="zh-CN" b="1" dirty="0">
                <a:solidFill>
                  <a:schemeClr val="bg1"/>
                </a:solidFill>
                <a:latin typeface="Noto Sans SC"/>
                <a:ea typeface="Noto Sans SC"/>
                <a:cs typeface="Noto Sans SC"/>
                <a:sym typeface="Noto Sans SC"/>
              </a:rPr>
              <a:t>+</a:t>
            </a:r>
            <a:r>
              <a:rPr lang="zh-CN" altLang="en-US" b="1" dirty="0">
                <a:solidFill>
                  <a:schemeClr val="bg1"/>
                </a:solidFill>
                <a:latin typeface="Noto Sans SC"/>
                <a:ea typeface="Noto Sans SC"/>
                <a:cs typeface="Noto Sans SC"/>
                <a:sym typeface="Noto Sans SC"/>
              </a:rPr>
              <a:t>云端运行</a:t>
            </a:r>
            <a:r>
              <a:rPr lang="en-US" altLang="zh-CN" b="1" dirty="0">
                <a:solidFill>
                  <a:schemeClr val="bg1"/>
                </a:solidFill>
                <a:latin typeface="Noto Sans SC"/>
                <a:ea typeface="Noto Sans SC"/>
                <a:cs typeface="Noto Sans SC"/>
                <a:sym typeface="Noto Sans SC"/>
              </a:rPr>
              <a:t>”</a:t>
            </a:r>
            <a:r>
              <a:rPr lang="en-US" altLang="zh-CN" dirty="0" err="1">
                <a:solidFill>
                  <a:schemeClr val="bg1"/>
                </a:solidFill>
                <a:latin typeface="Noto Sans SC"/>
                <a:ea typeface="Noto Sans SC"/>
                <a:cs typeface="Noto Sans SC"/>
                <a:sym typeface="Noto Sans SC"/>
              </a:rPr>
              <a:t>策略</a:t>
            </a:r>
            <a:r>
              <a:rPr lang="en-US" altLang="zh-CN" dirty="0">
                <a:solidFill>
                  <a:schemeClr val="bg1"/>
                </a:solidFill>
                <a:latin typeface="Noto Sans SC"/>
                <a:ea typeface="Noto Sans SC"/>
                <a:cs typeface="Noto Sans SC"/>
                <a:sym typeface="Noto Sans SC"/>
              </a:rPr>
              <a:t>，</a:t>
            </a:r>
            <a:r>
              <a:rPr lang="zh-CN" altLang="en-US" dirty="0">
                <a:solidFill>
                  <a:schemeClr val="bg1"/>
                </a:solidFill>
                <a:latin typeface="Noto Sans SC"/>
                <a:ea typeface="Noto Sans SC"/>
                <a:cs typeface="Noto Sans SC"/>
                <a:sym typeface="Noto Sans SC"/>
              </a:rPr>
              <a:t>兼具云端高效运行优点与</a:t>
            </a:r>
            <a:r>
              <a:rPr lang="en-US" altLang="zh-CN" dirty="0" err="1">
                <a:solidFill>
                  <a:schemeClr val="bg1"/>
                </a:solidFill>
                <a:latin typeface="Noto Sans SC"/>
                <a:ea typeface="Noto Sans SC"/>
                <a:cs typeface="Noto Sans SC"/>
                <a:sym typeface="Noto Sans SC"/>
              </a:rPr>
              <a:t>无网络环境</a:t>
            </a:r>
            <a:r>
              <a:rPr lang="zh-CN" altLang="en-US" dirty="0">
                <a:solidFill>
                  <a:schemeClr val="bg1"/>
                </a:solidFill>
                <a:latin typeface="Noto Sans SC"/>
                <a:ea typeface="Noto Sans SC"/>
                <a:cs typeface="Noto Sans SC"/>
                <a:sym typeface="Noto Sans SC"/>
              </a:rPr>
              <a:t>下功能的</a:t>
            </a:r>
            <a:r>
              <a:rPr lang="en-US" altLang="zh-CN" dirty="0" err="1">
                <a:solidFill>
                  <a:schemeClr val="bg1"/>
                </a:solidFill>
                <a:latin typeface="Noto Sans SC"/>
                <a:ea typeface="Noto Sans SC"/>
                <a:cs typeface="Noto Sans SC"/>
                <a:sym typeface="Noto Sans SC"/>
              </a:rPr>
              <a:t>流畅运行。通过</a:t>
            </a:r>
            <a:r>
              <a:rPr lang="en-US" altLang="zh-CN" dirty="0">
                <a:solidFill>
                  <a:schemeClr val="bg1"/>
                </a:solidFill>
                <a:latin typeface="Noto Sans SC"/>
                <a:ea typeface="Noto Sans SC"/>
                <a:cs typeface="Noto Sans SC"/>
                <a:sym typeface="Noto Sans SC"/>
              </a:rPr>
              <a:t> </a:t>
            </a:r>
            <a:r>
              <a:rPr lang="en-US" altLang="zh-CN" b="1" dirty="0">
                <a:solidFill>
                  <a:schemeClr val="bg1"/>
                </a:solidFill>
                <a:latin typeface="Noto Sans SC"/>
                <a:ea typeface="Noto Sans SC"/>
                <a:cs typeface="Noto Sans SC"/>
                <a:sym typeface="Noto Sans SC"/>
              </a:rPr>
              <a:t>Rust</a:t>
            </a:r>
            <a:r>
              <a:rPr lang="en-US" altLang="zh-CN" dirty="0">
                <a:solidFill>
                  <a:schemeClr val="bg1"/>
                </a:solidFill>
                <a:latin typeface="Noto Sans SC"/>
                <a:ea typeface="Noto Sans SC"/>
                <a:cs typeface="Noto Sans SC"/>
                <a:sym typeface="Noto Sans SC"/>
              </a:rPr>
              <a:t> </a:t>
            </a:r>
            <a:r>
              <a:rPr lang="en-US" altLang="zh-CN" dirty="0" err="1">
                <a:solidFill>
                  <a:schemeClr val="bg1"/>
                </a:solidFill>
                <a:latin typeface="Noto Sans SC"/>
                <a:ea typeface="Noto Sans SC"/>
                <a:cs typeface="Noto Sans SC"/>
                <a:sym typeface="Noto Sans SC"/>
              </a:rPr>
              <a:t>的内存安全特性保障系统稳定性，结合</a:t>
            </a:r>
            <a:r>
              <a:rPr lang="en-US" altLang="zh-CN" dirty="0">
                <a:solidFill>
                  <a:schemeClr val="bg1"/>
                </a:solidFill>
                <a:latin typeface="Noto Sans SC"/>
                <a:ea typeface="Noto Sans SC"/>
                <a:cs typeface="Noto Sans SC"/>
                <a:sym typeface="Noto Sans SC"/>
              </a:rPr>
              <a:t> </a:t>
            </a:r>
            <a:r>
              <a:rPr lang="en-US" altLang="zh-CN" b="1" dirty="0">
                <a:solidFill>
                  <a:schemeClr val="bg1"/>
                </a:solidFill>
                <a:latin typeface="Noto Sans SC"/>
                <a:ea typeface="Noto Sans SC"/>
                <a:cs typeface="Noto Sans SC"/>
                <a:sym typeface="Noto Sans SC"/>
              </a:rPr>
              <a:t>React</a:t>
            </a:r>
            <a:r>
              <a:rPr lang="en-US" altLang="zh-CN" dirty="0">
                <a:solidFill>
                  <a:schemeClr val="bg1"/>
                </a:solidFill>
                <a:latin typeface="Noto Sans SC"/>
                <a:ea typeface="Noto Sans SC"/>
                <a:cs typeface="Noto Sans SC"/>
                <a:sym typeface="Noto Sans SC"/>
              </a:rPr>
              <a:t> </a:t>
            </a:r>
            <a:r>
              <a:rPr lang="en-US" altLang="zh-CN" dirty="0" err="1">
                <a:solidFill>
                  <a:schemeClr val="bg1"/>
                </a:solidFill>
                <a:latin typeface="Noto Sans SC"/>
                <a:ea typeface="Noto Sans SC"/>
                <a:cs typeface="Noto Sans SC"/>
                <a:sym typeface="Noto Sans SC"/>
              </a:rPr>
              <a:t>的组件化能力提升开发效率，实现了高性能与高开发效率的完美平衡</a:t>
            </a:r>
            <a:r>
              <a:rPr lang="en-US" altLang="zh-CN" dirty="0">
                <a:solidFill>
                  <a:schemeClr val="bg1"/>
                </a:solidFill>
                <a:latin typeface="Noto Sans SC"/>
                <a:ea typeface="Noto Sans SC"/>
                <a:cs typeface="Noto Sans SC"/>
                <a:sym typeface="Noto Sans SC"/>
              </a:rPr>
              <a:t>。</a:t>
            </a:r>
          </a:p>
        </p:txBody>
      </p:sp>
      <p:sp>
        <p:nvSpPr>
          <p:cNvPr id="12" name="文本框 11">
            <a:extLst>
              <a:ext uri="{FF2B5EF4-FFF2-40B4-BE49-F238E27FC236}">
                <a16:creationId xmlns:a16="http://schemas.microsoft.com/office/drawing/2014/main" id="{F83294FB-0883-4DA4-BB8B-1943C8DC0A59}"/>
              </a:ext>
            </a:extLst>
          </p:cNvPr>
          <p:cNvSpPr txBox="1"/>
          <p:nvPr/>
        </p:nvSpPr>
        <p:spPr>
          <a:xfrm>
            <a:off x="1031682" y="1202685"/>
            <a:ext cx="4135399" cy="589970"/>
          </a:xfrm>
          <a:prstGeom prst="rect">
            <a:avLst/>
          </a:prstGeom>
          <a:noFill/>
        </p:spPr>
        <p:txBody>
          <a:bodyPr wrap="square" rtlCol="0">
            <a:spAutoFit/>
          </a:bodyPr>
          <a:lstStyle/>
          <a:p>
            <a:pPr>
              <a:lnSpc>
                <a:spcPct val="125000"/>
              </a:lnSpc>
              <a:defRPr/>
            </a:pPr>
            <a:r>
              <a:rPr lang="en-US" altLang="zh-CN" sz="2800" b="1" dirty="0" err="1">
                <a:latin typeface="Noto Sans SC"/>
                <a:ea typeface="Noto Sans SC"/>
                <a:cs typeface="Noto Sans SC"/>
                <a:sym typeface="Noto Sans SC"/>
              </a:rPr>
              <a:t>真实可落地的工程架构</a:t>
            </a:r>
            <a:endParaRPr lang="en-US" altLang="zh-CN" sz="1400" b="1" dirty="0"/>
          </a:p>
        </p:txBody>
      </p:sp>
      <p:sp>
        <p:nvSpPr>
          <p:cNvPr id="17" name="矩形 16">
            <a:extLst>
              <a:ext uri="{FF2B5EF4-FFF2-40B4-BE49-F238E27FC236}">
                <a16:creationId xmlns:a16="http://schemas.microsoft.com/office/drawing/2014/main" id="{AF295E82-A05C-79E9-9842-1E840AECECAF}"/>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7" name="平行四边形 26">
            <a:extLst>
              <a:ext uri="{FF2B5EF4-FFF2-40B4-BE49-F238E27FC236}">
                <a16:creationId xmlns:a16="http://schemas.microsoft.com/office/drawing/2014/main" id="{25ECAD54-6B08-4717-F484-E43A24023607}"/>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8F8B36EB-F7F0-B903-36B3-A4500941144B}"/>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1FD21452-8986-A407-F918-BB047029856B}"/>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技术介绍</a:t>
            </a:r>
            <a:endParaRPr lang="en-US" altLang="zh-CN" sz="3600" dirty="0"/>
          </a:p>
        </p:txBody>
      </p:sp>
      <p:pic>
        <p:nvPicPr>
          <p:cNvPr id="33" name="图片 32">
            <a:extLst>
              <a:ext uri="{FF2B5EF4-FFF2-40B4-BE49-F238E27FC236}">
                <a16:creationId xmlns:a16="http://schemas.microsoft.com/office/drawing/2014/main" id="{597DF579-3FE1-ECDA-57A4-C21678F0FF6B}"/>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5" name="文本框 34">
            <a:extLst>
              <a:ext uri="{FF2B5EF4-FFF2-40B4-BE49-F238E27FC236}">
                <a16:creationId xmlns:a16="http://schemas.microsoft.com/office/drawing/2014/main" id="{E6AAF971-530C-B8D9-555E-24B6F8AEDC40}"/>
              </a:ext>
            </a:extLst>
          </p:cNvPr>
          <p:cNvSpPr txBox="1"/>
          <p:nvPr/>
        </p:nvSpPr>
        <p:spPr>
          <a:xfrm>
            <a:off x="1031682" y="1836321"/>
            <a:ext cx="2099398" cy="447815"/>
          </a:xfrm>
          <a:prstGeom prst="rect">
            <a:avLst/>
          </a:prstGeom>
          <a:noFill/>
        </p:spPr>
        <p:txBody>
          <a:bodyPr wrap="square" rtlCol="0">
            <a:spAutoFit/>
          </a:bodyPr>
          <a:lstStyle/>
          <a:p>
            <a:pPr>
              <a:lnSpc>
                <a:spcPct val="125000"/>
              </a:lnSpc>
              <a:defRPr/>
            </a:pPr>
            <a:r>
              <a:rPr lang="en-US" altLang="zh-CN" sz="2000" b="1" dirty="0">
                <a:latin typeface="Noto Sans SC"/>
                <a:ea typeface="Noto Sans SC"/>
                <a:cs typeface="Noto Sans SC"/>
                <a:sym typeface="Noto Sans SC"/>
              </a:rPr>
              <a:t>法元 · Faron</a:t>
            </a:r>
            <a:endParaRPr lang="en-US" altLang="zh-CN" sz="2000" dirty="0"/>
          </a:p>
        </p:txBody>
      </p:sp>
      <p:pic>
        <p:nvPicPr>
          <p:cNvPr id="37" name="Picture 16">
            <a:extLst>
              <a:ext uri="{FF2B5EF4-FFF2-40B4-BE49-F238E27FC236}">
                <a16:creationId xmlns:a16="http://schemas.microsoft.com/office/drawing/2014/main" id="{39052233-AAF1-01F6-F7AF-A87D4B58C416}"/>
              </a:ext>
            </a:extLst>
          </p:cNvPr>
          <p:cNvPicPr>
            <a:picLocks noChangeAspect="1"/>
          </p:cNvPicPr>
          <p:nvPr/>
        </p:nvPicPr>
        <p:blipFill>
          <a:blip r:embed="rId3"/>
          <a:srcRect/>
          <a:stretch>
            <a:fillRect/>
          </a:stretch>
        </p:blipFill>
        <p:spPr>
          <a:xfrm>
            <a:off x="8966474" y="1217428"/>
            <a:ext cx="1016000" cy="1016000"/>
          </a:xfrm>
          <a:prstGeom prst="rect">
            <a:avLst/>
          </a:prstGeom>
          <a:noFill/>
          <a:ln w="25400" cap="flat" cmpd="sng">
            <a:noFill/>
            <a:prstDash val="solid"/>
            <a:round/>
          </a:ln>
        </p:spPr>
      </p:pic>
      <p:pic>
        <p:nvPicPr>
          <p:cNvPr id="39" name="Picture 15">
            <a:extLst>
              <a:ext uri="{FF2B5EF4-FFF2-40B4-BE49-F238E27FC236}">
                <a16:creationId xmlns:a16="http://schemas.microsoft.com/office/drawing/2014/main" id="{364241CB-1A40-8057-CB4B-F40F4AE9B4F5}"/>
              </a:ext>
            </a:extLst>
          </p:cNvPr>
          <p:cNvPicPr>
            <a:picLocks noChangeAspect="1"/>
          </p:cNvPicPr>
          <p:nvPr/>
        </p:nvPicPr>
        <p:blipFill>
          <a:blip r:embed="rId4"/>
          <a:srcRect/>
          <a:stretch>
            <a:fillRect/>
          </a:stretch>
        </p:blipFill>
        <p:spPr>
          <a:xfrm>
            <a:off x="10494475" y="1217428"/>
            <a:ext cx="1016000" cy="1016000"/>
          </a:xfrm>
          <a:prstGeom prst="rect">
            <a:avLst/>
          </a:prstGeom>
          <a:noFill/>
          <a:ln w="25400" cap="flat" cmpd="sng">
            <a:noFill/>
            <a:prstDash val="solid"/>
            <a:round/>
          </a:ln>
        </p:spPr>
      </p:pic>
      <p:sp>
        <p:nvSpPr>
          <p:cNvPr id="41" name="文本框 40">
            <a:extLst>
              <a:ext uri="{FF2B5EF4-FFF2-40B4-BE49-F238E27FC236}">
                <a16:creationId xmlns:a16="http://schemas.microsoft.com/office/drawing/2014/main" id="{B66C1063-FF3C-B73C-4026-E15CBE13F8DF}"/>
              </a:ext>
            </a:extLst>
          </p:cNvPr>
          <p:cNvSpPr txBox="1"/>
          <p:nvPr/>
        </p:nvSpPr>
        <p:spPr>
          <a:xfrm>
            <a:off x="6943256" y="6240880"/>
            <a:ext cx="4765780" cy="447815"/>
          </a:xfrm>
          <a:prstGeom prst="rect">
            <a:avLst/>
          </a:prstGeom>
          <a:noFill/>
        </p:spPr>
        <p:txBody>
          <a:bodyPr wrap="square">
            <a:spAutoFit/>
          </a:bodyPr>
          <a:lstStyle/>
          <a:p>
            <a:pPr marL="0" indent="0" algn="l">
              <a:lnSpc>
                <a:spcPct val="125000"/>
              </a:lnSpc>
              <a:defRPr/>
            </a:pPr>
            <a:r>
              <a:rPr lang="en-US" altLang="zh-CN" sz="2000" b="1" i="0" u="none" strike="noStrike" dirty="0" err="1">
                <a:latin typeface="Noto Sans SC"/>
                <a:ea typeface="Noto Sans SC"/>
                <a:cs typeface="Noto Sans SC"/>
                <a:sym typeface="Noto Sans SC"/>
              </a:rPr>
              <a:t>工程化落地保障：稳定与效率的双重加持</a:t>
            </a:r>
            <a:endParaRPr lang="en-US" altLang="zh-CN" sz="1400" dirty="0"/>
          </a:p>
        </p:txBody>
      </p:sp>
      <p:sp>
        <p:nvSpPr>
          <p:cNvPr id="61" name="AutoShape 5">
            <a:extLst>
              <a:ext uri="{FF2B5EF4-FFF2-40B4-BE49-F238E27FC236}">
                <a16:creationId xmlns:a16="http://schemas.microsoft.com/office/drawing/2014/main" id="{F89843E5-3386-C7EA-2823-4169FFCB7A39}"/>
              </a:ext>
            </a:extLst>
          </p:cNvPr>
          <p:cNvSpPr/>
          <p:nvPr/>
        </p:nvSpPr>
        <p:spPr>
          <a:xfrm>
            <a:off x="410774" y="2673350"/>
            <a:ext cx="2366225" cy="3358057"/>
          </a:xfrm>
          <a:prstGeom prst="roundRect">
            <a:avLst>
              <a:gd name="adj" fmla="val 0"/>
            </a:avLst>
          </a:prstGeom>
          <a:solidFill>
            <a:srgbClr val="FFF3F3"/>
          </a:solidFill>
          <a:ln w="12700" cap="flat" cmpd="sng">
            <a:noFill/>
            <a:prstDash val="solid"/>
            <a:round/>
          </a:ln>
        </p:spPr>
        <p:txBody>
          <a:bodyPr vert="horz" wrap="square" lIns="63500" tIns="63500" rIns="63500" bIns="63500" rtlCol="0" anchor="ctr"/>
          <a:lstStyle/>
          <a:p>
            <a:pPr algn="ctr">
              <a:defRPr/>
            </a:pPr>
            <a:endParaRPr/>
          </a:p>
        </p:txBody>
      </p:sp>
      <p:sp>
        <p:nvSpPr>
          <p:cNvPr id="63" name="AutoShape 6">
            <a:extLst>
              <a:ext uri="{FF2B5EF4-FFF2-40B4-BE49-F238E27FC236}">
                <a16:creationId xmlns:a16="http://schemas.microsoft.com/office/drawing/2014/main" id="{A81739CD-7228-8A62-CB48-D232579FB62F}"/>
              </a:ext>
            </a:extLst>
          </p:cNvPr>
          <p:cNvSpPr/>
          <p:nvPr/>
        </p:nvSpPr>
        <p:spPr>
          <a:xfrm>
            <a:off x="624591" y="2876826"/>
            <a:ext cx="1997909" cy="54749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chemeClr val="tx1">
                    <a:lumMod val="95000"/>
                    <a:lumOff val="5000"/>
                  </a:schemeClr>
                </a:solidFill>
                <a:latin typeface="Noto Sans SC"/>
                <a:ea typeface="Noto Sans SC"/>
                <a:cs typeface="Noto Sans SC"/>
                <a:sym typeface="Noto Sans SC"/>
              </a:rPr>
              <a:t>01 </a:t>
            </a:r>
            <a:r>
              <a:rPr lang="en-US" sz="2000" b="1" i="0" u="none" strike="noStrike" dirty="0" err="1">
                <a:solidFill>
                  <a:schemeClr val="tx1">
                    <a:lumMod val="95000"/>
                    <a:lumOff val="5000"/>
                  </a:schemeClr>
                </a:solidFill>
                <a:latin typeface="Noto Sans SC"/>
                <a:ea typeface="Noto Sans SC"/>
                <a:cs typeface="Noto Sans SC"/>
                <a:sym typeface="Noto Sans SC"/>
              </a:rPr>
              <a:t>前沿技术栈</a:t>
            </a:r>
            <a:endParaRPr lang="en-US" sz="1200" dirty="0">
              <a:solidFill>
                <a:schemeClr val="tx1">
                  <a:lumMod val="95000"/>
                  <a:lumOff val="5000"/>
                </a:schemeClr>
              </a:solidFill>
            </a:endParaRPr>
          </a:p>
        </p:txBody>
      </p:sp>
      <p:sp>
        <p:nvSpPr>
          <p:cNvPr id="65" name="AutoShape 7">
            <a:extLst>
              <a:ext uri="{FF2B5EF4-FFF2-40B4-BE49-F238E27FC236}">
                <a16:creationId xmlns:a16="http://schemas.microsoft.com/office/drawing/2014/main" id="{9B02B2D6-EADD-5623-9CB8-9DCA13CC54F0}"/>
              </a:ext>
            </a:extLst>
          </p:cNvPr>
          <p:cNvSpPr/>
          <p:nvPr/>
        </p:nvSpPr>
        <p:spPr>
          <a:xfrm>
            <a:off x="624591" y="3580710"/>
            <a:ext cx="2023063" cy="209874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dirty="0" err="1">
                <a:latin typeface="Noto Sans SC"/>
                <a:ea typeface="Noto Sans SC"/>
                <a:cs typeface="Noto Sans SC"/>
                <a:sym typeface="Noto Sans SC"/>
              </a:rPr>
              <a:t>基于</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Tauri 2 (Rust)</a:t>
            </a:r>
            <a:r>
              <a:rPr lang="en-US" sz="1500" b="0" i="0" u="none" strike="noStrike" dirty="0">
                <a:latin typeface="Noto Sans SC"/>
                <a:ea typeface="Noto Sans SC"/>
                <a:cs typeface="Noto Sans SC"/>
                <a:sym typeface="Noto Sans SC"/>
              </a:rPr>
              <a:t> </a:t>
            </a:r>
            <a:r>
              <a:rPr lang="en-US" sz="1500" b="0" i="0" u="none" strike="noStrike" dirty="0" err="1">
                <a:latin typeface="Noto Sans SC"/>
                <a:ea typeface="Noto Sans SC"/>
                <a:cs typeface="Noto Sans SC"/>
                <a:sym typeface="Noto Sans SC"/>
              </a:rPr>
              <a:t>构建高性能桌面端，前端采用</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React 18 + TypeScript + Vite5 </a:t>
            </a:r>
            <a:r>
              <a:rPr lang="en-US" sz="1500" b="0" i="0" u="none" strike="noStrike" dirty="0" err="1">
                <a:latin typeface="Noto Sans SC"/>
                <a:ea typeface="Noto Sans SC"/>
                <a:cs typeface="Noto Sans SC"/>
                <a:sym typeface="Noto Sans SC"/>
              </a:rPr>
              <a:t>组合，集成</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SQLite (WAL+FTS5) </a:t>
            </a:r>
            <a:r>
              <a:rPr lang="en-US" sz="1500" b="0" i="0" u="none" strike="noStrike" dirty="0" err="1">
                <a:latin typeface="Noto Sans SC"/>
                <a:ea typeface="Noto Sans SC"/>
                <a:cs typeface="Noto Sans SC"/>
                <a:sym typeface="Noto Sans SC"/>
              </a:rPr>
              <a:t>实现轻量级高效存储，配合</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NSIS </a:t>
            </a:r>
            <a:r>
              <a:rPr lang="en-US" sz="1500" b="0" i="0" u="none" strike="noStrike" dirty="0" err="1">
                <a:latin typeface="Noto Sans SC"/>
                <a:ea typeface="Noto Sans SC"/>
                <a:cs typeface="Noto Sans SC"/>
                <a:sym typeface="Noto Sans SC"/>
              </a:rPr>
              <a:t>打包实现无缝分发</a:t>
            </a:r>
            <a:r>
              <a:rPr lang="en-US" sz="1500" b="0" i="0" u="none" strike="noStrike" dirty="0">
                <a:latin typeface="Noto Sans SC"/>
                <a:ea typeface="Noto Sans SC"/>
                <a:cs typeface="Noto Sans SC"/>
                <a:sym typeface="Noto Sans SC"/>
              </a:rPr>
              <a:t>。</a:t>
            </a:r>
            <a:endParaRPr lang="en-US" sz="1500" dirty="0"/>
          </a:p>
        </p:txBody>
      </p:sp>
      <p:sp>
        <p:nvSpPr>
          <p:cNvPr id="79" name="AutoShape 5">
            <a:extLst>
              <a:ext uri="{FF2B5EF4-FFF2-40B4-BE49-F238E27FC236}">
                <a16:creationId xmlns:a16="http://schemas.microsoft.com/office/drawing/2014/main" id="{09777CE3-9A7D-8296-880C-6EBE09D5FC46}"/>
              </a:ext>
            </a:extLst>
          </p:cNvPr>
          <p:cNvSpPr/>
          <p:nvPr/>
        </p:nvSpPr>
        <p:spPr>
          <a:xfrm>
            <a:off x="3088449" y="2673350"/>
            <a:ext cx="2412564" cy="3358057"/>
          </a:xfrm>
          <a:prstGeom prst="roundRect">
            <a:avLst>
              <a:gd name="adj" fmla="val 0"/>
            </a:avLst>
          </a:prstGeom>
          <a:solidFill>
            <a:srgbClr val="FFF3F3"/>
          </a:solidFill>
          <a:ln w="12700" cap="flat" cmpd="sng">
            <a:noFill/>
            <a:prstDash val="solid"/>
            <a:round/>
          </a:ln>
        </p:spPr>
        <p:txBody>
          <a:bodyPr vert="horz" wrap="square" lIns="63500" tIns="63500" rIns="63500" bIns="63500" rtlCol="0" anchor="ctr"/>
          <a:lstStyle/>
          <a:p>
            <a:pPr algn="ctr">
              <a:defRPr/>
            </a:pPr>
            <a:endParaRPr/>
          </a:p>
        </p:txBody>
      </p:sp>
      <p:sp>
        <p:nvSpPr>
          <p:cNvPr id="69" name="AutoShape 9">
            <a:extLst>
              <a:ext uri="{FF2B5EF4-FFF2-40B4-BE49-F238E27FC236}">
                <a16:creationId xmlns:a16="http://schemas.microsoft.com/office/drawing/2014/main" id="{3FA2FB02-3BDA-FCA8-2EF7-A4D050475820}"/>
              </a:ext>
            </a:extLst>
          </p:cNvPr>
          <p:cNvSpPr/>
          <p:nvPr/>
        </p:nvSpPr>
        <p:spPr>
          <a:xfrm>
            <a:off x="3288256" y="2958170"/>
            <a:ext cx="2182381"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dirty="0">
                <a:solidFill>
                  <a:schemeClr val="tx1">
                    <a:lumMod val="95000"/>
                    <a:lumOff val="5000"/>
                  </a:schemeClr>
                </a:solidFill>
                <a:latin typeface="Noto Sans SC"/>
                <a:ea typeface="Noto Sans SC"/>
                <a:cs typeface="Noto Sans SC"/>
                <a:sym typeface="Noto Sans SC"/>
              </a:rPr>
              <a:t>02 </a:t>
            </a:r>
            <a:r>
              <a:rPr lang="en-US" sz="1900" b="1" i="0" u="none" strike="noStrike" dirty="0" err="1">
                <a:solidFill>
                  <a:schemeClr val="tx1">
                    <a:lumMod val="95000"/>
                    <a:lumOff val="5000"/>
                  </a:schemeClr>
                </a:solidFill>
                <a:latin typeface="Noto Sans SC"/>
                <a:ea typeface="Noto Sans SC"/>
                <a:cs typeface="Noto Sans SC"/>
                <a:sym typeface="Noto Sans SC"/>
              </a:rPr>
              <a:t>灵活的环境适配</a:t>
            </a:r>
            <a:endParaRPr lang="en-US" sz="1900" dirty="0">
              <a:solidFill>
                <a:schemeClr val="tx1">
                  <a:lumMod val="95000"/>
                  <a:lumOff val="5000"/>
                </a:schemeClr>
              </a:solidFill>
            </a:endParaRPr>
          </a:p>
        </p:txBody>
      </p:sp>
      <p:sp>
        <p:nvSpPr>
          <p:cNvPr id="71" name="AutoShape 10">
            <a:extLst>
              <a:ext uri="{FF2B5EF4-FFF2-40B4-BE49-F238E27FC236}">
                <a16:creationId xmlns:a16="http://schemas.microsoft.com/office/drawing/2014/main" id="{92909AE7-5875-7D68-0ACA-AA90615213CF}"/>
              </a:ext>
            </a:extLst>
          </p:cNvPr>
          <p:cNvSpPr/>
          <p:nvPr/>
        </p:nvSpPr>
        <p:spPr>
          <a:xfrm>
            <a:off x="3288256" y="3849030"/>
            <a:ext cx="201295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dirty="0" err="1">
                <a:latin typeface="Noto Sans SC"/>
                <a:ea typeface="Noto Sans SC"/>
                <a:cs typeface="Noto Sans SC"/>
                <a:sym typeface="Noto Sans SC"/>
              </a:rPr>
              <a:t>支持</a:t>
            </a:r>
            <a:r>
              <a:rPr lang="en-US" sz="1500" b="1" i="0" u="none" strike="noStrike" dirty="0" err="1">
                <a:latin typeface="Noto Sans SC"/>
                <a:ea typeface="Noto Sans SC"/>
                <a:cs typeface="Noto Sans SC"/>
                <a:sym typeface="Noto Sans SC"/>
              </a:rPr>
              <a:t>桌面端</a:t>
            </a:r>
            <a:r>
              <a:rPr lang="en-US" sz="1500" b="1" i="0" u="none" strike="noStrike" dirty="0">
                <a:latin typeface="Noto Sans SC"/>
                <a:ea typeface="Noto Sans SC"/>
                <a:cs typeface="Noto Sans SC"/>
                <a:sym typeface="Noto Sans SC"/>
              </a:rPr>
              <a:t> SQLite</a:t>
            </a:r>
            <a:r>
              <a:rPr lang="en-US" sz="1500" b="0" i="0" u="none" strike="noStrike" dirty="0">
                <a:latin typeface="Noto Sans SC"/>
                <a:ea typeface="Noto Sans SC"/>
                <a:cs typeface="Noto Sans SC"/>
                <a:sym typeface="Noto Sans SC"/>
              </a:rPr>
              <a:t> </a:t>
            </a:r>
            <a:r>
              <a:rPr lang="en-US" sz="1500" i="0" u="none" strike="noStrike" dirty="0" err="1">
                <a:latin typeface="Noto Sans SC"/>
                <a:ea typeface="Noto Sans SC"/>
                <a:cs typeface="Noto Sans SC"/>
                <a:sym typeface="Noto Sans SC"/>
              </a:rPr>
              <a:t>与</a:t>
            </a:r>
            <a:r>
              <a:rPr lang="en-US" sz="1500" b="1" i="0" u="none" strike="noStrike" dirty="0" err="1">
                <a:latin typeface="Noto Sans SC"/>
                <a:ea typeface="Noto Sans SC"/>
                <a:cs typeface="Noto Sans SC"/>
                <a:sym typeface="Noto Sans SC"/>
              </a:rPr>
              <a:t>浏览器端</a:t>
            </a:r>
            <a:r>
              <a:rPr lang="en-US" sz="1500" b="1" i="0" u="none" strike="noStrike" dirty="0">
                <a:latin typeface="Noto Sans SC"/>
                <a:ea typeface="Noto Sans SC"/>
                <a:cs typeface="Noto Sans SC"/>
                <a:sym typeface="Noto Sans SC"/>
              </a:rPr>
              <a:t> </a:t>
            </a:r>
            <a:r>
              <a:rPr lang="en-US" sz="1500" b="1" i="0" u="none" strike="noStrike" dirty="0" err="1">
                <a:latin typeface="Noto Sans SC"/>
                <a:ea typeface="Noto Sans SC"/>
                <a:cs typeface="Noto Sans SC"/>
                <a:sym typeface="Noto Sans SC"/>
              </a:rPr>
              <a:t>localStorage</a:t>
            </a:r>
            <a:r>
              <a:rPr lang="en-US" sz="1500" b="1" i="0" u="none" strike="noStrike" dirty="0">
                <a:latin typeface="Noto Sans SC"/>
                <a:ea typeface="Noto Sans SC"/>
                <a:cs typeface="Noto Sans SC"/>
                <a:sym typeface="Noto Sans SC"/>
              </a:rPr>
              <a:t> </a:t>
            </a:r>
            <a:r>
              <a:rPr lang="en-US" sz="1500" b="0" i="0" u="none" strike="noStrike" dirty="0" err="1">
                <a:latin typeface="Noto Sans SC"/>
                <a:ea typeface="Noto Sans SC"/>
                <a:cs typeface="Noto Sans SC"/>
                <a:sym typeface="Noto Sans SC"/>
              </a:rPr>
              <a:t>自动降级，一套代码实现多端演示。</a:t>
            </a:r>
            <a:r>
              <a:rPr lang="en-US" sz="1500" b="1" i="0" u="none" strike="noStrike" dirty="0" err="1">
                <a:latin typeface="Noto Sans SC"/>
                <a:ea typeface="Noto Sans SC"/>
                <a:cs typeface="Noto Sans SC"/>
                <a:sym typeface="Noto Sans SC"/>
              </a:rPr>
              <a:t>无需额外配置密钥</a:t>
            </a:r>
            <a:r>
              <a:rPr lang="en-US" sz="1500" b="0" i="0" u="none" strike="noStrike" dirty="0" err="1">
                <a:latin typeface="Noto Sans SC"/>
                <a:ea typeface="Noto Sans SC"/>
                <a:cs typeface="Noto Sans SC"/>
                <a:sym typeface="Noto Sans SC"/>
              </a:rPr>
              <a:t>，即可完整跑通业务流程，大幅降低部署与演示门槛</a:t>
            </a:r>
            <a:r>
              <a:rPr lang="en-US" sz="1500" b="0" i="0" u="none" strike="noStrike" dirty="0">
                <a:latin typeface="Noto Sans SC"/>
                <a:ea typeface="Noto Sans SC"/>
                <a:cs typeface="Noto Sans SC"/>
                <a:sym typeface="Noto Sans SC"/>
              </a:rPr>
              <a:t>。</a:t>
            </a:r>
            <a:endParaRPr lang="en-US" sz="1500" dirty="0"/>
          </a:p>
        </p:txBody>
      </p:sp>
      <p:sp>
        <p:nvSpPr>
          <p:cNvPr id="81" name="AutoShape 5">
            <a:extLst>
              <a:ext uri="{FF2B5EF4-FFF2-40B4-BE49-F238E27FC236}">
                <a16:creationId xmlns:a16="http://schemas.microsoft.com/office/drawing/2014/main" id="{8A53492B-6B09-4B5F-F9B1-E4D19B20489A}"/>
              </a:ext>
            </a:extLst>
          </p:cNvPr>
          <p:cNvSpPr/>
          <p:nvPr/>
        </p:nvSpPr>
        <p:spPr>
          <a:xfrm>
            <a:off x="5812463" y="2673350"/>
            <a:ext cx="2412564" cy="3358057"/>
          </a:xfrm>
          <a:prstGeom prst="roundRect">
            <a:avLst>
              <a:gd name="adj" fmla="val 0"/>
            </a:avLst>
          </a:prstGeom>
          <a:solidFill>
            <a:srgbClr val="FFF3F3"/>
          </a:solidFill>
          <a:ln w="12700" cap="flat" cmpd="sng">
            <a:noFill/>
            <a:prstDash val="solid"/>
            <a:round/>
          </a:ln>
        </p:spPr>
        <p:txBody>
          <a:bodyPr vert="horz" wrap="square" lIns="63500" tIns="63500" rIns="63500" bIns="63500" rtlCol="0" anchor="ctr"/>
          <a:lstStyle/>
          <a:p>
            <a:pPr algn="ctr">
              <a:defRPr/>
            </a:pPr>
            <a:endParaRPr/>
          </a:p>
        </p:txBody>
      </p:sp>
      <p:sp>
        <p:nvSpPr>
          <p:cNvPr id="75" name="AutoShape 12">
            <a:extLst>
              <a:ext uri="{FF2B5EF4-FFF2-40B4-BE49-F238E27FC236}">
                <a16:creationId xmlns:a16="http://schemas.microsoft.com/office/drawing/2014/main" id="{1AD214D3-9CCE-242A-54BA-036FDBFF6D5B}"/>
              </a:ext>
            </a:extLst>
          </p:cNvPr>
          <p:cNvSpPr/>
          <p:nvPr/>
        </p:nvSpPr>
        <p:spPr>
          <a:xfrm>
            <a:off x="6049292" y="2925855"/>
            <a:ext cx="1789889"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dirty="0">
                <a:solidFill>
                  <a:schemeClr val="tx1">
                    <a:lumMod val="95000"/>
                    <a:lumOff val="5000"/>
                  </a:schemeClr>
                </a:solidFill>
                <a:latin typeface="Noto Sans SC"/>
                <a:ea typeface="Noto Sans SC"/>
                <a:cs typeface="Noto Sans SC"/>
                <a:sym typeface="Noto Sans SC"/>
              </a:rPr>
              <a:t>03 </a:t>
            </a:r>
            <a:r>
              <a:rPr lang="en-US" sz="1900" b="1" i="0" u="none" strike="noStrike" dirty="0" err="1">
                <a:solidFill>
                  <a:schemeClr val="tx1">
                    <a:lumMod val="95000"/>
                    <a:lumOff val="5000"/>
                  </a:schemeClr>
                </a:solidFill>
                <a:latin typeface="Noto Sans SC"/>
                <a:ea typeface="Noto Sans SC"/>
                <a:cs typeface="Noto Sans SC"/>
                <a:sym typeface="Noto Sans SC"/>
              </a:rPr>
              <a:t>高效本地检索</a:t>
            </a:r>
            <a:endParaRPr lang="en-US" sz="1900" dirty="0">
              <a:solidFill>
                <a:schemeClr val="tx1">
                  <a:lumMod val="95000"/>
                  <a:lumOff val="5000"/>
                </a:schemeClr>
              </a:solidFill>
            </a:endParaRPr>
          </a:p>
        </p:txBody>
      </p:sp>
      <p:sp>
        <p:nvSpPr>
          <p:cNvPr id="77" name="AutoShape 13">
            <a:extLst>
              <a:ext uri="{FF2B5EF4-FFF2-40B4-BE49-F238E27FC236}">
                <a16:creationId xmlns:a16="http://schemas.microsoft.com/office/drawing/2014/main" id="{3E3B02A6-877F-F4A7-5232-F81DF414433A}"/>
              </a:ext>
            </a:extLst>
          </p:cNvPr>
          <p:cNvSpPr/>
          <p:nvPr/>
        </p:nvSpPr>
        <p:spPr>
          <a:xfrm>
            <a:off x="6046066" y="3938881"/>
            <a:ext cx="1945358"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dirty="0" err="1">
                <a:latin typeface="Noto Sans SC"/>
                <a:ea typeface="Noto Sans SC"/>
                <a:cs typeface="Noto Sans SC"/>
                <a:sym typeface="Noto Sans SC"/>
              </a:rPr>
              <a:t>内置</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15万+ </a:t>
            </a:r>
            <a:r>
              <a:rPr lang="en-US" sz="1500" b="1" i="0" u="none" strike="noStrike" dirty="0" err="1">
                <a:latin typeface="Noto Sans SC"/>
                <a:ea typeface="Noto Sans SC"/>
                <a:cs typeface="Noto Sans SC"/>
                <a:sym typeface="Noto Sans SC"/>
              </a:rPr>
              <a:t>法规条文</a:t>
            </a:r>
            <a:r>
              <a:rPr lang="en-US" sz="1500" b="0" i="0" u="none" strike="noStrike" dirty="0" err="1">
                <a:latin typeface="Noto Sans SC"/>
                <a:ea typeface="Noto Sans SC"/>
                <a:cs typeface="Noto Sans SC"/>
                <a:sym typeface="Noto Sans SC"/>
              </a:rPr>
              <a:t>随包分发，实现真正的装机即用。利用</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SQLite FTS5 </a:t>
            </a:r>
            <a:r>
              <a:rPr lang="en-US" sz="1500" b="0" i="0" u="none" strike="noStrike" dirty="0" err="1">
                <a:latin typeface="Noto Sans SC"/>
                <a:ea typeface="Noto Sans SC"/>
                <a:cs typeface="Noto Sans SC"/>
                <a:sym typeface="Noto Sans SC"/>
              </a:rPr>
              <a:t>结合</a:t>
            </a:r>
            <a:r>
              <a:rPr lang="en-US" sz="1500" b="0" i="0" u="none" strike="noStrike" dirty="0">
                <a:latin typeface="Noto Sans SC"/>
                <a:ea typeface="Noto Sans SC"/>
                <a:cs typeface="Noto Sans SC"/>
                <a:sym typeface="Noto Sans SC"/>
              </a:rPr>
              <a:t> </a:t>
            </a:r>
            <a:r>
              <a:rPr lang="en-US" sz="1500" b="1" i="0" u="none" strike="noStrike" dirty="0">
                <a:latin typeface="Noto Sans SC"/>
                <a:ea typeface="Noto Sans SC"/>
                <a:cs typeface="Noto Sans SC"/>
                <a:sym typeface="Noto Sans SC"/>
              </a:rPr>
              <a:t>Trigram </a:t>
            </a:r>
            <a:r>
              <a:rPr lang="en-US" sz="1500" b="1" i="0" u="none" strike="noStrike" dirty="0" err="1">
                <a:latin typeface="Noto Sans SC"/>
                <a:ea typeface="Noto Sans SC"/>
                <a:cs typeface="Noto Sans SC"/>
                <a:sym typeface="Noto Sans SC"/>
              </a:rPr>
              <a:t>分词与</a:t>
            </a:r>
            <a:r>
              <a:rPr lang="en-US" sz="1500" b="1" i="0" u="none" strike="noStrike" dirty="0">
                <a:latin typeface="Noto Sans SC"/>
                <a:ea typeface="Noto Sans SC"/>
                <a:cs typeface="Noto Sans SC"/>
                <a:sym typeface="Noto Sans SC"/>
              </a:rPr>
              <a:t> BM25 </a:t>
            </a:r>
            <a:r>
              <a:rPr lang="en-US" sz="1500" b="1" i="0" u="none" strike="noStrike" dirty="0" err="1">
                <a:latin typeface="Noto Sans SC"/>
                <a:ea typeface="Noto Sans SC"/>
                <a:cs typeface="Noto Sans SC"/>
                <a:sym typeface="Noto Sans SC"/>
              </a:rPr>
              <a:t>算法</a:t>
            </a:r>
            <a:r>
              <a:rPr lang="en-US" sz="1500" b="0" i="0" u="none" strike="noStrike" dirty="0" err="1">
                <a:latin typeface="Noto Sans SC"/>
                <a:ea typeface="Noto Sans SC"/>
                <a:cs typeface="Noto Sans SC"/>
                <a:sym typeface="Noto Sans SC"/>
              </a:rPr>
              <a:t>，实现</a:t>
            </a:r>
            <a:r>
              <a:rPr lang="en-US" sz="1500" b="1" i="0" u="none" strike="noStrike" dirty="0" err="1">
                <a:latin typeface="Noto Sans SC"/>
                <a:ea typeface="Noto Sans SC"/>
                <a:cs typeface="Noto Sans SC"/>
                <a:sym typeface="Noto Sans SC"/>
              </a:rPr>
              <a:t>毫秒级</a:t>
            </a:r>
            <a:r>
              <a:rPr lang="en-US" sz="1500" b="0" i="0" u="none" strike="noStrike" dirty="0" err="1">
                <a:latin typeface="Noto Sans SC"/>
                <a:ea typeface="Noto Sans SC"/>
                <a:cs typeface="Noto Sans SC"/>
                <a:sym typeface="Noto Sans SC"/>
              </a:rPr>
              <a:t>模糊检索，平衡性能与检索准确性</a:t>
            </a:r>
            <a:r>
              <a:rPr lang="en-US" sz="1500" b="0" i="0" u="none" strike="noStrike" dirty="0">
                <a:latin typeface="Noto Sans SC"/>
                <a:ea typeface="Noto Sans SC"/>
                <a:cs typeface="Noto Sans SC"/>
                <a:sym typeface="Noto Sans SC"/>
              </a:rPr>
              <a:t>。</a:t>
            </a:r>
            <a:endParaRPr lang="en-US" sz="1500" dirty="0"/>
          </a:p>
        </p:txBody>
      </p:sp>
    </p:spTree>
    <p:extLst>
      <p:ext uri="{BB962C8B-B14F-4D97-AF65-F5344CB8AC3E}">
        <p14:creationId xmlns:p14="http://schemas.microsoft.com/office/powerpoint/2010/main" val="416723509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DD88043-3EB4-4A6B-87F2-1AEF699984DD}"/>
              </a:ext>
            </a:extLst>
          </p:cNvPr>
          <p:cNvSpPr/>
          <p:nvPr/>
        </p:nvSpPr>
        <p:spPr>
          <a:xfrm>
            <a:off x="0" y="4069566"/>
            <a:ext cx="12192000" cy="278843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EFFA858B-FFE4-4894-A611-9858CA90CB42}"/>
              </a:ext>
            </a:extLst>
          </p:cNvPr>
          <p:cNvSpPr txBox="1"/>
          <p:nvPr/>
        </p:nvSpPr>
        <p:spPr>
          <a:xfrm>
            <a:off x="2399668" y="2630426"/>
            <a:ext cx="2883723" cy="414879"/>
          </a:xfrm>
          <a:prstGeom prst="rect">
            <a:avLst/>
          </a:prstGeom>
          <a:noFill/>
        </p:spPr>
        <p:txBody>
          <a:bodyPr wrap="square" rtlCol="0">
            <a:spAutoFit/>
          </a:bodyPr>
          <a:lstStyle/>
          <a:p>
            <a:r>
              <a:rPr lang="zh-CN" altLang="en-US" sz="2000" dirty="0">
                <a:solidFill>
                  <a:schemeClr val="bg1"/>
                </a:solidFill>
                <a:latin typeface="思源黑体 CN Light" panose="020B0300000000000000" pitchFamily="34" charset="-122"/>
                <a:ea typeface="思源黑体 CN Light" panose="020B0300000000000000" pitchFamily="34" charset="-122"/>
              </a:rPr>
              <a:t>输入标题</a:t>
            </a:r>
          </a:p>
        </p:txBody>
      </p:sp>
      <p:sp>
        <p:nvSpPr>
          <p:cNvPr id="27" name="文本框 26">
            <a:extLst>
              <a:ext uri="{FF2B5EF4-FFF2-40B4-BE49-F238E27FC236}">
                <a16:creationId xmlns:a16="http://schemas.microsoft.com/office/drawing/2014/main" id="{95872B05-F2DF-4135-B0B9-E5FEAB5BCD91}"/>
              </a:ext>
            </a:extLst>
          </p:cNvPr>
          <p:cNvSpPr txBox="1"/>
          <p:nvPr/>
        </p:nvSpPr>
        <p:spPr>
          <a:xfrm>
            <a:off x="4297221" y="2630426"/>
            <a:ext cx="2883723" cy="414879"/>
          </a:xfrm>
          <a:prstGeom prst="rect">
            <a:avLst/>
          </a:prstGeom>
          <a:noFill/>
        </p:spPr>
        <p:txBody>
          <a:bodyPr wrap="square" rtlCol="0">
            <a:spAutoFit/>
          </a:bodyPr>
          <a:lstStyle/>
          <a:p>
            <a:r>
              <a:rPr lang="zh-CN" altLang="en-US" sz="2000">
                <a:solidFill>
                  <a:schemeClr val="bg1"/>
                </a:solidFill>
                <a:latin typeface="思源黑体 CN Light" panose="020B0300000000000000" pitchFamily="34" charset="-122"/>
                <a:ea typeface="思源黑体 CN Light" panose="020B0300000000000000" pitchFamily="34" charset="-122"/>
              </a:rPr>
              <a:t>输入标题</a:t>
            </a:r>
          </a:p>
        </p:txBody>
      </p:sp>
      <p:sp>
        <p:nvSpPr>
          <p:cNvPr id="29" name="文本框 28">
            <a:extLst>
              <a:ext uri="{FF2B5EF4-FFF2-40B4-BE49-F238E27FC236}">
                <a16:creationId xmlns:a16="http://schemas.microsoft.com/office/drawing/2014/main" id="{E769C609-E5FC-458F-936F-9365C1F6C4B6}"/>
              </a:ext>
            </a:extLst>
          </p:cNvPr>
          <p:cNvSpPr txBox="1"/>
          <p:nvPr/>
        </p:nvSpPr>
        <p:spPr>
          <a:xfrm>
            <a:off x="6387168" y="2630426"/>
            <a:ext cx="2883723" cy="414879"/>
          </a:xfrm>
          <a:prstGeom prst="rect">
            <a:avLst/>
          </a:prstGeom>
          <a:noFill/>
        </p:spPr>
        <p:txBody>
          <a:bodyPr wrap="square" rtlCol="0">
            <a:spAutoFit/>
          </a:bodyPr>
          <a:lstStyle/>
          <a:p>
            <a:r>
              <a:rPr lang="zh-CN" altLang="en-US" sz="2000" dirty="0">
                <a:solidFill>
                  <a:schemeClr val="bg1"/>
                </a:solidFill>
                <a:latin typeface="思源黑体 CN Light" panose="020B0300000000000000" pitchFamily="34" charset="-122"/>
                <a:ea typeface="思源黑体 CN Light" panose="020B0300000000000000" pitchFamily="34" charset="-122"/>
              </a:rPr>
              <a:t>输入标</a:t>
            </a:r>
          </a:p>
        </p:txBody>
      </p:sp>
      <p:sp>
        <p:nvSpPr>
          <p:cNvPr id="31" name="文本框 30">
            <a:extLst>
              <a:ext uri="{FF2B5EF4-FFF2-40B4-BE49-F238E27FC236}">
                <a16:creationId xmlns:a16="http://schemas.microsoft.com/office/drawing/2014/main" id="{DBAEE477-3F42-4B69-B68B-CD034052BBDA}"/>
              </a:ext>
            </a:extLst>
          </p:cNvPr>
          <p:cNvSpPr txBox="1"/>
          <p:nvPr/>
        </p:nvSpPr>
        <p:spPr>
          <a:xfrm>
            <a:off x="8382312" y="2630426"/>
            <a:ext cx="2883723" cy="414879"/>
          </a:xfrm>
          <a:prstGeom prst="rect">
            <a:avLst/>
          </a:prstGeom>
          <a:noFill/>
        </p:spPr>
        <p:txBody>
          <a:bodyPr wrap="square" rtlCol="0">
            <a:spAutoFit/>
          </a:bodyPr>
          <a:lstStyle/>
          <a:p>
            <a:r>
              <a:rPr lang="zh-CN" altLang="en-US" sz="2000">
                <a:solidFill>
                  <a:schemeClr val="bg1"/>
                </a:solidFill>
                <a:latin typeface="思源黑体 CN Light" panose="020B0300000000000000" pitchFamily="34" charset="-122"/>
                <a:ea typeface="思源黑体 CN Light" panose="020B0300000000000000" pitchFamily="34" charset="-122"/>
              </a:rPr>
              <a:t>输入标题</a:t>
            </a:r>
          </a:p>
        </p:txBody>
      </p:sp>
      <p:sp>
        <p:nvSpPr>
          <p:cNvPr id="3" name="文本框 2">
            <a:extLst>
              <a:ext uri="{FF2B5EF4-FFF2-40B4-BE49-F238E27FC236}">
                <a16:creationId xmlns:a16="http://schemas.microsoft.com/office/drawing/2014/main" id="{07F11A02-D45D-71FB-C006-78BB24CBF3D1}"/>
              </a:ext>
            </a:extLst>
          </p:cNvPr>
          <p:cNvSpPr txBox="1"/>
          <p:nvPr/>
        </p:nvSpPr>
        <p:spPr>
          <a:xfrm>
            <a:off x="635000" y="1122488"/>
            <a:ext cx="3881399" cy="518860"/>
          </a:xfrm>
          <a:prstGeom prst="rect">
            <a:avLst/>
          </a:prstGeom>
          <a:noFill/>
        </p:spPr>
        <p:txBody>
          <a:bodyPr wrap="square" rtlCol="0">
            <a:spAutoFit/>
          </a:bodyPr>
          <a:lstStyle/>
          <a:p>
            <a:pPr>
              <a:lnSpc>
                <a:spcPct val="125000"/>
              </a:lnSpc>
              <a:defRPr/>
            </a:pPr>
            <a:r>
              <a:rPr lang="en-US" altLang="zh-CN" sz="2400" b="1" dirty="0" err="1">
                <a:latin typeface="Noto Sans SC"/>
                <a:ea typeface="Noto Sans SC"/>
                <a:cs typeface="Noto Sans SC"/>
                <a:sym typeface="Noto Sans SC"/>
              </a:rPr>
              <a:t>五环流水线与反幻觉工程</a:t>
            </a:r>
            <a:endParaRPr lang="en-US" altLang="zh-CN" sz="1200" b="1" dirty="0"/>
          </a:p>
        </p:txBody>
      </p:sp>
      <p:sp>
        <p:nvSpPr>
          <p:cNvPr id="13" name="矩形 12">
            <a:extLst>
              <a:ext uri="{FF2B5EF4-FFF2-40B4-BE49-F238E27FC236}">
                <a16:creationId xmlns:a16="http://schemas.microsoft.com/office/drawing/2014/main" id="{3B397C22-0DF5-9636-E00E-76D78168463B}"/>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1" name="平行四边形 20">
            <a:extLst>
              <a:ext uri="{FF2B5EF4-FFF2-40B4-BE49-F238E27FC236}">
                <a16:creationId xmlns:a16="http://schemas.microsoft.com/office/drawing/2014/main" id="{4C31A828-8C9A-F8EE-4A4F-FC34DC8B7077}"/>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平行四边形 37">
            <a:extLst>
              <a:ext uri="{FF2B5EF4-FFF2-40B4-BE49-F238E27FC236}">
                <a16:creationId xmlns:a16="http://schemas.microsoft.com/office/drawing/2014/main" id="{F78286B7-DADC-0137-A6D6-FB0B316E5CA4}"/>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90E82099-3E00-024C-F988-4660D41E8A71}"/>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技术介绍</a:t>
            </a:r>
            <a:endParaRPr lang="en-US" altLang="zh-CN" sz="3600" dirty="0"/>
          </a:p>
        </p:txBody>
      </p:sp>
      <p:pic>
        <p:nvPicPr>
          <p:cNvPr id="42" name="图片 41">
            <a:extLst>
              <a:ext uri="{FF2B5EF4-FFF2-40B4-BE49-F238E27FC236}">
                <a16:creationId xmlns:a16="http://schemas.microsoft.com/office/drawing/2014/main" id="{06519409-7DFD-49F5-369C-5EAE66302035}"/>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41" name="AutoShape 5">
            <a:extLst>
              <a:ext uri="{FF2B5EF4-FFF2-40B4-BE49-F238E27FC236}">
                <a16:creationId xmlns:a16="http://schemas.microsoft.com/office/drawing/2014/main" id="{42CB7566-2CED-36F3-638A-67499E629AC3}"/>
              </a:ext>
            </a:extLst>
          </p:cNvPr>
          <p:cNvSpPr/>
          <p:nvPr/>
        </p:nvSpPr>
        <p:spPr>
          <a:xfrm>
            <a:off x="812800" y="1693672"/>
            <a:ext cx="3124200" cy="30058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i="0" u="none" strike="noStrike" dirty="0" err="1">
                <a:latin typeface="Noto Sans SC"/>
                <a:ea typeface="Noto Sans SC"/>
                <a:cs typeface="Noto Sans SC"/>
                <a:sym typeface="Noto Sans SC"/>
              </a:rPr>
              <a:t>五环全链路标准化作业流程</a:t>
            </a:r>
            <a:endParaRPr lang="en-US" sz="1100" dirty="0"/>
          </a:p>
        </p:txBody>
      </p:sp>
      <p:sp>
        <p:nvSpPr>
          <p:cNvPr id="44" name="AutoShape 6">
            <a:extLst>
              <a:ext uri="{FF2B5EF4-FFF2-40B4-BE49-F238E27FC236}">
                <a16:creationId xmlns:a16="http://schemas.microsoft.com/office/drawing/2014/main" id="{4EAF2684-7FE6-E1A3-E411-76195BCD4F12}"/>
              </a:ext>
            </a:extLst>
          </p:cNvPr>
          <p:cNvSpPr/>
          <p:nvPr/>
        </p:nvSpPr>
        <p:spPr>
          <a:xfrm>
            <a:off x="603250" y="2170312"/>
            <a:ext cx="2184400" cy="1587500"/>
          </a:xfrm>
          <a:prstGeom prst="roundRect">
            <a:avLst>
              <a:gd name="adj" fmla="val 0"/>
            </a:avLst>
          </a:prstGeom>
          <a:solidFill>
            <a:srgbClr val="FFFFFF">
              <a:alpha val="8000"/>
            </a:srgbClr>
          </a:solidFill>
          <a:ln w="25400" cap="flat" cmpd="sng">
            <a:solidFill>
              <a:schemeClr val="tx1">
                <a:lumMod val="95000"/>
                <a:lumOff val="5000"/>
                <a:alpha val="30000"/>
              </a:schemeClr>
            </a:solidFill>
            <a:prstDash val="solid"/>
            <a:round/>
          </a:ln>
        </p:spPr>
        <p:txBody>
          <a:bodyPr vert="horz" wrap="square" lIns="63500" tIns="63500" rIns="63500" bIns="63500" rtlCol="0" anchor="ctr"/>
          <a:lstStyle/>
          <a:p>
            <a:pPr algn="ctr">
              <a:defRPr/>
            </a:pPr>
            <a:endParaRPr/>
          </a:p>
        </p:txBody>
      </p:sp>
      <p:sp>
        <p:nvSpPr>
          <p:cNvPr id="46" name="AutoShape 7">
            <a:extLst>
              <a:ext uri="{FF2B5EF4-FFF2-40B4-BE49-F238E27FC236}">
                <a16:creationId xmlns:a16="http://schemas.microsoft.com/office/drawing/2014/main" id="{6529D425-8300-2A11-E533-841C734C7B0D}"/>
              </a:ext>
            </a:extLst>
          </p:cNvPr>
          <p:cNvSpPr/>
          <p:nvPr/>
        </p:nvSpPr>
        <p:spPr>
          <a:xfrm>
            <a:off x="715645" y="2306506"/>
            <a:ext cx="1965960" cy="13804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latin typeface="Noto Sans SC"/>
                <a:ea typeface="Noto Sans SC"/>
                <a:cs typeface="Noto Sans SC"/>
                <a:sym typeface="Noto Sans SC"/>
              </a:rPr>
              <a:t>01 </a:t>
            </a:r>
            <a:r>
              <a:rPr lang="en-US" sz="1600" b="1" i="0" u="none" strike="noStrike" dirty="0" err="1">
                <a:latin typeface="Noto Sans SC"/>
                <a:ea typeface="Noto Sans SC"/>
                <a:cs typeface="Noto Sans SC"/>
                <a:sym typeface="Noto Sans SC"/>
              </a:rPr>
              <a:t>任务规划</a:t>
            </a:r>
            <a:endParaRPr lang="en-US" sz="1200" dirty="0"/>
          </a:p>
          <a:p>
            <a:pPr marL="0" indent="0" algn="l">
              <a:lnSpc>
                <a:spcPct val="108333"/>
              </a:lnSpc>
            </a:pPr>
            <a:r>
              <a:rPr lang="en-US" sz="1400" b="0" i="0" u="none" strike="noStrike" dirty="0" err="1">
                <a:latin typeface="Noto Sans SC"/>
                <a:ea typeface="Noto Sans SC"/>
                <a:cs typeface="Noto Sans SC"/>
                <a:sym typeface="Noto Sans SC"/>
              </a:rPr>
              <a:t>基于LLM进行需求结构化拆解，精准定义任务目标与执行路径，奠定可靠基础</a:t>
            </a:r>
            <a:r>
              <a:rPr lang="en-US" sz="1400" b="0" i="0" u="none" strike="noStrike" dirty="0">
                <a:latin typeface="Noto Sans SC"/>
                <a:ea typeface="Noto Sans SC"/>
                <a:cs typeface="Noto Sans SC"/>
                <a:sym typeface="Noto Sans SC"/>
              </a:rPr>
              <a:t>。</a:t>
            </a:r>
          </a:p>
        </p:txBody>
      </p:sp>
      <p:sp>
        <p:nvSpPr>
          <p:cNvPr id="48" name="AutoShape 8">
            <a:extLst>
              <a:ext uri="{FF2B5EF4-FFF2-40B4-BE49-F238E27FC236}">
                <a16:creationId xmlns:a16="http://schemas.microsoft.com/office/drawing/2014/main" id="{BDC2894A-48D7-4EDF-25A2-91AF7929D6AE}"/>
              </a:ext>
            </a:extLst>
          </p:cNvPr>
          <p:cNvSpPr/>
          <p:nvPr/>
        </p:nvSpPr>
        <p:spPr>
          <a:xfrm>
            <a:off x="2787650" y="2170312"/>
            <a:ext cx="2184400" cy="1587500"/>
          </a:xfrm>
          <a:prstGeom prst="roundRect">
            <a:avLst>
              <a:gd name="adj" fmla="val 0"/>
            </a:avLst>
          </a:prstGeom>
          <a:solidFill>
            <a:srgbClr val="FFFFFF">
              <a:alpha val="8000"/>
            </a:srgbClr>
          </a:solidFill>
          <a:ln w="254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sp>
        <p:nvSpPr>
          <p:cNvPr id="50" name="AutoShape 9">
            <a:extLst>
              <a:ext uri="{FF2B5EF4-FFF2-40B4-BE49-F238E27FC236}">
                <a16:creationId xmlns:a16="http://schemas.microsoft.com/office/drawing/2014/main" id="{5A48DA2B-49A6-5016-4B2B-CD720A9DD07A}"/>
              </a:ext>
            </a:extLst>
          </p:cNvPr>
          <p:cNvSpPr/>
          <p:nvPr/>
        </p:nvSpPr>
        <p:spPr>
          <a:xfrm>
            <a:off x="2900045" y="2306506"/>
            <a:ext cx="1965960" cy="13804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latin typeface="Noto Sans SC"/>
                <a:ea typeface="Noto Sans SC"/>
                <a:cs typeface="Noto Sans SC"/>
                <a:sym typeface="Noto Sans SC"/>
              </a:rPr>
              <a:t>02 </a:t>
            </a:r>
            <a:r>
              <a:rPr lang="en-US" sz="1600" b="1" i="0" u="none" strike="noStrike" dirty="0" err="1">
                <a:latin typeface="Noto Sans SC"/>
                <a:ea typeface="Noto Sans SC"/>
                <a:cs typeface="Noto Sans SC"/>
                <a:sym typeface="Noto Sans SC"/>
              </a:rPr>
              <a:t>智能调用</a:t>
            </a:r>
            <a:endParaRPr lang="en-US" sz="1200" dirty="0"/>
          </a:p>
          <a:p>
            <a:pPr marL="0" indent="0" algn="l">
              <a:lnSpc>
                <a:spcPct val="108333"/>
              </a:lnSpc>
            </a:pPr>
            <a:r>
              <a:rPr lang="en-US" sz="1400" b="0" i="0" u="none" strike="noStrike" dirty="0" err="1">
                <a:latin typeface="Noto Sans SC"/>
                <a:ea typeface="Noto Sans SC"/>
                <a:cs typeface="Noto Sans SC"/>
                <a:sym typeface="Noto Sans SC"/>
              </a:rPr>
              <a:t>动态决策并调用外部工具，形成闭环执行循环，实时获取真实数据支撑</a:t>
            </a:r>
            <a:r>
              <a:rPr lang="en-US" sz="1400" b="0" i="0" u="none" strike="noStrike" dirty="0">
                <a:latin typeface="Noto Sans SC"/>
                <a:ea typeface="Noto Sans SC"/>
                <a:cs typeface="Noto Sans SC"/>
                <a:sym typeface="Noto Sans SC"/>
              </a:rPr>
              <a:t>。</a:t>
            </a:r>
          </a:p>
        </p:txBody>
      </p:sp>
      <p:sp>
        <p:nvSpPr>
          <p:cNvPr id="52" name="AutoShape 10">
            <a:extLst>
              <a:ext uri="{FF2B5EF4-FFF2-40B4-BE49-F238E27FC236}">
                <a16:creationId xmlns:a16="http://schemas.microsoft.com/office/drawing/2014/main" id="{517C5F06-7F1C-1996-EE8C-B45ED73045CB}"/>
              </a:ext>
            </a:extLst>
          </p:cNvPr>
          <p:cNvSpPr/>
          <p:nvPr/>
        </p:nvSpPr>
        <p:spPr>
          <a:xfrm>
            <a:off x="4972050" y="2170312"/>
            <a:ext cx="2184400" cy="1587500"/>
          </a:xfrm>
          <a:prstGeom prst="roundRect">
            <a:avLst>
              <a:gd name="adj" fmla="val 0"/>
            </a:avLst>
          </a:prstGeom>
          <a:solidFill>
            <a:srgbClr val="FFFFFF">
              <a:alpha val="8000"/>
            </a:srgbClr>
          </a:solidFill>
          <a:ln w="25400" cap="flat" cmpd="sng">
            <a:solidFill>
              <a:srgbClr val="FF0000">
                <a:alpha val="30000"/>
              </a:srgbClr>
            </a:solidFill>
            <a:prstDash val="solid"/>
            <a:round/>
          </a:ln>
        </p:spPr>
        <p:txBody>
          <a:bodyPr vert="horz" wrap="square" lIns="63500" tIns="63500" rIns="63500" bIns="63500" rtlCol="0" anchor="ctr"/>
          <a:lstStyle/>
          <a:p>
            <a:pPr algn="ctr">
              <a:defRPr/>
            </a:pPr>
            <a:endParaRPr/>
          </a:p>
        </p:txBody>
      </p:sp>
      <p:sp>
        <p:nvSpPr>
          <p:cNvPr id="54" name="AutoShape 11">
            <a:extLst>
              <a:ext uri="{FF2B5EF4-FFF2-40B4-BE49-F238E27FC236}">
                <a16:creationId xmlns:a16="http://schemas.microsoft.com/office/drawing/2014/main" id="{FBF91979-3DD9-2D4F-FF3B-68615E768B38}"/>
              </a:ext>
            </a:extLst>
          </p:cNvPr>
          <p:cNvSpPr/>
          <p:nvPr/>
        </p:nvSpPr>
        <p:spPr>
          <a:xfrm>
            <a:off x="5084445" y="2306506"/>
            <a:ext cx="1965960" cy="13804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latin typeface="Noto Sans SC"/>
                <a:ea typeface="Noto Sans SC"/>
                <a:cs typeface="Noto Sans SC"/>
                <a:sym typeface="Noto Sans SC"/>
              </a:rPr>
              <a:t>03 </a:t>
            </a:r>
            <a:r>
              <a:rPr lang="en-US" sz="1600" b="1" i="0" u="none" strike="noStrike" dirty="0" err="1">
                <a:latin typeface="Noto Sans SC"/>
                <a:ea typeface="Noto Sans SC"/>
                <a:cs typeface="Noto Sans SC"/>
                <a:sym typeface="Noto Sans SC"/>
              </a:rPr>
              <a:t>内容起草</a:t>
            </a:r>
            <a:endParaRPr lang="en-US" sz="1200" dirty="0"/>
          </a:p>
          <a:p>
            <a:pPr marL="0" indent="0" algn="l">
              <a:lnSpc>
                <a:spcPct val="108333"/>
              </a:lnSpc>
            </a:pPr>
            <a:r>
              <a:rPr lang="en-US" sz="1400" b="0" i="0" u="none" strike="noStrike" dirty="0" err="1">
                <a:latin typeface="Noto Sans SC"/>
                <a:ea typeface="Noto Sans SC"/>
                <a:cs typeface="Noto Sans SC"/>
                <a:sym typeface="Noto Sans SC"/>
              </a:rPr>
              <a:t>遵循专业角色约束，严格引用权威来源，生成逻辑严密的内容初稿</a:t>
            </a:r>
            <a:r>
              <a:rPr lang="en-US" sz="1400" b="0" i="0" u="none" strike="noStrike" dirty="0">
                <a:latin typeface="Noto Sans SC"/>
                <a:ea typeface="Noto Sans SC"/>
                <a:cs typeface="Noto Sans SC"/>
                <a:sym typeface="Noto Sans SC"/>
              </a:rPr>
              <a:t>。</a:t>
            </a:r>
          </a:p>
        </p:txBody>
      </p:sp>
      <p:sp>
        <p:nvSpPr>
          <p:cNvPr id="56" name="AutoShape 12">
            <a:extLst>
              <a:ext uri="{FF2B5EF4-FFF2-40B4-BE49-F238E27FC236}">
                <a16:creationId xmlns:a16="http://schemas.microsoft.com/office/drawing/2014/main" id="{458448D4-45F2-A8EF-217C-BD89C9F77948}"/>
              </a:ext>
            </a:extLst>
          </p:cNvPr>
          <p:cNvSpPr/>
          <p:nvPr/>
        </p:nvSpPr>
        <p:spPr>
          <a:xfrm>
            <a:off x="7156450" y="2170312"/>
            <a:ext cx="2184400" cy="1587500"/>
          </a:xfrm>
          <a:prstGeom prst="roundRect">
            <a:avLst>
              <a:gd name="adj" fmla="val 0"/>
            </a:avLst>
          </a:prstGeom>
          <a:solidFill>
            <a:srgbClr val="FFFFFF">
              <a:alpha val="8000"/>
            </a:srgbClr>
          </a:solidFill>
          <a:ln w="25400" cap="flat" cmpd="sng">
            <a:solidFill>
              <a:schemeClr val="accent2">
                <a:alpha val="30000"/>
              </a:schemeClr>
            </a:solidFill>
            <a:prstDash val="solid"/>
            <a:round/>
          </a:ln>
        </p:spPr>
        <p:txBody>
          <a:bodyPr vert="horz" wrap="square" lIns="63500" tIns="63500" rIns="63500" bIns="63500" rtlCol="0" anchor="ctr"/>
          <a:lstStyle/>
          <a:p>
            <a:pPr algn="ctr">
              <a:defRPr/>
            </a:pPr>
            <a:endParaRPr/>
          </a:p>
        </p:txBody>
      </p:sp>
      <p:sp>
        <p:nvSpPr>
          <p:cNvPr id="58" name="AutoShape 13">
            <a:extLst>
              <a:ext uri="{FF2B5EF4-FFF2-40B4-BE49-F238E27FC236}">
                <a16:creationId xmlns:a16="http://schemas.microsoft.com/office/drawing/2014/main" id="{A1F94B39-8CDB-C7A7-3F3E-077EEEF7641D}"/>
              </a:ext>
            </a:extLst>
          </p:cNvPr>
          <p:cNvSpPr/>
          <p:nvPr/>
        </p:nvSpPr>
        <p:spPr>
          <a:xfrm>
            <a:off x="7268845" y="2306506"/>
            <a:ext cx="1965960" cy="13804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latin typeface="Noto Sans SC"/>
                <a:ea typeface="Noto Sans SC"/>
                <a:cs typeface="Noto Sans SC"/>
                <a:sym typeface="Noto Sans SC"/>
              </a:rPr>
              <a:t>04 </a:t>
            </a:r>
            <a:r>
              <a:rPr lang="en-US" sz="1600" b="1" i="0" u="none" strike="noStrike" dirty="0" err="1">
                <a:latin typeface="Noto Sans SC"/>
                <a:ea typeface="Noto Sans SC"/>
                <a:cs typeface="Noto Sans SC"/>
                <a:sym typeface="Noto Sans SC"/>
              </a:rPr>
              <a:t>双重质检</a:t>
            </a:r>
            <a:endParaRPr lang="en-US" sz="1200" dirty="0"/>
          </a:p>
          <a:p>
            <a:pPr marL="0" indent="0" algn="l">
              <a:lnSpc>
                <a:spcPct val="108333"/>
              </a:lnSpc>
            </a:pPr>
            <a:r>
              <a:rPr lang="en-US" sz="1400" b="0" i="0" u="none" strike="noStrike" dirty="0" err="1">
                <a:latin typeface="Noto Sans SC"/>
                <a:ea typeface="Noto Sans SC"/>
                <a:cs typeface="Noto Sans SC"/>
                <a:sym typeface="Noto Sans SC"/>
              </a:rPr>
              <a:t>模型复核结合代码级确定性自检，双重校验机制确保内容准确无误</a:t>
            </a:r>
            <a:r>
              <a:rPr lang="en-US" sz="1400" b="0" i="0" u="none" strike="noStrike" dirty="0">
                <a:latin typeface="Noto Sans SC"/>
                <a:ea typeface="Noto Sans SC"/>
                <a:cs typeface="Noto Sans SC"/>
                <a:sym typeface="Noto Sans SC"/>
              </a:rPr>
              <a:t>。</a:t>
            </a:r>
          </a:p>
        </p:txBody>
      </p:sp>
      <p:sp>
        <p:nvSpPr>
          <p:cNvPr id="60" name="AutoShape 14">
            <a:extLst>
              <a:ext uri="{FF2B5EF4-FFF2-40B4-BE49-F238E27FC236}">
                <a16:creationId xmlns:a16="http://schemas.microsoft.com/office/drawing/2014/main" id="{B0008545-AAB4-E1F9-3D47-4597B9737196}"/>
              </a:ext>
            </a:extLst>
          </p:cNvPr>
          <p:cNvSpPr/>
          <p:nvPr/>
        </p:nvSpPr>
        <p:spPr>
          <a:xfrm>
            <a:off x="9340850" y="2170312"/>
            <a:ext cx="2184400" cy="1587500"/>
          </a:xfrm>
          <a:prstGeom prst="roundRect">
            <a:avLst>
              <a:gd name="adj" fmla="val 0"/>
            </a:avLst>
          </a:prstGeom>
          <a:solidFill>
            <a:srgbClr val="FFFFFF">
              <a:alpha val="8000"/>
            </a:srgbClr>
          </a:solidFill>
          <a:ln w="25400" cap="flat" cmpd="sng">
            <a:solidFill>
              <a:srgbClr val="D4AF37">
                <a:alpha val="30000"/>
              </a:srgbClr>
            </a:solidFill>
            <a:prstDash val="solid"/>
            <a:round/>
          </a:ln>
        </p:spPr>
        <p:txBody>
          <a:bodyPr vert="horz" wrap="square" lIns="63500" tIns="63500" rIns="63500" bIns="63500" rtlCol="0" anchor="ctr"/>
          <a:lstStyle/>
          <a:p>
            <a:pPr algn="ctr">
              <a:defRPr/>
            </a:pPr>
            <a:endParaRPr/>
          </a:p>
        </p:txBody>
      </p:sp>
      <p:sp>
        <p:nvSpPr>
          <p:cNvPr id="62" name="AutoShape 15">
            <a:extLst>
              <a:ext uri="{FF2B5EF4-FFF2-40B4-BE49-F238E27FC236}">
                <a16:creationId xmlns:a16="http://schemas.microsoft.com/office/drawing/2014/main" id="{683AF077-7802-FF6F-237E-2A4A8566A264}"/>
              </a:ext>
            </a:extLst>
          </p:cNvPr>
          <p:cNvSpPr/>
          <p:nvPr/>
        </p:nvSpPr>
        <p:spPr>
          <a:xfrm>
            <a:off x="9453245" y="2306506"/>
            <a:ext cx="1965960" cy="13804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latin typeface="Noto Sans SC"/>
                <a:ea typeface="Noto Sans SC"/>
                <a:cs typeface="Noto Sans SC"/>
                <a:sym typeface="Noto Sans SC"/>
              </a:rPr>
              <a:t>05 </a:t>
            </a:r>
            <a:r>
              <a:rPr lang="en-US" sz="1600" b="1" i="0" u="none" strike="noStrike" dirty="0" err="1">
                <a:latin typeface="Noto Sans SC"/>
                <a:ea typeface="Noto Sans SC"/>
                <a:cs typeface="Noto Sans SC"/>
                <a:sym typeface="Noto Sans SC"/>
              </a:rPr>
              <a:t>标准交付</a:t>
            </a:r>
            <a:endParaRPr lang="en-US" sz="1200" dirty="0"/>
          </a:p>
          <a:p>
            <a:pPr marL="0" indent="0" algn="l">
              <a:lnSpc>
                <a:spcPct val="108333"/>
              </a:lnSpc>
            </a:pPr>
            <a:r>
              <a:rPr lang="en-US" sz="1400" b="0" i="0" u="none" strike="noStrike" dirty="0" err="1">
                <a:latin typeface="Noto Sans SC"/>
                <a:ea typeface="Noto Sans SC"/>
                <a:cs typeface="Noto Sans SC"/>
                <a:sym typeface="Noto Sans SC"/>
              </a:rPr>
              <a:t>输出标准化五段式交付物，支持Word等格式一键导出，满足商用需求</a:t>
            </a:r>
            <a:r>
              <a:rPr lang="en-US" sz="1400" b="0" i="0" u="none" strike="noStrike" dirty="0">
                <a:latin typeface="Noto Sans SC"/>
                <a:ea typeface="Noto Sans SC"/>
                <a:cs typeface="Noto Sans SC"/>
                <a:sym typeface="Noto Sans SC"/>
              </a:rPr>
              <a:t>。</a:t>
            </a:r>
          </a:p>
        </p:txBody>
      </p:sp>
      <p:sp>
        <p:nvSpPr>
          <p:cNvPr id="64" name="AutoShape 16">
            <a:extLst>
              <a:ext uri="{FF2B5EF4-FFF2-40B4-BE49-F238E27FC236}">
                <a16:creationId xmlns:a16="http://schemas.microsoft.com/office/drawing/2014/main" id="{C07D6479-F251-31DD-364A-B58F2DC84079}"/>
              </a:ext>
            </a:extLst>
          </p:cNvPr>
          <p:cNvSpPr/>
          <p:nvPr/>
        </p:nvSpPr>
        <p:spPr>
          <a:xfrm>
            <a:off x="508000" y="4381500"/>
            <a:ext cx="3429000" cy="1968500"/>
          </a:xfrm>
          <a:prstGeom prst="roundRect">
            <a:avLst>
              <a:gd name="adj" fmla="val 0"/>
            </a:avLst>
          </a:prstGeom>
          <a:solidFill>
            <a:schemeClr val="bg1"/>
          </a:solidFill>
          <a:ln w="12700" cap="flat" cmpd="sng">
            <a:solidFill>
              <a:srgbClr val="D4AF37">
                <a:alpha val="60000"/>
              </a:srgbClr>
            </a:solidFill>
            <a:prstDash val="solid"/>
            <a:round/>
          </a:ln>
        </p:spPr>
        <p:txBody>
          <a:bodyPr vert="horz" wrap="square" lIns="63500" tIns="63500" rIns="63500" bIns="63500" rtlCol="0" anchor="ctr"/>
          <a:lstStyle/>
          <a:p>
            <a:pPr algn="ctr">
              <a:defRPr/>
            </a:pPr>
            <a:endParaRPr/>
          </a:p>
        </p:txBody>
      </p:sp>
      <p:sp>
        <p:nvSpPr>
          <p:cNvPr id="66" name="AutoShape 17">
            <a:extLst>
              <a:ext uri="{FF2B5EF4-FFF2-40B4-BE49-F238E27FC236}">
                <a16:creationId xmlns:a16="http://schemas.microsoft.com/office/drawing/2014/main" id="{B5C53F55-F6B2-F5FE-2219-FBA5CDF3A600}"/>
              </a:ext>
            </a:extLst>
          </p:cNvPr>
          <p:cNvSpPr/>
          <p:nvPr/>
        </p:nvSpPr>
        <p:spPr>
          <a:xfrm>
            <a:off x="690563" y="4508500"/>
            <a:ext cx="3175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核心壁垒：确定性引用自检</a:t>
            </a:r>
            <a:endParaRPr lang="en-US" b="1" i="0" u="none" strike="noStrike" dirty="0">
              <a:latin typeface="Noto Sans SC"/>
              <a:ea typeface="Noto Sans SC"/>
              <a:cs typeface="Noto Sans SC"/>
              <a:sym typeface="Noto Sans SC"/>
            </a:endParaRPr>
          </a:p>
          <a:p>
            <a:pPr marL="0" indent="0" algn="l">
              <a:lnSpc>
                <a:spcPct val="125000"/>
              </a:lnSpc>
              <a:defRPr/>
            </a:pPr>
            <a:endParaRPr lang="en-US" sz="200" dirty="0"/>
          </a:p>
          <a:p>
            <a:pPr marL="0" indent="0" algn="l">
              <a:lnSpc>
                <a:spcPct val="116666"/>
              </a:lnSpc>
            </a:pPr>
            <a:r>
              <a:rPr lang="en-US" sz="1400" b="0" i="0" u="none" strike="noStrike" dirty="0">
                <a:latin typeface="Noto Sans SC"/>
                <a:ea typeface="Noto Sans SC"/>
                <a:cs typeface="Noto Sans SC"/>
                <a:sym typeface="Noto Sans SC"/>
              </a:rPr>
              <a:t>通过独立代码模块，将正文引用与工具真实返回逐条比对。未覆盖内容自动标记，非模型自查，从根源杜绝AI幻觉，确保引用100%真实有效。</a:t>
            </a:r>
          </a:p>
        </p:txBody>
      </p:sp>
      <p:sp>
        <p:nvSpPr>
          <p:cNvPr id="68" name="AutoShape 18">
            <a:extLst>
              <a:ext uri="{FF2B5EF4-FFF2-40B4-BE49-F238E27FC236}">
                <a16:creationId xmlns:a16="http://schemas.microsoft.com/office/drawing/2014/main" id="{43AF661F-C8AA-445D-8BFF-6D68AD2C9251}"/>
              </a:ext>
            </a:extLst>
          </p:cNvPr>
          <p:cNvSpPr/>
          <p:nvPr/>
        </p:nvSpPr>
        <p:spPr>
          <a:xfrm>
            <a:off x="4104526" y="4381500"/>
            <a:ext cx="3991724" cy="1968500"/>
          </a:xfrm>
          <a:prstGeom prst="roundRect">
            <a:avLst>
              <a:gd name="adj" fmla="val 0"/>
            </a:avLst>
          </a:prstGeom>
          <a:solidFill>
            <a:schemeClr val="bg1"/>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70" name="AutoShape 19">
            <a:extLst>
              <a:ext uri="{FF2B5EF4-FFF2-40B4-BE49-F238E27FC236}">
                <a16:creationId xmlns:a16="http://schemas.microsoft.com/office/drawing/2014/main" id="{E30404A7-4746-7601-5832-DA222F13ABE6}"/>
              </a:ext>
            </a:extLst>
          </p:cNvPr>
          <p:cNvSpPr/>
          <p:nvPr/>
        </p:nvSpPr>
        <p:spPr>
          <a:xfrm>
            <a:off x="4290460" y="4540250"/>
            <a:ext cx="3659027"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a:latin typeface="Noto Sans SC"/>
                <a:ea typeface="Noto Sans SC"/>
                <a:cs typeface="Noto Sans SC"/>
                <a:sym typeface="Noto Sans SC"/>
              </a:rPr>
              <a:t>0.7.3 </a:t>
            </a:r>
            <a:r>
              <a:rPr lang="en-US" b="1" i="0" u="none" strike="noStrike" dirty="0" err="1">
                <a:latin typeface="Noto Sans SC"/>
                <a:ea typeface="Noto Sans SC"/>
                <a:cs typeface="Noto Sans SC"/>
                <a:sym typeface="Noto Sans SC"/>
              </a:rPr>
              <a:t>版本：智能增强</a:t>
            </a:r>
            <a:r>
              <a:rPr lang="zh-CN" altLang="en-US" b="1" i="0" u="none" strike="noStrike" dirty="0">
                <a:latin typeface="Noto Sans SC"/>
                <a:ea typeface="Noto Sans SC"/>
                <a:cs typeface="Noto Sans SC"/>
                <a:sym typeface="Noto Sans SC"/>
              </a:rPr>
              <a:t>与全面优化</a:t>
            </a:r>
            <a:endParaRPr lang="en-US" b="1" i="0" u="none" strike="noStrike" dirty="0">
              <a:latin typeface="Noto Sans SC"/>
              <a:ea typeface="Noto Sans SC"/>
              <a:cs typeface="Noto Sans SC"/>
              <a:sym typeface="Noto Sans SC"/>
            </a:endParaRPr>
          </a:p>
          <a:p>
            <a:pPr marL="0" indent="0" algn="l">
              <a:lnSpc>
                <a:spcPct val="125000"/>
              </a:lnSpc>
              <a:defRPr/>
            </a:pPr>
            <a:endParaRPr lang="en-US" sz="200" dirty="0"/>
          </a:p>
          <a:p>
            <a:pPr>
              <a:lnSpc>
                <a:spcPct val="116666"/>
              </a:lnSpc>
            </a:pPr>
            <a:r>
              <a:rPr lang="en-US" sz="1400" b="0" i="0" u="none" strike="noStrike" dirty="0" err="1">
                <a:latin typeface="Noto Sans SC"/>
                <a:ea typeface="Noto Sans SC"/>
                <a:cs typeface="Noto Sans SC"/>
                <a:sym typeface="Noto Sans SC"/>
              </a:rPr>
              <a:t>引入知识图谱案由骨架，强化规划阶段的逻辑约束；新增法条适用性二段校验，进一步提升专业领域的内容精准度与合规性，适配复杂场景</a:t>
            </a:r>
            <a:r>
              <a:rPr lang="zh-CN" altLang="en-US" sz="1400" dirty="0">
                <a:latin typeface="Noto Sans SC"/>
                <a:ea typeface="Noto Sans SC"/>
                <a:cs typeface="Noto Sans SC"/>
                <a:sym typeface="Noto Sans SC"/>
              </a:rPr>
              <a:t>；修复翻</a:t>
            </a:r>
            <a:r>
              <a:rPr lang="zh-CN" altLang="en-US" sz="1400" b="0" i="0" u="none" strike="noStrike" dirty="0">
                <a:latin typeface="Noto Sans SC"/>
                <a:ea typeface="Noto Sans SC"/>
                <a:cs typeface="Noto Sans SC"/>
                <a:sym typeface="Noto Sans SC"/>
              </a:rPr>
              <a:t>译重构与缺陷；新增自我进化可视化页；完成品牌标志落地。</a:t>
            </a:r>
            <a:endParaRPr lang="en-US" sz="1400" b="0" i="0" u="none" strike="noStrike" dirty="0">
              <a:latin typeface="Noto Sans SC"/>
              <a:ea typeface="Noto Sans SC"/>
              <a:cs typeface="Noto Sans SC"/>
              <a:sym typeface="Noto Sans SC"/>
            </a:endParaRPr>
          </a:p>
        </p:txBody>
      </p:sp>
      <p:sp>
        <p:nvSpPr>
          <p:cNvPr id="72" name="AutoShape 20">
            <a:extLst>
              <a:ext uri="{FF2B5EF4-FFF2-40B4-BE49-F238E27FC236}">
                <a16:creationId xmlns:a16="http://schemas.microsoft.com/office/drawing/2014/main" id="{42AFDE48-DFC5-4474-D0C4-74AE004B6102}"/>
              </a:ext>
            </a:extLst>
          </p:cNvPr>
          <p:cNvSpPr/>
          <p:nvPr/>
        </p:nvSpPr>
        <p:spPr>
          <a:xfrm>
            <a:off x="8223250" y="4381500"/>
            <a:ext cx="3429000" cy="1968500"/>
          </a:xfrm>
          <a:prstGeom prst="roundRect">
            <a:avLst>
              <a:gd name="adj" fmla="val 0"/>
            </a:avLst>
          </a:prstGeom>
          <a:solidFill>
            <a:schemeClr val="bg1"/>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74" name="AutoShape 21">
            <a:extLst>
              <a:ext uri="{FF2B5EF4-FFF2-40B4-BE49-F238E27FC236}">
                <a16:creationId xmlns:a16="http://schemas.microsoft.com/office/drawing/2014/main" id="{61082D88-C01D-EE93-86C6-F5B2089EE8E5}"/>
              </a:ext>
            </a:extLst>
          </p:cNvPr>
          <p:cNvSpPr/>
          <p:nvPr/>
        </p:nvSpPr>
        <p:spPr>
          <a:xfrm>
            <a:off x="8436795" y="4508500"/>
            <a:ext cx="3175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保障机制：稳健降级矩阵</a:t>
            </a:r>
            <a:endParaRPr lang="en-US" b="1" i="0" u="none" strike="noStrike" dirty="0">
              <a:latin typeface="Noto Sans SC"/>
              <a:ea typeface="Noto Sans SC"/>
              <a:cs typeface="Noto Sans SC"/>
              <a:sym typeface="Noto Sans SC"/>
            </a:endParaRPr>
          </a:p>
          <a:p>
            <a:pPr marL="0" indent="0" algn="l">
              <a:lnSpc>
                <a:spcPct val="125000"/>
              </a:lnSpc>
              <a:defRPr/>
            </a:pPr>
            <a:endParaRPr lang="en-US" sz="1200" dirty="0"/>
          </a:p>
          <a:p>
            <a:pPr marL="0" indent="0" algn="l">
              <a:lnSpc>
                <a:spcPct val="116666"/>
              </a:lnSpc>
            </a:pPr>
            <a:r>
              <a:rPr lang="en-US" sz="1400" b="0" i="0" u="none" strike="noStrike" dirty="0" err="1">
                <a:latin typeface="Noto Sans SC"/>
                <a:ea typeface="Noto Sans SC"/>
                <a:cs typeface="Noto Sans SC"/>
                <a:sym typeface="Noto Sans SC"/>
              </a:rPr>
              <a:t>预设多档位兜底策略，当工具调用异常或响应超时，自动切换至备用方案，保障演示与服务的稳定性，确保现场效果“永不翻车</a:t>
            </a:r>
            <a:r>
              <a:rPr lang="en-US" sz="1400" b="0" i="0" u="none" strike="noStrike" dirty="0">
                <a:latin typeface="Noto Sans SC"/>
                <a:ea typeface="Noto Sans SC"/>
                <a:cs typeface="Noto Sans SC"/>
                <a:sym typeface="Noto Sans SC"/>
              </a:rPr>
              <a:t>”。</a:t>
            </a:r>
          </a:p>
        </p:txBody>
      </p:sp>
      <p:cxnSp>
        <p:nvCxnSpPr>
          <p:cNvPr id="76" name="直接连接符 75">
            <a:extLst>
              <a:ext uri="{FF2B5EF4-FFF2-40B4-BE49-F238E27FC236}">
                <a16:creationId xmlns:a16="http://schemas.microsoft.com/office/drawing/2014/main" id="{B1A7FCE2-6BED-0F1F-3F0B-F760C5122297}"/>
              </a:ext>
            </a:extLst>
          </p:cNvPr>
          <p:cNvCxnSpPr>
            <a:cxnSpLocks/>
          </p:cNvCxnSpPr>
          <p:nvPr/>
        </p:nvCxnSpPr>
        <p:spPr>
          <a:xfrm>
            <a:off x="3492500" y="4308807"/>
            <a:ext cx="571500" cy="567993"/>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97E29E02-61DC-5B61-0B9A-2742B464120E}"/>
              </a:ext>
            </a:extLst>
          </p:cNvPr>
          <p:cNvCxnSpPr>
            <a:cxnSpLocks/>
          </p:cNvCxnSpPr>
          <p:nvPr/>
        </p:nvCxnSpPr>
        <p:spPr>
          <a:xfrm>
            <a:off x="7604125" y="4308806"/>
            <a:ext cx="571500" cy="567993"/>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83BC259E-EA71-1F64-91A4-B53D2622F98A}"/>
              </a:ext>
            </a:extLst>
          </p:cNvPr>
          <p:cNvCxnSpPr>
            <a:cxnSpLocks/>
          </p:cNvCxnSpPr>
          <p:nvPr/>
        </p:nvCxnSpPr>
        <p:spPr>
          <a:xfrm>
            <a:off x="11207750" y="4360160"/>
            <a:ext cx="571500" cy="567993"/>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855590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CA6DCBB3-FF3C-4E75-B53C-254CBEE1660F}"/>
              </a:ext>
            </a:extLst>
          </p:cNvPr>
          <p:cNvSpPr txBox="1"/>
          <p:nvPr/>
        </p:nvSpPr>
        <p:spPr>
          <a:xfrm>
            <a:off x="2138084" y="6086913"/>
            <a:ext cx="8330092" cy="676211"/>
          </a:xfrm>
          <a:prstGeom prst="rect">
            <a:avLst/>
          </a:prstGeom>
          <a:noFill/>
        </p:spPr>
        <p:txBody>
          <a:bodyPr wrap="square" rtlCol="0">
            <a:spAutoFit/>
          </a:bodyPr>
          <a:lstStyle/>
          <a:p>
            <a:pPr algn="ctr">
              <a:lnSpc>
                <a:spcPct val="108333"/>
              </a:lnSpc>
              <a:defRPr/>
            </a:pPr>
            <a:r>
              <a:rPr lang="en-US" altLang="zh-CN" b="1" dirty="0" err="1">
                <a:latin typeface="Noto Sans SC"/>
                <a:ea typeface="Noto Sans SC"/>
                <a:cs typeface="Noto Sans SC"/>
                <a:sym typeface="Noto Sans SC"/>
              </a:rPr>
              <a:t>我们将“引用可反查”从单纯的卖点升级为可当场验证的工程契约</a:t>
            </a:r>
            <a:r>
              <a:rPr lang="en-US" altLang="zh-CN" b="1" dirty="0">
                <a:latin typeface="Noto Sans SC"/>
                <a:ea typeface="Noto Sans SC"/>
                <a:cs typeface="Noto Sans SC"/>
                <a:sym typeface="Noto Sans SC"/>
              </a:rPr>
              <a:t>，</a:t>
            </a:r>
          </a:p>
          <a:p>
            <a:pPr algn="ctr">
              <a:lnSpc>
                <a:spcPct val="108333"/>
              </a:lnSpc>
              <a:defRPr/>
            </a:pPr>
            <a:r>
              <a:rPr lang="en-US" altLang="zh-CN" b="1" dirty="0" err="1">
                <a:latin typeface="Noto Sans SC"/>
                <a:ea typeface="Noto Sans SC"/>
                <a:cs typeface="Noto Sans SC"/>
                <a:sym typeface="Noto Sans SC"/>
              </a:rPr>
              <a:t>用技术重构交付信任，让每一处法律引用都有据可依、有迹可循</a:t>
            </a:r>
            <a:r>
              <a:rPr lang="en-US" altLang="zh-CN" b="1" dirty="0">
                <a:latin typeface="Noto Sans SC"/>
                <a:ea typeface="Noto Sans SC"/>
                <a:cs typeface="Noto Sans SC"/>
                <a:sym typeface="Noto Sans SC"/>
              </a:rPr>
              <a:t>。</a:t>
            </a:r>
            <a:endParaRPr lang="en-US" altLang="zh-CN" b="1" dirty="0"/>
          </a:p>
        </p:txBody>
      </p:sp>
      <p:sp>
        <p:nvSpPr>
          <p:cNvPr id="35" name="矩形 34">
            <a:extLst>
              <a:ext uri="{FF2B5EF4-FFF2-40B4-BE49-F238E27FC236}">
                <a16:creationId xmlns:a16="http://schemas.microsoft.com/office/drawing/2014/main" id="{0D6A4416-E4CB-AF98-754C-4C651E15BADE}"/>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7" name="平行四边形 36">
            <a:extLst>
              <a:ext uri="{FF2B5EF4-FFF2-40B4-BE49-F238E27FC236}">
                <a16:creationId xmlns:a16="http://schemas.microsoft.com/office/drawing/2014/main" id="{BCAF1931-3A2C-25BF-B18C-FFB4CCB62344}"/>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平行四边形 38">
            <a:extLst>
              <a:ext uri="{FF2B5EF4-FFF2-40B4-BE49-F238E27FC236}">
                <a16:creationId xmlns:a16="http://schemas.microsoft.com/office/drawing/2014/main" id="{79ABEFF1-C65E-F212-9471-12BE9E9B59FF}"/>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6E640596-D4E1-B5CA-B95B-CD612D28E7F4}"/>
              </a:ext>
            </a:extLst>
          </p:cNvPr>
          <p:cNvSpPr txBox="1"/>
          <p:nvPr/>
        </p:nvSpPr>
        <p:spPr>
          <a:xfrm>
            <a:off x="8830638" y="195038"/>
            <a:ext cx="2486345"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项目创新点</a:t>
            </a:r>
            <a:endParaRPr lang="en-US" altLang="zh-CN" sz="3600" dirty="0"/>
          </a:p>
        </p:txBody>
      </p:sp>
      <p:pic>
        <p:nvPicPr>
          <p:cNvPr id="43" name="图片 42">
            <a:extLst>
              <a:ext uri="{FF2B5EF4-FFF2-40B4-BE49-F238E27FC236}">
                <a16:creationId xmlns:a16="http://schemas.microsoft.com/office/drawing/2014/main" id="{ECA02F88-281A-5C57-89D1-F2FA246A56A4}"/>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3" name="AutoShape 5">
            <a:extLst>
              <a:ext uri="{FF2B5EF4-FFF2-40B4-BE49-F238E27FC236}">
                <a16:creationId xmlns:a16="http://schemas.microsoft.com/office/drawing/2014/main" id="{60AFF71C-CEFE-5913-EB09-EC1F95CEFA6B}"/>
              </a:ext>
            </a:extLst>
          </p:cNvPr>
          <p:cNvSpPr/>
          <p:nvPr/>
        </p:nvSpPr>
        <p:spPr>
          <a:xfrm>
            <a:off x="451055" y="1169072"/>
            <a:ext cx="5080000" cy="1497013"/>
          </a:xfrm>
          <a:prstGeom prst="roundRect">
            <a:avLst>
              <a:gd name="adj" fmla="val 0"/>
            </a:avLst>
          </a:prstGeom>
          <a:solidFill>
            <a:srgbClr val="C00000">
              <a:alpha val="8000"/>
            </a:srgbClr>
          </a:solidFill>
          <a:ln w="127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pic>
        <p:nvPicPr>
          <p:cNvPr id="15" name="Picture 6">
            <a:extLst>
              <a:ext uri="{FF2B5EF4-FFF2-40B4-BE49-F238E27FC236}">
                <a16:creationId xmlns:a16="http://schemas.microsoft.com/office/drawing/2014/main" id="{27CC1915-0EDF-5A08-A30C-86DE099632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1604" y="1351479"/>
            <a:ext cx="406400" cy="406400"/>
          </a:xfrm>
          <a:prstGeom prst="rect">
            <a:avLst/>
          </a:prstGeom>
        </p:spPr>
      </p:pic>
      <p:sp>
        <p:nvSpPr>
          <p:cNvPr id="36" name="AutoShape 7">
            <a:extLst>
              <a:ext uri="{FF2B5EF4-FFF2-40B4-BE49-F238E27FC236}">
                <a16:creationId xmlns:a16="http://schemas.microsoft.com/office/drawing/2014/main" id="{06C4B610-AE81-E088-EBEA-484F45B72B3B}"/>
              </a:ext>
            </a:extLst>
          </p:cNvPr>
          <p:cNvSpPr/>
          <p:nvPr/>
        </p:nvSpPr>
        <p:spPr>
          <a:xfrm>
            <a:off x="1163104" y="1351479"/>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01 / </a:t>
            </a:r>
            <a:r>
              <a:rPr lang="en-US" sz="2000" b="1" i="0" u="none" strike="noStrike" dirty="0" err="1">
                <a:latin typeface="Noto Sans SC"/>
                <a:ea typeface="Noto Sans SC"/>
                <a:cs typeface="Noto Sans SC"/>
                <a:sym typeface="Noto Sans SC"/>
              </a:rPr>
              <a:t>真实法条可溯源</a:t>
            </a:r>
            <a:endParaRPr lang="en-US" sz="1200" dirty="0"/>
          </a:p>
        </p:txBody>
      </p:sp>
      <p:sp>
        <p:nvSpPr>
          <p:cNvPr id="40" name="AutoShape 8">
            <a:extLst>
              <a:ext uri="{FF2B5EF4-FFF2-40B4-BE49-F238E27FC236}">
                <a16:creationId xmlns:a16="http://schemas.microsoft.com/office/drawing/2014/main" id="{4E4CA316-DADC-F6F0-00D2-6159B3232DDE}"/>
              </a:ext>
            </a:extLst>
          </p:cNvPr>
          <p:cNvSpPr/>
          <p:nvPr/>
        </p:nvSpPr>
        <p:spPr>
          <a:xfrm>
            <a:off x="1163104" y="1868469"/>
            <a:ext cx="4159045"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dirty="0">
                <a:latin typeface="Noto Sans SC"/>
                <a:ea typeface="Noto Sans SC"/>
                <a:cs typeface="Noto Sans SC"/>
                <a:sym typeface="Noto Sans SC"/>
              </a:rPr>
              <a:t>内置15万+官方法条数据库，每处引用均附带标准条文号与官方来源，实现从“引用”到“法条原文”的一键精准溯源，拒绝虚假引用。</a:t>
            </a:r>
            <a:endParaRPr lang="en-US" sz="1400" dirty="0"/>
          </a:p>
        </p:txBody>
      </p:sp>
      <p:sp>
        <p:nvSpPr>
          <p:cNvPr id="44" name="AutoShape 9">
            <a:extLst>
              <a:ext uri="{FF2B5EF4-FFF2-40B4-BE49-F238E27FC236}">
                <a16:creationId xmlns:a16="http://schemas.microsoft.com/office/drawing/2014/main" id="{02DE2099-2B44-1653-88F3-FC1156933E5E}"/>
              </a:ext>
            </a:extLst>
          </p:cNvPr>
          <p:cNvSpPr/>
          <p:nvPr/>
        </p:nvSpPr>
        <p:spPr>
          <a:xfrm>
            <a:off x="459330" y="2789364"/>
            <a:ext cx="5071725" cy="1504061"/>
          </a:xfrm>
          <a:prstGeom prst="roundRect">
            <a:avLst>
              <a:gd name="adj" fmla="val 0"/>
            </a:avLst>
          </a:prstGeom>
          <a:solidFill>
            <a:schemeClr val="accent2">
              <a:alpha val="8000"/>
            </a:schemeClr>
          </a:solidFill>
          <a:ln w="12700" cap="flat" cmpd="sng">
            <a:solidFill>
              <a:schemeClr val="accent2">
                <a:alpha val="30000"/>
              </a:schemeClr>
            </a:solidFill>
            <a:prstDash val="solid"/>
            <a:round/>
          </a:ln>
        </p:spPr>
        <p:txBody>
          <a:bodyPr vert="horz" wrap="square" lIns="63500" tIns="63500" rIns="63500" bIns="63500" rtlCol="0" anchor="ctr"/>
          <a:lstStyle/>
          <a:p>
            <a:pPr algn="ctr">
              <a:defRPr/>
            </a:pPr>
            <a:endParaRPr/>
          </a:p>
        </p:txBody>
      </p:sp>
      <p:pic>
        <p:nvPicPr>
          <p:cNvPr id="46" name="Picture 10">
            <a:extLst>
              <a:ext uri="{FF2B5EF4-FFF2-40B4-BE49-F238E27FC236}">
                <a16:creationId xmlns:a16="http://schemas.microsoft.com/office/drawing/2014/main" id="{D22498A3-751C-44FC-67FF-DD14A47AF2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9880" y="2971771"/>
            <a:ext cx="406400" cy="406400"/>
          </a:xfrm>
          <a:prstGeom prst="rect">
            <a:avLst/>
          </a:prstGeom>
        </p:spPr>
      </p:pic>
      <p:sp>
        <p:nvSpPr>
          <p:cNvPr id="48" name="AutoShape 11">
            <a:extLst>
              <a:ext uri="{FF2B5EF4-FFF2-40B4-BE49-F238E27FC236}">
                <a16:creationId xmlns:a16="http://schemas.microsoft.com/office/drawing/2014/main" id="{B65EBF75-FB37-D763-813E-CAE9991266F8}"/>
              </a:ext>
            </a:extLst>
          </p:cNvPr>
          <p:cNvSpPr/>
          <p:nvPr/>
        </p:nvSpPr>
        <p:spPr>
          <a:xfrm>
            <a:off x="1171380" y="2971771"/>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02 / </a:t>
            </a:r>
            <a:r>
              <a:rPr lang="en-US" sz="2000" b="1" i="0" u="none" strike="noStrike" dirty="0" err="1">
                <a:latin typeface="Noto Sans SC"/>
                <a:ea typeface="Noto Sans SC"/>
                <a:cs typeface="Noto Sans SC"/>
                <a:sym typeface="Noto Sans SC"/>
              </a:rPr>
              <a:t>确定性引用自检</a:t>
            </a:r>
            <a:endParaRPr lang="en-US" sz="1200" dirty="0"/>
          </a:p>
        </p:txBody>
      </p:sp>
      <p:sp>
        <p:nvSpPr>
          <p:cNvPr id="50" name="AutoShape 12">
            <a:extLst>
              <a:ext uri="{FF2B5EF4-FFF2-40B4-BE49-F238E27FC236}">
                <a16:creationId xmlns:a16="http://schemas.microsoft.com/office/drawing/2014/main" id="{4D779018-1CFB-E308-7751-B59B8E271B7E}"/>
              </a:ext>
            </a:extLst>
          </p:cNvPr>
          <p:cNvSpPr/>
          <p:nvPr/>
        </p:nvSpPr>
        <p:spPr>
          <a:xfrm>
            <a:off x="1163104" y="3502636"/>
            <a:ext cx="4159045"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dirty="0" err="1">
                <a:latin typeface="Noto Sans SC"/>
                <a:ea typeface="Noto Sans SC"/>
                <a:cs typeface="Noto Sans SC"/>
                <a:sym typeface="Noto Sans SC"/>
              </a:rPr>
              <a:t>基于代码级规则引擎逐条对账校验，自动识别并高亮未覆盖的引用项，从技术层面确保引用的完整性，杜绝交付漏洞与模糊地带</a:t>
            </a:r>
            <a:r>
              <a:rPr lang="en-US" sz="1600" b="0" i="0" u="none" strike="noStrike" dirty="0">
                <a:latin typeface="Noto Sans SC"/>
                <a:ea typeface="Noto Sans SC"/>
                <a:cs typeface="Noto Sans SC"/>
                <a:sym typeface="Noto Sans SC"/>
              </a:rPr>
              <a:t>。</a:t>
            </a:r>
            <a:endParaRPr lang="en-US" sz="1400" dirty="0"/>
          </a:p>
        </p:txBody>
      </p:sp>
      <p:sp>
        <p:nvSpPr>
          <p:cNvPr id="52" name="AutoShape 13">
            <a:extLst>
              <a:ext uri="{FF2B5EF4-FFF2-40B4-BE49-F238E27FC236}">
                <a16:creationId xmlns:a16="http://schemas.microsoft.com/office/drawing/2014/main" id="{7C8A8D3F-7F50-4B32-0F61-D9D757A0589D}"/>
              </a:ext>
            </a:extLst>
          </p:cNvPr>
          <p:cNvSpPr/>
          <p:nvPr/>
        </p:nvSpPr>
        <p:spPr>
          <a:xfrm>
            <a:off x="459331" y="4438767"/>
            <a:ext cx="5071724" cy="1497013"/>
          </a:xfrm>
          <a:prstGeom prst="roundRect">
            <a:avLst>
              <a:gd name="adj" fmla="val 0"/>
            </a:avLst>
          </a:prstGeom>
          <a:solidFill>
            <a:srgbClr val="C00000">
              <a:alpha val="8000"/>
            </a:srgbClr>
          </a:solidFill>
          <a:ln w="127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pic>
        <p:nvPicPr>
          <p:cNvPr id="54" name="Picture 14">
            <a:extLst>
              <a:ext uri="{FF2B5EF4-FFF2-40B4-BE49-F238E27FC236}">
                <a16:creationId xmlns:a16="http://schemas.microsoft.com/office/drawing/2014/main" id="{A6685F77-09A1-02BE-7041-36E8017363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9880" y="4621174"/>
            <a:ext cx="406400" cy="406400"/>
          </a:xfrm>
          <a:prstGeom prst="rect">
            <a:avLst/>
          </a:prstGeom>
        </p:spPr>
      </p:pic>
      <p:sp>
        <p:nvSpPr>
          <p:cNvPr id="56" name="AutoShape 15">
            <a:extLst>
              <a:ext uri="{FF2B5EF4-FFF2-40B4-BE49-F238E27FC236}">
                <a16:creationId xmlns:a16="http://schemas.microsoft.com/office/drawing/2014/main" id="{C263F800-C824-D0DC-1887-58681456A4BA}"/>
              </a:ext>
            </a:extLst>
          </p:cNvPr>
          <p:cNvSpPr/>
          <p:nvPr/>
        </p:nvSpPr>
        <p:spPr>
          <a:xfrm>
            <a:off x="1171380" y="4621174"/>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03 / </a:t>
            </a:r>
            <a:r>
              <a:rPr lang="en-US" sz="2000" b="1" i="0" u="none" strike="noStrike" dirty="0" err="1">
                <a:latin typeface="Noto Sans SC"/>
                <a:ea typeface="Noto Sans SC"/>
                <a:cs typeface="Noto Sans SC"/>
                <a:sym typeface="Noto Sans SC"/>
              </a:rPr>
              <a:t>知识图谱驱动进化</a:t>
            </a:r>
            <a:endParaRPr lang="en-US" sz="1200" dirty="0"/>
          </a:p>
        </p:txBody>
      </p:sp>
      <p:sp>
        <p:nvSpPr>
          <p:cNvPr id="58" name="AutoShape 16">
            <a:extLst>
              <a:ext uri="{FF2B5EF4-FFF2-40B4-BE49-F238E27FC236}">
                <a16:creationId xmlns:a16="http://schemas.microsoft.com/office/drawing/2014/main" id="{9048A27E-FB26-FBB5-F7B0-28F048F92B22}"/>
              </a:ext>
            </a:extLst>
          </p:cNvPr>
          <p:cNvSpPr/>
          <p:nvPr/>
        </p:nvSpPr>
        <p:spPr>
          <a:xfrm>
            <a:off x="1163104" y="5122116"/>
            <a:ext cx="4159045"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dirty="0" err="1">
                <a:latin typeface="Noto Sans SC"/>
                <a:ea typeface="Noto Sans SC"/>
                <a:cs typeface="Noto Sans SC"/>
                <a:sym typeface="Noto Sans SC"/>
              </a:rPr>
              <a:t>基于案由骨架自动生成合规规划，保障核心法律要件无遗漏；知识图谱随使用频次持续自学习，系统智能度随业务沉淀不断提升</a:t>
            </a:r>
            <a:r>
              <a:rPr lang="en-US" sz="1600" b="0" i="0" u="none" strike="noStrike" dirty="0">
                <a:latin typeface="Noto Sans SC"/>
                <a:ea typeface="Noto Sans SC"/>
                <a:cs typeface="Noto Sans SC"/>
                <a:sym typeface="Noto Sans SC"/>
              </a:rPr>
              <a:t>。</a:t>
            </a:r>
            <a:endParaRPr lang="en-US" sz="1400" dirty="0"/>
          </a:p>
        </p:txBody>
      </p:sp>
      <p:sp>
        <p:nvSpPr>
          <p:cNvPr id="60" name="AutoShape 17">
            <a:extLst>
              <a:ext uri="{FF2B5EF4-FFF2-40B4-BE49-F238E27FC236}">
                <a16:creationId xmlns:a16="http://schemas.microsoft.com/office/drawing/2014/main" id="{488A8DEB-5309-B6AD-D1D4-D48D3932043F}"/>
              </a:ext>
            </a:extLst>
          </p:cNvPr>
          <p:cNvSpPr/>
          <p:nvPr/>
        </p:nvSpPr>
        <p:spPr>
          <a:xfrm>
            <a:off x="5692856" y="1169073"/>
            <a:ext cx="5907540" cy="1718842"/>
          </a:xfrm>
          <a:prstGeom prst="roundRect">
            <a:avLst>
              <a:gd name="adj" fmla="val 0"/>
            </a:avLst>
          </a:prstGeom>
          <a:solidFill>
            <a:schemeClr val="accent2">
              <a:alpha val="8000"/>
            </a:schemeClr>
          </a:solidFill>
          <a:ln w="12700" cap="flat" cmpd="sng">
            <a:solidFill>
              <a:srgbClr val="D4AF37">
                <a:alpha val="30000"/>
              </a:srgbClr>
            </a:solidFill>
            <a:prstDash val="solid"/>
            <a:round/>
          </a:ln>
        </p:spPr>
        <p:txBody>
          <a:bodyPr vert="horz" wrap="square" lIns="63500" tIns="63500" rIns="63500" bIns="63500" rtlCol="0" anchor="ctr"/>
          <a:lstStyle/>
          <a:p>
            <a:pPr algn="ctr">
              <a:defRPr/>
            </a:pPr>
            <a:endParaRPr/>
          </a:p>
        </p:txBody>
      </p:sp>
      <p:pic>
        <p:nvPicPr>
          <p:cNvPr id="62" name="Picture 18">
            <a:extLst>
              <a:ext uri="{FF2B5EF4-FFF2-40B4-BE49-F238E27FC236}">
                <a16:creationId xmlns:a16="http://schemas.microsoft.com/office/drawing/2014/main" id="{6E75900B-D06E-2BAE-D68D-94EB8F777F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60140" y="1362388"/>
            <a:ext cx="406400" cy="406400"/>
          </a:xfrm>
          <a:prstGeom prst="rect">
            <a:avLst/>
          </a:prstGeom>
        </p:spPr>
      </p:pic>
      <p:sp>
        <p:nvSpPr>
          <p:cNvPr id="64" name="AutoShape 19">
            <a:extLst>
              <a:ext uri="{FF2B5EF4-FFF2-40B4-BE49-F238E27FC236}">
                <a16:creationId xmlns:a16="http://schemas.microsoft.com/office/drawing/2014/main" id="{65F973DF-9F5D-932C-F02D-08857385DE53}"/>
              </a:ext>
            </a:extLst>
          </p:cNvPr>
          <p:cNvSpPr/>
          <p:nvPr/>
        </p:nvSpPr>
        <p:spPr>
          <a:xfrm>
            <a:off x="6395197" y="1351479"/>
            <a:ext cx="40495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04 / 本地隐私 × </a:t>
            </a:r>
            <a:r>
              <a:rPr lang="en-US" sz="2000" b="1" i="0" u="none" strike="noStrike" dirty="0" err="1">
                <a:latin typeface="Noto Sans SC"/>
                <a:ea typeface="Noto Sans SC"/>
                <a:cs typeface="Noto Sans SC"/>
                <a:sym typeface="Noto Sans SC"/>
              </a:rPr>
              <a:t>可验收交付闭环</a:t>
            </a:r>
            <a:endParaRPr lang="en-US" sz="1200" dirty="0"/>
          </a:p>
        </p:txBody>
      </p:sp>
      <p:sp>
        <p:nvSpPr>
          <p:cNvPr id="66" name="AutoShape 20">
            <a:extLst>
              <a:ext uri="{FF2B5EF4-FFF2-40B4-BE49-F238E27FC236}">
                <a16:creationId xmlns:a16="http://schemas.microsoft.com/office/drawing/2014/main" id="{57306496-3EF0-3FAD-D4EF-653036A2C24C}"/>
              </a:ext>
            </a:extLst>
          </p:cNvPr>
          <p:cNvSpPr/>
          <p:nvPr/>
        </p:nvSpPr>
        <p:spPr>
          <a:xfrm>
            <a:off x="6395197" y="1760626"/>
            <a:ext cx="4995046" cy="1020504"/>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a:latin typeface="Noto Sans SC"/>
                <a:ea typeface="Noto Sans SC"/>
                <a:cs typeface="Noto Sans SC"/>
                <a:sym typeface="Noto Sans SC"/>
              </a:rPr>
              <a:t>核心敏感数据全程本地处理，严守数据安全与隐私底线，杜绝云端泄露风险。输出标准可编辑的.docx交付文件，支持直接审阅、修改与归档，实现从生成到验收的无缝闭环，让交付成果真实可触、可复用。</a:t>
            </a:r>
            <a:endParaRPr lang="en-US" sz="1400" dirty="0"/>
          </a:p>
        </p:txBody>
      </p:sp>
      <p:sp>
        <p:nvSpPr>
          <p:cNvPr id="68" name="AutoShape 21">
            <a:extLst>
              <a:ext uri="{FF2B5EF4-FFF2-40B4-BE49-F238E27FC236}">
                <a16:creationId xmlns:a16="http://schemas.microsoft.com/office/drawing/2014/main" id="{3D3DADA0-BBDB-CED7-5521-3AA5D4AB1360}"/>
              </a:ext>
            </a:extLst>
          </p:cNvPr>
          <p:cNvSpPr/>
          <p:nvPr/>
        </p:nvSpPr>
        <p:spPr>
          <a:xfrm>
            <a:off x="5692856" y="3008750"/>
            <a:ext cx="5907540" cy="1430017"/>
          </a:xfrm>
          <a:prstGeom prst="roundRect">
            <a:avLst>
              <a:gd name="adj" fmla="val 0"/>
            </a:avLst>
          </a:prstGeom>
          <a:solidFill>
            <a:srgbClr val="C00000">
              <a:alpha val="8000"/>
            </a:srgbClr>
          </a:solidFill>
          <a:ln w="127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pic>
        <p:nvPicPr>
          <p:cNvPr id="70" name="Picture 22">
            <a:extLst>
              <a:ext uri="{FF2B5EF4-FFF2-40B4-BE49-F238E27FC236}">
                <a16:creationId xmlns:a16="http://schemas.microsoft.com/office/drawing/2014/main" id="{3D70E978-2603-F497-0AD6-117D27E878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55633" y="3160118"/>
            <a:ext cx="406400" cy="406400"/>
          </a:xfrm>
          <a:prstGeom prst="rect">
            <a:avLst/>
          </a:prstGeom>
        </p:spPr>
      </p:pic>
      <p:sp>
        <p:nvSpPr>
          <p:cNvPr id="72" name="AutoShape 23">
            <a:extLst>
              <a:ext uri="{FF2B5EF4-FFF2-40B4-BE49-F238E27FC236}">
                <a16:creationId xmlns:a16="http://schemas.microsoft.com/office/drawing/2014/main" id="{71DED0CA-298E-EFC0-D607-4F5FB5964398}"/>
              </a:ext>
            </a:extLst>
          </p:cNvPr>
          <p:cNvSpPr/>
          <p:nvPr/>
        </p:nvSpPr>
        <p:spPr>
          <a:xfrm>
            <a:off x="6390691" y="3149209"/>
            <a:ext cx="3746422"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05 / </a:t>
            </a:r>
            <a:r>
              <a:rPr lang="en-US" sz="2000" b="1" i="0" u="none" strike="noStrike" dirty="0" err="1">
                <a:latin typeface="Noto Sans SC"/>
                <a:ea typeface="Noto Sans SC"/>
                <a:cs typeface="Noto Sans SC"/>
                <a:sym typeface="Noto Sans SC"/>
              </a:rPr>
              <a:t>多模态材料智能输入</a:t>
            </a:r>
            <a:endParaRPr lang="en-US" sz="1200" dirty="0"/>
          </a:p>
        </p:txBody>
      </p:sp>
      <p:sp>
        <p:nvSpPr>
          <p:cNvPr id="74" name="AutoShape 24">
            <a:extLst>
              <a:ext uri="{FF2B5EF4-FFF2-40B4-BE49-F238E27FC236}">
                <a16:creationId xmlns:a16="http://schemas.microsoft.com/office/drawing/2014/main" id="{E4A713AB-15B5-CD4D-0318-00BA6DA1595E}"/>
              </a:ext>
            </a:extLst>
          </p:cNvPr>
          <p:cNvSpPr/>
          <p:nvPr/>
        </p:nvSpPr>
        <p:spPr>
          <a:xfrm>
            <a:off x="6400656" y="3565011"/>
            <a:ext cx="4985081" cy="809457"/>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a:latin typeface="Noto Sans SC"/>
                <a:ea typeface="Noto Sans SC"/>
                <a:cs typeface="Noto Sans SC"/>
                <a:sym typeface="Noto Sans SC"/>
              </a:rPr>
              <a:t>打破格式壁垒，全面支持多种格式材料入料。通过智能解析技术自动提取并转化为结构化数据，大幅降低人工成本，提升处理效率与准确性，适应多样化业务场景。</a:t>
            </a:r>
            <a:endParaRPr lang="en-US" sz="1400" dirty="0"/>
          </a:p>
        </p:txBody>
      </p:sp>
      <p:sp>
        <p:nvSpPr>
          <p:cNvPr id="4" name="AutoShape 17">
            <a:extLst>
              <a:ext uri="{FF2B5EF4-FFF2-40B4-BE49-F238E27FC236}">
                <a16:creationId xmlns:a16="http://schemas.microsoft.com/office/drawing/2014/main" id="{9CD62A43-DBB7-FC76-4BAE-18D07FC813F5}"/>
              </a:ext>
            </a:extLst>
          </p:cNvPr>
          <p:cNvSpPr/>
          <p:nvPr/>
        </p:nvSpPr>
        <p:spPr>
          <a:xfrm>
            <a:off x="5693878" y="4534893"/>
            <a:ext cx="5906518" cy="1400887"/>
          </a:xfrm>
          <a:prstGeom prst="roundRect">
            <a:avLst>
              <a:gd name="adj" fmla="val 0"/>
            </a:avLst>
          </a:prstGeom>
          <a:solidFill>
            <a:schemeClr val="accent2">
              <a:alpha val="8000"/>
            </a:schemeClr>
          </a:solidFill>
          <a:ln w="12700" cap="flat" cmpd="sng">
            <a:solidFill>
              <a:srgbClr val="D4AF37">
                <a:alpha val="30000"/>
              </a:srgbClr>
            </a:solidFill>
            <a:prstDash val="solid"/>
            <a:round/>
          </a:ln>
        </p:spPr>
        <p:txBody>
          <a:bodyPr vert="horz" wrap="square" lIns="63500" tIns="63500" rIns="63500" bIns="63500" rtlCol="0" anchor="ctr"/>
          <a:lstStyle/>
          <a:p>
            <a:pPr algn="ctr">
              <a:defRPr/>
            </a:pPr>
            <a:endParaRPr/>
          </a:p>
        </p:txBody>
      </p:sp>
      <p:sp>
        <p:nvSpPr>
          <p:cNvPr id="8" name="AutoShape 19">
            <a:extLst>
              <a:ext uri="{FF2B5EF4-FFF2-40B4-BE49-F238E27FC236}">
                <a16:creationId xmlns:a16="http://schemas.microsoft.com/office/drawing/2014/main" id="{E08B0B60-ED02-DE51-C624-F03364C4CEDB}"/>
              </a:ext>
            </a:extLst>
          </p:cNvPr>
          <p:cNvSpPr/>
          <p:nvPr/>
        </p:nvSpPr>
        <p:spPr>
          <a:xfrm>
            <a:off x="6405162" y="4709306"/>
            <a:ext cx="4049565"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latin typeface="Noto Sans SC"/>
                <a:ea typeface="Noto Sans SC"/>
                <a:cs typeface="Noto Sans SC"/>
                <a:sym typeface="Noto Sans SC"/>
              </a:rPr>
              <a:t>06 / </a:t>
            </a:r>
            <a:r>
              <a:rPr lang="zh-CN" altLang="en-US" sz="2000" b="1" i="0" u="none" strike="noStrike" dirty="0">
                <a:latin typeface="Noto Sans SC"/>
                <a:ea typeface="Noto Sans SC"/>
                <a:cs typeface="Noto Sans SC"/>
                <a:sym typeface="Noto Sans SC"/>
              </a:rPr>
              <a:t>不同粒度级任务分化</a:t>
            </a:r>
            <a:endParaRPr lang="en-US" sz="1200" dirty="0"/>
          </a:p>
        </p:txBody>
      </p:sp>
      <p:sp>
        <p:nvSpPr>
          <p:cNvPr id="10" name="AutoShape 20">
            <a:extLst>
              <a:ext uri="{FF2B5EF4-FFF2-40B4-BE49-F238E27FC236}">
                <a16:creationId xmlns:a16="http://schemas.microsoft.com/office/drawing/2014/main" id="{E96DC15F-EF42-1DDA-465E-D463668BFE77}"/>
              </a:ext>
            </a:extLst>
          </p:cNvPr>
          <p:cNvSpPr/>
          <p:nvPr/>
        </p:nvSpPr>
        <p:spPr>
          <a:xfrm>
            <a:off x="6390691" y="5136080"/>
            <a:ext cx="4896913" cy="736180"/>
          </a:xfrm>
          <a:prstGeom prst="rect">
            <a:avLst/>
          </a:prstGeom>
          <a:noFill/>
          <a:ln w="12700" cap="flat" cmpd="sng">
            <a:noFill/>
            <a:prstDash val="solid"/>
            <a:round/>
          </a:ln>
        </p:spPr>
        <p:txBody>
          <a:bodyPr vert="horz" wrap="square" lIns="0" tIns="0" rIns="0" bIns="0" rtlCol="0" anchor="ctr" anchorCtr="0"/>
          <a:lstStyle/>
          <a:p>
            <a:pPr>
              <a:lnSpc>
                <a:spcPct val="100000"/>
              </a:lnSpc>
              <a:defRPr/>
            </a:pPr>
            <a:r>
              <a:rPr lang="zh-CN" altLang="en-US" sz="1600" dirty="0">
                <a:latin typeface="Noto Sans SC"/>
                <a:ea typeface="Noto Sans SC"/>
                <a:cs typeface="Noto Sans SC"/>
                <a:sym typeface="Noto Sans SC"/>
              </a:rPr>
              <a:t>项目将任务划分为不同层级，通过悬浮球组件与文书智能体实现轻量交互与复杂工作流两类任务结果兼容、信息自洽。</a:t>
            </a:r>
            <a:endParaRPr lang="zh-CN" altLang="en-US" sz="1600" b="0" i="0" u="none" strike="noStrike" dirty="0">
              <a:latin typeface="Noto Sans SC"/>
              <a:ea typeface="Noto Sans SC"/>
              <a:cs typeface="Noto Sans SC"/>
              <a:sym typeface="Noto Sans SC"/>
            </a:endParaRPr>
          </a:p>
        </p:txBody>
      </p:sp>
      <p:pic>
        <p:nvPicPr>
          <p:cNvPr id="12" name="Picture 14">
            <a:extLst>
              <a:ext uri="{FF2B5EF4-FFF2-40B4-BE49-F238E27FC236}">
                <a16:creationId xmlns:a16="http://schemas.microsoft.com/office/drawing/2014/main" id="{A8C7E202-9794-220F-5F23-2165E5D352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55633" y="4742031"/>
            <a:ext cx="355600" cy="355600"/>
          </a:xfrm>
          <a:prstGeom prst="rect">
            <a:avLst/>
          </a:prstGeom>
        </p:spPr>
      </p:pic>
    </p:spTree>
    <p:extLst>
      <p:ext uri="{BB962C8B-B14F-4D97-AF65-F5344CB8AC3E}">
        <p14:creationId xmlns:p14="http://schemas.microsoft.com/office/powerpoint/2010/main" val="39616292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A81EDE3-6788-4F8F-9B35-76501FFA8A50}"/>
              </a:ext>
            </a:extLst>
          </p:cNvPr>
          <p:cNvSpPr/>
          <p:nvPr/>
        </p:nvSpPr>
        <p:spPr>
          <a:xfrm>
            <a:off x="463550" y="1396348"/>
            <a:ext cx="3601554" cy="5080651"/>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5EF3C9A-BB29-F953-2F3E-8BCE19BA5602}"/>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7" name="平行四边形 26">
            <a:extLst>
              <a:ext uri="{FF2B5EF4-FFF2-40B4-BE49-F238E27FC236}">
                <a16:creationId xmlns:a16="http://schemas.microsoft.com/office/drawing/2014/main" id="{3969851E-867B-3314-DF3A-E38D236D9C85}"/>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a:extLst>
              <a:ext uri="{FF2B5EF4-FFF2-40B4-BE49-F238E27FC236}">
                <a16:creationId xmlns:a16="http://schemas.microsoft.com/office/drawing/2014/main" id="{ED87D7AA-C76F-BAC1-BB6B-F6FBE813C644}"/>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B74E4832-F6A7-971F-3E6F-CD383BA13C44}"/>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商业模式</a:t>
            </a:r>
            <a:endParaRPr lang="en-US" altLang="zh-CN" sz="3600" dirty="0"/>
          </a:p>
        </p:txBody>
      </p:sp>
      <p:pic>
        <p:nvPicPr>
          <p:cNvPr id="33" name="图片 32">
            <a:extLst>
              <a:ext uri="{FF2B5EF4-FFF2-40B4-BE49-F238E27FC236}">
                <a16:creationId xmlns:a16="http://schemas.microsoft.com/office/drawing/2014/main" id="{2048C31D-4FFB-E635-EEA1-26C5521265E1}"/>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24" name="矩形 23">
            <a:extLst>
              <a:ext uri="{FF2B5EF4-FFF2-40B4-BE49-F238E27FC236}">
                <a16:creationId xmlns:a16="http://schemas.microsoft.com/office/drawing/2014/main" id="{B085ADE3-C584-0B6E-75C7-E3933B378351}"/>
              </a:ext>
            </a:extLst>
          </p:cNvPr>
          <p:cNvSpPr/>
          <p:nvPr/>
        </p:nvSpPr>
        <p:spPr>
          <a:xfrm>
            <a:off x="4268580" y="1396347"/>
            <a:ext cx="3601554" cy="5080651"/>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0A218FE2-EFAA-4F9C-B446-C9677B46F473}"/>
              </a:ext>
            </a:extLst>
          </p:cNvPr>
          <p:cNvSpPr/>
          <p:nvPr/>
        </p:nvSpPr>
        <p:spPr>
          <a:xfrm>
            <a:off x="8073610" y="1396346"/>
            <a:ext cx="3601554" cy="5080651"/>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Connector 8">
            <a:extLst>
              <a:ext uri="{FF2B5EF4-FFF2-40B4-BE49-F238E27FC236}">
                <a16:creationId xmlns:a16="http://schemas.microsoft.com/office/drawing/2014/main" id="{3263F26A-5F5F-84F8-5695-1C5614870DB6}"/>
              </a:ext>
            </a:extLst>
          </p:cNvPr>
          <p:cNvCxnSpPr/>
          <p:nvPr/>
        </p:nvCxnSpPr>
        <p:spPr>
          <a:xfrm rot="5388307">
            <a:off x="6210300" y="4070361"/>
            <a:ext cx="3733800" cy="12700"/>
          </a:xfrm>
          <a:prstGeom prst="straightConnector1">
            <a:avLst/>
          </a:prstGeom>
          <a:solidFill>
            <a:srgbClr val="DEE0E3">
              <a:alpha val="100000"/>
            </a:srgbClr>
          </a:solidFill>
          <a:ln w="12700" cap="flat" cmpd="sng">
            <a:solidFill>
              <a:srgbClr val="FFFFFF">
                <a:alpha val="14000"/>
              </a:srgbClr>
            </a:solidFill>
            <a:prstDash val="solid"/>
            <a:round/>
            <a:headEnd type="none" w="med" len="med"/>
            <a:tailEnd type="none" w="med" len="med"/>
          </a:ln>
        </p:spPr>
      </p:cxnSp>
      <p:sp>
        <p:nvSpPr>
          <p:cNvPr id="53" name="AutoShape 9">
            <a:extLst>
              <a:ext uri="{FF2B5EF4-FFF2-40B4-BE49-F238E27FC236}">
                <a16:creationId xmlns:a16="http://schemas.microsoft.com/office/drawing/2014/main" id="{E8D2E6D7-E6C8-7CA6-0D3A-10C5240D08D0}"/>
              </a:ext>
            </a:extLst>
          </p:cNvPr>
          <p:cNvSpPr/>
          <p:nvPr/>
        </p:nvSpPr>
        <p:spPr>
          <a:xfrm>
            <a:off x="735354" y="1933761"/>
            <a:ext cx="3175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chemeClr val="bg1"/>
                </a:solidFill>
                <a:latin typeface="Noto Sans SC"/>
                <a:ea typeface="Noto Sans SC"/>
                <a:cs typeface="Noto Sans SC"/>
                <a:sym typeface="Noto Sans SC"/>
              </a:rPr>
              <a:t>01 </a:t>
            </a:r>
            <a:r>
              <a:rPr lang="en-US" sz="2600" b="1" i="0" u="none" strike="noStrike" dirty="0" err="1">
                <a:solidFill>
                  <a:schemeClr val="bg1"/>
                </a:solidFill>
                <a:latin typeface="Noto Sans SC"/>
                <a:ea typeface="Noto Sans SC"/>
                <a:cs typeface="Noto Sans SC"/>
                <a:sym typeface="Noto Sans SC"/>
              </a:rPr>
              <a:t>客户细分与演进</a:t>
            </a:r>
            <a:endParaRPr lang="en-US" sz="2600" b="1" dirty="0">
              <a:solidFill>
                <a:schemeClr val="bg1"/>
              </a:solidFill>
            </a:endParaRPr>
          </a:p>
        </p:txBody>
      </p:sp>
      <p:sp>
        <p:nvSpPr>
          <p:cNvPr id="54" name="AutoShape 10">
            <a:extLst>
              <a:ext uri="{FF2B5EF4-FFF2-40B4-BE49-F238E27FC236}">
                <a16:creationId xmlns:a16="http://schemas.microsoft.com/office/drawing/2014/main" id="{16C8B5F9-1583-702B-3EDC-0061AE80AEF0}"/>
              </a:ext>
            </a:extLst>
          </p:cNvPr>
          <p:cNvSpPr/>
          <p:nvPr/>
        </p:nvSpPr>
        <p:spPr>
          <a:xfrm>
            <a:off x="735354" y="2569971"/>
            <a:ext cx="3075398"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chemeClr val="bg1"/>
                </a:solidFill>
                <a:latin typeface="Noto Sans SC"/>
                <a:ea typeface="Noto Sans SC"/>
                <a:cs typeface="Noto Sans SC"/>
                <a:sym typeface="Noto Sans SC"/>
              </a:rPr>
              <a:t>高校学生</a:t>
            </a:r>
            <a:r>
              <a:rPr lang="en-US" b="1" i="0" u="none" strike="noStrike" dirty="0">
                <a:solidFill>
                  <a:schemeClr val="bg1"/>
                </a:solidFill>
                <a:latin typeface="Noto Sans SC"/>
                <a:ea typeface="Noto Sans SC"/>
                <a:cs typeface="Noto Sans SC"/>
                <a:sym typeface="Noto Sans SC"/>
              </a:rPr>
              <a:t> / </a:t>
            </a:r>
            <a:r>
              <a:rPr lang="en-US" b="1" i="0" u="none" strike="noStrike" dirty="0" err="1">
                <a:solidFill>
                  <a:schemeClr val="bg1"/>
                </a:solidFill>
                <a:latin typeface="Noto Sans SC"/>
                <a:ea typeface="Noto Sans SC"/>
                <a:cs typeface="Noto Sans SC"/>
                <a:sym typeface="Noto Sans SC"/>
              </a:rPr>
              <a:t>教授科研团队</a:t>
            </a:r>
            <a:endParaRPr lang="en-US" sz="1600" dirty="0">
              <a:solidFill>
                <a:schemeClr val="bg1"/>
              </a:solidFill>
            </a:endParaRPr>
          </a:p>
          <a:p>
            <a:pPr marL="0" indent="0" algn="l">
              <a:lnSpc>
                <a:spcPct val="125000"/>
              </a:lnSpc>
            </a:pPr>
            <a:r>
              <a:rPr lang="en-US" sz="1600" b="0" i="0" u="none" strike="noStrike" dirty="0">
                <a:solidFill>
                  <a:schemeClr val="bg1"/>
                </a:solidFill>
                <a:latin typeface="Noto Sans SC"/>
                <a:ea typeface="Noto Sans SC"/>
                <a:cs typeface="Noto Sans SC"/>
                <a:sym typeface="Noto Sans SC"/>
              </a:rPr>
              <a:t>学术型、实务型法律查明，0→1 </a:t>
            </a:r>
            <a:r>
              <a:rPr lang="en-US" sz="1600" b="0" i="0" u="none" strike="noStrike" dirty="0" err="1">
                <a:solidFill>
                  <a:schemeClr val="bg1"/>
                </a:solidFill>
                <a:latin typeface="Noto Sans SC"/>
                <a:ea typeface="Noto Sans SC"/>
                <a:cs typeface="Noto Sans SC"/>
                <a:sym typeface="Noto Sans SC"/>
              </a:rPr>
              <a:t>破局、积累信誉</a:t>
            </a:r>
            <a:endParaRPr lang="en-US" sz="1600" b="0" i="0" u="none" strike="noStrike" dirty="0">
              <a:solidFill>
                <a:schemeClr val="bg1"/>
              </a:solidFill>
              <a:latin typeface="Noto Sans SC"/>
              <a:ea typeface="Noto Sans SC"/>
              <a:cs typeface="Noto Sans SC"/>
              <a:sym typeface="Noto Sans SC"/>
            </a:endParaRPr>
          </a:p>
        </p:txBody>
      </p:sp>
      <p:sp>
        <p:nvSpPr>
          <p:cNvPr id="55" name="AutoShape 11">
            <a:extLst>
              <a:ext uri="{FF2B5EF4-FFF2-40B4-BE49-F238E27FC236}">
                <a16:creationId xmlns:a16="http://schemas.microsoft.com/office/drawing/2014/main" id="{2DFE86CE-3964-ECA5-99F8-F6D9CA958E92}"/>
              </a:ext>
            </a:extLst>
          </p:cNvPr>
          <p:cNvSpPr/>
          <p:nvPr/>
        </p:nvSpPr>
        <p:spPr>
          <a:xfrm>
            <a:off x="726628" y="3650787"/>
            <a:ext cx="3075398"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chemeClr val="bg1"/>
                </a:solidFill>
                <a:latin typeface="Noto Sans SC"/>
                <a:ea typeface="Noto Sans SC"/>
                <a:cs typeface="Noto Sans SC"/>
                <a:sym typeface="Noto Sans SC"/>
              </a:rPr>
              <a:t>出海企业</a:t>
            </a:r>
            <a:r>
              <a:rPr lang="en-US" b="1" i="0" u="none" strike="noStrike" dirty="0">
                <a:solidFill>
                  <a:schemeClr val="bg1"/>
                </a:solidFill>
                <a:latin typeface="Noto Sans SC"/>
                <a:ea typeface="Noto Sans SC"/>
                <a:cs typeface="Noto Sans SC"/>
                <a:sym typeface="Noto Sans SC"/>
              </a:rPr>
              <a:t> / </a:t>
            </a:r>
            <a:r>
              <a:rPr lang="en-US" b="1" i="0" u="none" strike="noStrike" dirty="0" err="1">
                <a:solidFill>
                  <a:schemeClr val="bg1"/>
                </a:solidFill>
                <a:latin typeface="Noto Sans SC"/>
                <a:ea typeface="Noto Sans SC"/>
                <a:cs typeface="Noto Sans SC"/>
                <a:sym typeface="Noto Sans SC"/>
              </a:rPr>
              <a:t>跨境电商</a:t>
            </a:r>
            <a:endParaRPr lang="en-US" sz="1600" dirty="0">
              <a:solidFill>
                <a:schemeClr val="bg1"/>
              </a:solidFill>
            </a:endParaRPr>
          </a:p>
          <a:p>
            <a:pPr marL="0" indent="0" algn="l">
              <a:lnSpc>
                <a:spcPct val="125000"/>
              </a:lnSpc>
            </a:pPr>
            <a:r>
              <a:rPr lang="en-US" sz="1600" b="0" i="0" u="none" strike="noStrike" dirty="0" err="1">
                <a:solidFill>
                  <a:schemeClr val="bg1"/>
                </a:solidFill>
                <a:latin typeface="Noto Sans SC"/>
                <a:ea typeface="Noto Sans SC"/>
                <a:cs typeface="Noto Sans SC"/>
                <a:sym typeface="Noto Sans SC"/>
              </a:rPr>
              <a:t>公益咨询起步，由小额转向全链条付费服务</a:t>
            </a:r>
            <a:endParaRPr lang="en-US" sz="1600" b="0" i="0" u="none" strike="noStrike" dirty="0">
              <a:solidFill>
                <a:schemeClr val="bg1"/>
              </a:solidFill>
              <a:latin typeface="Noto Sans SC"/>
              <a:ea typeface="Noto Sans SC"/>
              <a:cs typeface="Noto Sans SC"/>
              <a:sym typeface="Noto Sans SC"/>
            </a:endParaRPr>
          </a:p>
        </p:txBody>
      </p:sp>
      <p:sp>
        <p:nvSpPr>
          <p:cNvPr id="56" name="AutoShape 12">
            <a:extLst>
              <a:ext uri="{FF2B5EF4-FFF2-40B4-BE49-F238E27FC236}">
                <a16:creationId xmlns:a16="http://schemas.microsoft.com/office/drawing/2014/main" id="{28E11C98-21E4-3AF0-134C-E80AEC6E7D4C}"/>
              </a:ext>
            </a:extLst>
          </p:cNvPr>
          <p:cNvSpPr/>
          <p:nvPr/>
        </p:nvSpPr>
        <p:spPr>
          <a:xfrm>
            <a:off x="726628" y="4800039"/>
            <a:ext cx="3075398"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chemeClr val="bg1"/>
                </a:solidFill>
                <a:latin typeface="Noto Sans SC"/>
                <a:ea typeface="Noto Sans SC"/>
                <a:cs typeface="Noto Sans SC"/>
                <a:sym typeface="Noto Sans SC"/>
              </a:rPr>
              <a:t>律师事务所</a:t>
            </a:r>
            <a:r>
              <a:rPr lang="en-US" b="1" i="0" u="none" strike="noStrike" dirty="0">
                <a:solidFill>
                  <a:schemeClr val="bg1"/>
                </a:solidFill>
                <a:latin typeface="Noto Sans SC"/>
                <a:ea typeface="Noto Sans SC"/>
                <a:cs typeface="Noto Sans SC"/>
                <a:sym typeface="Noto Sans SC"/>
              </a:rPr>
              <a:t> / </a:t>
            </a:r>
            <a:r>
              <a:rPr lang="en-US" b="1" i="0" u="none" strike="noStrike" dirty="0" err="1">
                <a:solidFill>
                  <a:schemeClr val="bg1"/>
                </a:solidFill>
                <a:latin typeface="Noto Sans SC"/>
                <a:ea typeface="Noto Sans SC"/>
                <a:cs typeface="Noto Sans SC"/>
                <a:sym typeface="Noto Sans SC"/>
              </a:rPr>
              <a:t>律师个人</a:t>
            </a:r>
            <a:endParaRPr lang="en-US" sz="1600" dirty="0">
              <a:solidFill>
                <a:schemeClr val="bg1"/>
              </a:solidFill>
            </a:endParaRPr>
          </a:p>
          <a:p>
            <a:pPr marL="0" indent="0" algn="l">
              <a:lnSpc>
                <a:spcPct val="125000"/>
              </a:lnSpc>
            </a:pPr>
            <a:r>
              <a:rPr lang="en-US" sz="1600" b="0" i="0" u="none" strike="noStrike" dirty="0" err="1">
                <a:solidFill>
                  <a:schemeClr val="bg1"/>
                </a:solidFill>
                <a:latin typeface="Noto Sans SC"/>
                <a:ea typeface="Noto Sans SC"/>
                <a:cs typeface="Noto Sans SC"/>
                <a:sym typeface="Noto Sans SC"/>
              </a:rPr>
              <a:t>全域数据库</a:t>
            </a:r>
            <a:r>
              <a:rPr lang="en-US" sz="1600" b="0" i="0" u="none" strike="noStrike" dirty="0">
                <a:solidFill>
                  <a:schemeClr val="bg1"/>
                </a:solidFill>
                <a:latin typeface="Noto Sans SC"/>
                <a:ea typeface="Noto Sans SC"/>
                <a:cs typeface="Noto Sans SC"/>
                <a:sym typeface="Noto Sans SC"/>
              </a:rPr>
              <a:t> + </a:t>
            </a:r>
            <a:r>
              <a:rPr lang="en-US" sz="1600" b="0" i="0" u="none" strike="noStrike" dirty="0" err="1">
                <a:solidFill>
                  <a:schemeClr val="bg1"/>
                </a:solidFill>
                <a:latin typeface="Noto Sans SC"/>
                <a:ea typeface="Noto Sans SC"/>
                <a:cs typeface="Noto Sans SC"/>
                <a:sym typeface="Noto Sans SC"/>
              </a:rPr>
              <a:t>高度智能办公助手，个人版走量</a:t>
            </a:r>
            <a:endParaRPr lang="en-US" sz="1600" b="0" i="0" u="none" strike="noStrike" dirty="0">
              <a:solidFill>
                <a:schemeClr val="bg1"/>
              </a:solidFill>
              <a:latin typeface="Noto Sans SC"/>
              <a:ea typeface="Noto Sans SC"/>
              <a:cs typeface="Noto Sans SC"/>
              <a:sym typeface="Noto Sans SC"/>
            </a:endParaRPr>
          </a:p>
        </p:txBody>
      </p:sp>
      <p:sp>
        <p:nvSpPr>
          <p:cNvPr id="57" name="AutoShape 13">
            <a:extLst>
              <a:ext uri="{FF2B5EF4-FFF2-40B4-BE49-F238E27FC236}">
                <a16:creationId xmlns:a16="http://schemas.microsoft.com/office/drawing/2014/main" id="{3E08DE90-C44C-9F62-33D8-75BB241DAB77}"/>
              </a:ext>
            </a:extLst>
          </p:cNvPr>
          <p:cNvSpPr/>
          <p:nvPr/>
        </p:nvSpPr>
        <p:spPr>
          <a:xfrm>
            <a:off x="4537181" y="1925808"/>
            <a:ext cx="3302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chemeClr val="bg1"/>
                </a:solidFill>
                <a:latin typeface="Noto Sans SC"/>
                <a:ea typeface="Noto Sans SC"/>
                <a:cs typeface="Noto Sans SC"/>
                <a:sym typeface="Noto Sans SC"/>
              </a:rPr>
              <a:t>02 </a:t>
            </a:r>
            <a:r>
              <a:rPr lang="en-US" sz="2600" b="1" i="0" u="none" strike="noStrike" dirty="0" err="1">
                <a:solidFill>
                  <a:schemeClr val="bg1"/>
                </a:solidFill>
                <a:latin typeface="Noto Sans SC"/>
                <a:ea typeface="Noto Sans SC"/>
                <a:cs typeface="Noto Sans SC"/>
                <a:sym typeface="Noto Sans SC"/>
              </a:rPr>
              <a:t>价值主张与能力</a:t>
            </a:r>
            <a:endParaRPr lang="en-US" sz="2600" b="1" dirty="0">
              <a:solidFill>
                <a:schemeClr val="bg1"/>
              </a:solidFill>
            </a:endParaRPr>
          </a:p>
        </p:txBody>
      </p:sp>
      <p:sp>
        <p:nvSpPr>
          <p:cNvPr id="58" name="AutoShape 14">
            <a:extLst>
              <a:ext uri="{FF2B5EF4-FFF2-40B4-BE49-F238E27FC236}">
                <a16:creationId xmlns:a16="http://schemas.microsoft.com/office/drawing/2014/main" id="{96B6DF08-D1D0-428B-BBAB-54F51B228EA7}"/>
              </a:ext>
            </a:extLst>
          </p:cNvPr>
          <p:cNvSpPr/>
          <p:nvPr/>
        </p:nvSpPr>
        <p:spPr>
          <a:xfrm>
            <a:off x="4541648" y="2588436"/>
            <a:ext cx="3082925"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000" b="1" i="0" u="none" strike="noStrike" dirty="0" err="1">
                <a:solidFill>
                  <a:schemeClr val="bg1"/>
                </a:solidFill>
                <a:latin typeface="Noto Sans SC"/>
                <a:ea typeface="Noto Sans SC"/>
                <a:cs typeface="Noto Sans SC"/>
                <a:sym typeface="Noto Sans SC"/>
              </a:rPr>
              <a:t>高效</a:t>
            </a:r>
            <a:r>
              <a:rPr lang="en-US" sz="1600" b="1" i="0" u="none" strike="noStrike" dirty="0">
                <a:solidFill>
                  <a:schemeClr val="bg1"/>
                </a:solidFill>
                <a:latin typeface="Noto Sans SC"/>
                <a:ea typeface="Noto Sans SC"/>
                <a:cs typeface="Noto Sans SC"/>
                <a:sym typeface="Noto Sans SC"/>
              </a:rPr>
              <a:t>　</a:t>
            </a:r>
            <a:r>
              <a:rPr lang="en-US" sz="1600" b="0" i="0" u="none" strike="noStrike" dirty="0" err="1">
                <a:solidFill>
                  <a:schemeClr val="bg1"/>
                </a:solidFill>
                <a:latin typeface="Noto Sans SC"/>
                <a:ea typeface="Noto Sans SC"/>
                <a:cs typeface="Noto Sans SC"/>
                <a:sym typeface="Noto Sans SC"/>
              </a:rPr>
              <a:t>悬浮球选中文本即翻译，自动关联法域法规与案例</a:t>
            </a:r>
            <a:endParaRPr lang="en-US" sz="1400" dirty="0">
              <a:solidFill>
                <a:schemeClr val="bg1"/>
              </a:solidFill>
            </a:endParaRPr>
          </a:p>
        </p:txBody>
      </p:sp>
      <p:sp>
        <p:nvSpPr>
          <p:cNvPr id="59" name="AutoShape 15">
            <a:extLst>
              <a:ext uri="{FF2B5EF4-FFF2-40B4-BE49-F238E27FC236}">
                <a16:creationId xmlns:a16="http://schemas.microsoft.com/office/drawing/2014/main" id="{67EBCA3F-4E9D-A378-8433-20B96A966820}"/>
              </a:ext>
            </a:extLst>
          </p:cNvPr>
          <p:cNvSpPr/>
          <p:nvPr/>
        </p:nvSpPr>
        <p:spPr>
          <a:xfrm>
            <a:off x="4550935" y="3319868"/>
            <a:ext cx="3073638"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000" b="1" i="0" u="none" strike="noStrike" dirty="0" err="1">
                <a:solidFill>
                  <a:schemeClr val="bg1"/>
                </a:solidFill>
                <a:latin typeface="Noto Sans SC"/>
                <a:ea typeface="Noto Sans SC"/>
                <a:cs typeface="Noto Sans SC"/>
                <a:sym typeface="Noto Sans SC"/>
              </a:rPr>
              <a:t>智能</a:t>
            </a:r>
            <a:r>
              <a:rPr lang="en-US" sz="1600" b="1" i="0" u="none" strike="noStrike" dirty="0">
                <a:solidFill>
                  <a:schemeClr val="bg1"/>
                </a:solidFill>
                <a:latin typeface="Noto Sans SC"/>
                <a:ea typeface="Noto Sans SC"/>
                <a:cs typeface="Noto Sans SC"/>
                <a:sym typeface="Noto Sans SC"/>
              </a:rPr>
              <a:t>　</a:t>
            </a:r>
            <a:r>
              <a:rPr lang="en-US" sz="1600" b="0" i="0" u="none" strike="noStrike" dirty="0">
                <a:solidFill>
                  <a:schemeClr val="bg1"/>
                </a:solidFill>
                <a:latin typeface="Noto Sans SC"/>
                <a:ea typeface="Noto Sans SC"/>
                <a:cs typeface="Noto Sans SC"/>
                <a:sym typeface="Noto Sans SC"/>
              </a:rPr>
              <a:t>AI </a:t>
            </a:r>
            <a:r>
              <a:rPr lang="en-US" sz="1600" b="0" i="0" u="none" strike="noStrike" dirty="0" err="1">
                <a:solidFill>
                  <a:schemeClr val="bg1"/>
                </a:solidFill>
                <a:latin typeface="Noto Sans SC"/>
                <a:ea typeface="Noto Sans SC"/>
                <a:cs typeface="Noto Sans SC"/>
                <a:sym typeface="Noto Sans SC"/>
              </a:rPr>
              <a:t>一键生成法律查明报告，文书模板可自行积累</a:t>
            </a:r>
            <a:endParaRPr lang="en-US" sz="1400" dirty="0">
              <a:solidFill>
                <a:schemeClr val="bg1"/>
              </a:solidFill>
            </a:endParaRPr>
          </a:p>
        </p:txBody>
      </p:sp>
      <p:sp>
        <p:nvSpPr>
          <p:cNvPr id="60" name="AutoShape 16">
            <a:extLst>
              <a:ext uri="{FF2B5EF4-FFF2-40B4-BE49-F238E27FC236}">
                <a16:creationId xmlns:a16="http://schemas.microsoft.com/office/drawing/2014/main" id="{484D12FD-814A-35AF-1666-EDF5BA3F9997}"/>
              </a:ext>
            </a:extLst>
          </p:cNvPr>
          <p:cNvSpPr/>
          <p:nvPr/>
        </p:nvSpPr>
        <p:spPr>
          <a:xfrm>
            <a:off x="4537181" y="4089400"/>
            <a:ext cx="3082925" cy="584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000" b="1" i="0" u="none" strike="noStrike" dirty="0" err="1">
                <a:solidFill>
                  <a:schemeClr val="bg1"/>
                </a:solidFill>
                <a:latin typeface="Noto Sans SC"/>
                <a:ea typeface="Noto Sans SC"/>
                <a:cs typeface="Noto Sans SC"/>
                <a:sym typeface="Noto Sans SC"/>
              </a:rPr>
              <a:t>低价</a:t>
            </a:r>
            <a:r>
              <a:rPr lang="en-US" sz="1600" b="1" i="0" u="none" strike="noStrike" dirty="0">
                <a:solidFill>
                  <a:schemeClr val="bg1"/>
                </a:solidFill>
                <a:latin typeface="Noto Sans SC"/>
                <a:ea typeface="Noto Sans SC"/>
                <a:cs typeface="Noto Sans SC"/>
                <a:sym typeface="Noto Sans SC"/>
              </a:rPr>
              <a:t>　</a:t>
            </a:r>
            <a:r>
              <a:rPr lang="en-US" sz="1600" b="0" i="0" u="none" strike="noStrike" dirty="0" err="1">
                <a:solidFill>
                  <a:schemeClr val="bg1"/>
                </a:solidFill>
                <a:latin typeface="Noto Sans SC"/>
                <a:ea typeface="Noto Sans SC"/>
                <a:cs typeface="Noto Sans SC"/>
                <a:sym typeface="Noto Sans SC"/>
              </a:rPr>
              <a:t>较市场委托价大幅降低，薄利多销、规模换覆盖</a:t>
            </a:r>
            <a:endParaRPr lang="en-US" sz="1400" dirty="0">
              <a:solidFill>
                <a:schemeClr val="bg1"/>
              </a:solidFill>
            </a:endParaRPr>
          </a:p>
        </p:txBody>
      </p:sp>
      <p:sp>
        <p:nvSpPr>
          <p:cNvPr id="62" name="AutoShape 18">
            <a:extLst>
              <a:ext uri="{FF2B5EF4-FFF2-40B4-BE49-F238E27FC236}">
                <a16:creationId xmlns:a16="http://schemas.microsoft.com/office/drawing/2014/main" id="{0F0FDAFE-5C28-746D-7A90-DD8E00CD6492}"/>
              </a:ext>
            </a:extLst>
          </p:cNvPr>
          <p:cNvSpPr/>
          <p:nvPr/>
        </p:nvSpPr>
        <p:spPr>
          <a:xfrm>
            <a:off x="4518785" y="4955364"/>
            <a:ext cx="3082925"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en-US" b="1" i="0" u="none" strike="noStrike" dirty="0" err="1">
                <a:solidFill>
                  <a:schemeClr val="bg1"/>
                </a:solidFill>
                <a:latin typeface="Noto Sans SC"/>
                <a:ea typeface="Noto Sans SC"/>
                <a:cs typeface="Noto Sans SC"/>
                <a:sym typeface="Noto Sans SC"/>
              </a:rPr>
              <a:t>关键伙伴</a:t>
            </a:r>
            <a:r>
              <a:rPr lang="en-US" sz="1600" b="0" i="0" u="none" strike="noStrike" dirty="0">
                <a:solidFill>
                  <a:schemeClr val="bg1"/>
                </a:solidFill>
                <a:latin typeface="Noto Sans SC"/>
                <a:ea typeface="Noto Sans SC"/>
                <a:cs typeface="Noto Sans SC"/>
                <a:sym typeface="Noto Sans SC"/>
              </a:rPr>
              <a:t>　</a:t>
            </a:r>
          </a:p>
          <a:p>
            <a:pPr marL="0" indent="0" algn="ctr">
              <a:lnSpc>
                <a:spcPct val="125000"/>
              </a:lnSpc>
            </a:pPr>
            <a:r>
              <a:rPr lang="en-US" sz="1600" b="0" i="0" u="none" strike="noStrike" dirty="0" err="1">
                <a:solidFill>
                  <a:schemeClr val="bg1"/>
                </a:solidFill>
                <a:latin typeface="Noto Sans SC"/>
                <a:ea typeface="Noto Sans SC"/>
                <a:cs typeface="Noto Sans SC"/>
                <a:sym typeface="Noto Sans SC"/>
              </a:rPr>
              <a:t>大模型</a:t>
            </a:r>
            <a:r>
              <a:rPr lang="en-US" sz="1600" b="0" i="0" u="none" strike="noStrike" dirty="0">
                <a:solidFill>
                  <a:schemeClr val="bg1"/>
                </a:solidFill>
                <a:latin typeface="Noto Sans SC"/>
                <a:ea typeface="Noto Sans SC"/>
                <a:cs typeface="Noto Sans SC"/>
                <a:sym typeface="Noto Sans SC"/>
              </a:rPr>
              <a:t> API · </a:t>
            </a:r>
            <a:r>
              <a:rPr lang="en-US" sz="1600" b="0" i="0" u="none" strike="noStrike" dirty="0" err="1">
                <a:solidFill>
                  <a:schemeClr val="bg1"/>
                </a:solidFill>
                <a:latin typeface="Noto Sans SC"/>
                <a:ea typeface="Noto Sans SC"/>
                <a:cs typeface="Noto Sans SC"/>
                <a:sym typeface="Noto Sans SC"/>
              </a:rPr>
              <a:t>云服务商</a:t>
            </a:r>
            <a:r>
              <a:rPr lang="en-US" sz="1600" b="0" i="0" u="none" strike="noStrike" dirty="0">
                <a:solidFill>
                  <a:schemeClr val="bg1"/>
                </a:solidFill>
                <a:latin typeface="Noto Sans SC"/>
                <a:ea typeface="Noto Sans SC"/>
                <a:cs typeface="Noto Sans SC"/>
                <a:sym typeface="Noto Sans SC"/>
              </a:rPr>
              <a:t> · </a:t>
            </a:r>
            <a:r>
              <a:rPr lang="en-US" sz="1600" b="0" i="0" u="none" strike="noStrike" dirty="0" err="1">
                <a:solidFill>
                  <a:schemeClr val="bg1"/>
                </a:solidFill>
                <a:latin typeface="Noto Sans SC"/>
                <a:ea typeface="Noto Sans SC"/>
                <a:cs typeface="Noto Sans SC"/>
                <a:sym typeface="Noto Sans SC"/>
              </a:rPr>
              <a:t>法律专家与查明机构</a:t>
            </a:r>
            <a:endParaRPr lang="en-US" sz="1600" b="0" i="0" u="none" strike="noStrike" dirty="0">
              <a:solidFill>
                <a:schemeClr val="bg1"/>
              </a:solidFill>
              <a:latin typeface="Noto Sans SC"/>
              <a:ea typeface="Noto Sans SC"/>
              <a:cs typeface="Noto Sans SC"/>
              <a:sym typeface="Noto Sans SC"/>
            </a:endParaRPr>
          </a:p>
        </p:txBody>
      </p:sp>
      <p:sp>
        <p:nvSpPr>
          <p:cNvPr id="63" name="AutoShape 19">
            <a:extLst>
              <a:ext uri="{FF2B5EF4-FFF2-40B4-BE49-F238E27FC236}">
                <a16:creationId xmlns:a16="http://schemas.microsoft.com/office/drawing/2014/main" id="{5FC37648-A2A9-06ED-7040-08B010A8A226}"/>
              </a:ext>
            </a:extLst>
          </p:cNvPr>
          <p:cNvSpPr/>
          <p:nvPr/>
        </p:nvSpPr>
        <p:spPr>
          <a:xfrm>
            <a:off x="8335130" y="1925808"/>
            <a:ext cx="3175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chemeClr val="bg1"/>
                </a:solidFill>
                <a:latin typeface="Noto Sans SC"/>
                <a:ea typeface="Noto Sans SC"/>
                <a:cs typeface="Noto Sans SC"/>
                <a:sym typeface="Noto Sans SC"/>
              </a:rPr>
              <a:t>03 </a:t>
            </a:r>
            <a:r>
              <a:rPr lang="en-US" sz="2600" b="1" i="0" u="none" strike="noStrike" dirty="0" err="1">
                <a:solidFill>
                  <a:schemeClr val="bg1"/>
                </a:solidFill>
                <a:latin typeface="Noto Sans SC"/>
                <a:ea typeface="Noto Sans SC"/>
                <a:cs typeface="Noto Sans SC"/>
                <a:sym typeface="Noto Sans SC"/>
              </a:rPr>
              <a:t>收入三档定价</a:t>
            </a:r>
            <a:endParaRPr lang="en-US" sz="2600" b="1" dirty="0">
              <a:solidFill>
                <a:schemeClr val="bg1"/>
              </a:solidFill>
            </a:endParaRPr>
          </a:p>
        </p:txBody>
      </p:sp>
      <p:sp>
        <p:nvSpPr>
          <p:cNvPr id="64" name="AutoShape 20">
            <a:extLst>
              <a:ext uri="{FF2B5EF4-FFF2-40B4-BE49-F238E27FC236}">
                <a16:creationId xmlns:a16="http://schemas.microsoft.com/office/drawing/2014/main" id="{579E243F-2707-5374-CC46-CFA9DF912D86}"/>
              </a:ext>
            </a:extLst>
          </p:cNvPr>
          <p:cNvSpPr/>
          <p:nvPr/>
        </p:nvSpPr>
        <p:spPr>
          <a:xfrm>
            <a:off x="8358910" y="2569971"/>
            <a:ext cx="317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chemeClr val="bg1"/>
                </a:solidFill>
                <a:latin typeface="Noto Sans SC"/>
                <a:ea typeface="Noto Sans SC"/>
                <a:cs typeface="Noto Sans SC"/>
                <a:sym typeface="Noto Sans SC"/>
              </a:rPr>
              <a:t>68 </a:t>
            </a:r>
            <a:r>
              <a:rPr lang="en-US" b="0" i="0" u="none" strike="noStrike" dirty="0">
                <a:solidFill>
                  <a:schemeClr val="bg1"/>
                </a:solidFill>
                <a:latin typeface="Noto Sans SC"/>
                <a:ea typeface="Noto Sans SC"/>
                <a:cs typeface="Noto Sans SC"/>
                <a:sym typeface="Noto Sans SC"/>
              </a:rPr>
              <a:t>元 / 月 / 人</a:t>
            </a:r>
            <a:endParaRPr lang="en-US" dirty="0">
              <a:solidFill>
                <a:schemeClr val="bg1"/>
              </a:solidFill>
            </a:endParaRPr>
          </a:p>
        </p:txBody>
      </p:sp>
      <p:sp>
        <p:nvSpPr>
          <p:cNvPr id="65" name="AutoShape 21">
            <a:extLst>
              <a:ext uri="{FF2B5EF4-FFF2-40B4-BE49-F238E27FC236}">
                <a16:creationId xmlns:a16="http://schemas.microsoft.com/office/drawing/2014/main" id="{38F57721-E1DC-A411-CB94-1CC1100BE067}"/>
              </a:ext>
            </a:extLst>
          </p:cNvPr>
          <p:cNvSpPr/>
          <p:nvPr/>
        </p:nvSpPr>
        <p:spPr>
          <a:xfrm>
            <a:off x="8357448" y="3147491"/>
            <a:ext cx="3046762" cy="431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err="1">
                <a:solidFill>
                  <a:schemeClr val="bg1"/>
                </a:solidFill>
                <a:latin typeface="Noto Sans SC"/>
                <a:ea typeface="Noto Sans SC"/>
                <a:cs typeface="Noto Sans SC"/>
                <a:sym typeface="Noto Sans SC"/>
              </a:rPr>
              <a:t>个人版订阅</a:t>
            </a:r>
            <a:r>
              <a:rPr lang="en-US" sz="1400" b="0" i="0" u="none" strike="noStrike" dirty="0">
                <a:solidFill>
                  <a:schemeClr val="bg1"/>
                </a:solidFill>
                <a:latin typeface="Noto Sans SC"/>
                <a:ea typeface="Noto Sans SC"/>
                <a:cs typeface="Noto Sans SC"/>
                <a:sym typeface="Noto Sans SC"/>
              </a:rPr>
              <a:t>　</a:t>
            </a:r>
            <a:r>
              <a:rPr lang="en-US" sz="1400" b="0" i="0" u="none" strike="noStrike" dirty="0" err="1">
                <a:solidFill>
                  <a:schemeClr val="bg1"/>
                </a:solidFill>
                <a:latin typeface="Noto Sans SC"/>
                <a:ea typeface="Noto Sans SC"/>
                <a:cs typeface="Noto Sans SC"/>
                <a:sym typeface="Noto Sans SC"/>
              </a:rPr>
              <a:t>律师</a:t>
            </a:r>
            <a:r>
              <a:rPr lang="en-US" sz="1400" b="0" i="0" u="none" strike="noStrike" dirty="0">
                <a:solidFill>
                  <a:schemeClr val="bg1"/>
                </a:solidFill>
                <a:latin typeface="Noto Sans SC"/>
                <a:ea typeface="Noto Sans SC"/>
                <a:cs typeface="Noto Sans SC"/>
                <a:sym typeface="Noto Sans SC"/>
              </a:rPr>
              <a:t> / </a:t>
            </a:r>
            <a:r>
              <a:rPr lang="en-US" sz="1400" b="0" i="0" u="none" strike="noStrike" dirty="0" err="1">
                <a:solidFill>
                  <a:schemeClr val="bg1"/>
                </a:solidFill>
                <a:latin typeface="Noto Sans SC"/>
                <a:ea typeface="Noto Sans SC"/>
                <a:cs typeface="Noto Sans SC"/>
                <a:sym typeface="Noto Sans SC"/>
              </a:rPr>
              <a:t>法务个人，高频刚需、走量获客</a:t>
            </a:r>
            <a:endParaRPr lang="en-US" sz="1400" dirty="0">
              <a:solidFill>
                <a:schemeClr val="bg1"/>
              </a:solidFill>
            </a:endParaRPr>
          </a:p>
        </p:txBody>
      </p:sp>
      <p:sp>
        <p:nvSpPr>
          <p:cNvPr id="66" name="AutoShape 22">
            <a:extLst>
              <a:ext uri="{FF2B5EF4-FFF2-40B4-BE49-F238E27FC236}">
                <a16:creationId xmlns:a16="http://schemas.microsoft.com/office/drawing/2014/main" id="{0F38FFB1-2E96-A9BC-BD46-A75AC739D74A}"/>
              </a:ext>
            </a:extLst>
          </p:cNvPr>
          <p:cNvSpPr/>
          <p:nvPr/>
        </p:nvSpPr>
        <p:spPr>
          <a:xfrm>
            <a:off x="8357448" y="3759429"/>
            <a:ext cx="317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chemeClr val="bg1"/>
                </a:solidFill>
                <a:latin typeface="Noto Sans SC"/>
                <a:ea typeface="Noto Sans SC"/>
                <a:cs typeface="Noto Sans SC"/>
                <a:sym typeface="Noto Sans SC"/>
              </a:rPr>
              <a:t>48 </a:t>
            </a:r>
            <a:r>
              <a:rPr lang="en-US" b="0" i="0" u="none" strike="noStrike" dirty="0">
                <a:solidFill>
                  <a:schemeClr val="bg1"/>
                </a:solidFill>
                <a:latin typeface="Noto Sans SC"/>
                <a:ea typeface="Noto Sans SC"/>
                <a:cs typeface="Noto Sans SC"/>
                <a:sym typeface="Noto Sans SC"/>
              </a:rPr>
              <a:t>元 / 人 / 月</a:t>
            </a:r>
            <a:endParaRPr lang="en-US" dirty="0">
              <a:solidFill>
                <a:schemeClr val="bg1"/>
              </a:solidFill>
            </a:endParaRPr>
          </a:p>
        </p:txBody>
      </p:sp>
      <p:sp>
        <p:nvSpPr>
          <p:cNvPr id="67" name="AutoShape 23">
            <a:extLst>
              <a:ext uri="{FF2B5EF4-FFF2-40B4-BE49-F238E27FC236}">
                <a16:creationId xmlns:a16="http://schemas.microsoft.com/office/drawing/2014/main" id="{E1F1C9F2-3E9F-65A6-B148-69D19A009E84}"/>
              </a:ext>
            </a:extLst>
          </p:cNvPr>
          <p:cNvSpPr/>
          <p:nvPr/>
        </p:nvSpPr>
        <p:spPr>
          <a:xfrm>
            <a:off x="8357448" y="4295530"/>
            <a:ext cx="3046762" cy="431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err="1">
                <a:solidFill>
                  <a:schemeClr val="bg1"/>
                </a:solidFill>
                <a:latin typeface="Noto Sans SC"/>
                <a:ea typeface="Noto Sans SC"/>
                <a:cs typeface="Noto Sans SC"/>
                <a:sym typeface="Noto Sans SC"/>
              </a:rPr>
              <a:t>企业版订阅</a:t>
            </a:r>
            <a:r>
              <a:rPr lang="en-US" sz="1400" b="0" i="0" u="none" strike="noStrike" dirty="0">
                <a:solidFill>
                  <a:schemeClr val="bg1"/>
                </a:solidFill>
                <a:latin typeface="Noto Sans SC"/>
                <a:ea typeface="Noto Sans SC"/>
                <a:cs typeface="Noto Sans SC"/>
                <a:sym typeface="Noto Sans SC"/>
              </a:rPr>
              <a:t>　</a:t>
            </a:r>
            <a:r>
              <a:rPr lang="en-US" sz="1400" b="0" i="0" u="none" strike="noStrike" dirty="0" err="1">
                <a:solidFill>
                  <a:schemeClr val="bg1"/>
                </a:solidFill>
                <a:latin typeface="Noto Sans SC"/>
                <a:ea typeface="Noto Sans SC"/>
                <a:cs typeface="Noto Sans SC"/>
                <a:sym typeface="Noto Sans SC"/>
              </a:rPr>
              <a:t>律所</a:t>
            </a:r>
            <a:r>
              <a:rPr lang="en-US" sz="1400" b="0" i="0" u="none" strike="noStrike" dirty="0">
                <a:solidFill>
                  <a:schemeClr val="bg1"/>
                </a:solidFill>
                <a:latin typeface="Noto Sans SC"/>
                <a:ea typeface="Noto Sans SC"/>
                <a:cs typeface="Noto Sans SC"/>
                <a:sym typeface="Noto Sans SC"/>
              </a:rPr>
              <a:t> / 出海企业，5 </a:t>
            </a:r>
            <a:r>
              <a:rPr lang="en-US" sz="1400" b="0" i="0" u="none" strike="noStrike" dirty="0" err="1">
                <a:solidFill>
                  <a:schemeClr val="bg1"/>
                </a:solidFill>
                <a:latin typeface="Noto Sans SC"/>
                <a:ea typeface="Noto Sans SC"/>
                <a:cs typeface="Noto Sans SC"/>
                <a:sym typeface="Noto Sans SC"/>
              </a:rPr>
              <a:t>席起订，核心利润</a:t>
            </a:r>
            <a:endParaRPr lang="en-US" sz="1400" dirty="0">
              <a:solidFill>
                <a:schemeClr val="bg1"/>
              </a:solidFill>
            </a:endParaRPr>
          </a:p>
        </p:txBody>
      </p:sp>
      <p:sp>
        <p:nvSpPr>
          <p:cNvPr id="68" name="AutoShape 24">
            <a:extLst>
              <a:ext uri="{FF2B5EF4-FFF2-40B4-BE49-F238E27FC236}">
                <a16:creationId xmlns:a16="http://schemas.microsoft.com/office/drawing/2014/main" id="{8CEB4BCF-F981-000B-6E51-39C2498931E0}"/>
              </a:ext>
            </a:extLst>
          </p:cNvPr>
          <p:cNvSpPr/>
          <p:nvPr/>
        </p:nvSpPr>
        <p:spPr>
          <a:xfrm>
            <a:off x="8357448" y="4934302"/>
            <a:ext cx="317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chemeClr val="bg1"/>
                </a:solidFill>
                <a:latin typeface="Noto Sans SC"/>
                <a:ea typeface="Noto Sans SC"/>
                <a:cs typeface="Noto Sans SC"/>
                <a:sym typeface="Noto Sans SC"/>
              </a:rPr>
              <a:t>800 </a:t>
            </a:r>
            <a:r>
              <a:rPr lang="en-US" b="0" i="0" u="none" strike="noStrike" dirty="0">
                <a:solidFill>
                  <a:schemeClr val="bg1"/>
                </a:solidFill>
                <a:latin typeface="Noto Sans SC"/>
                <a:ea typeface="Noto Sans SC"/>
                <a:cs typeface="Noto Sans SC"/>
                <a:sym typeface="Noto Sans SC"/>
              </a:rPr>
              <a:t>元 / 份</a:t>
            </a:r>
            <a:endParaRPr lang="en-US" dirty="0">
              <a:solidFill>
                <a:schemeClr val="bg1"/>
              </a:solidFill>
            </a:endParaRPr>
          </a:p>
        </p:txBody>
      </p:sp>
      <p:sp>
        <p:nvSpPr>
          <p:cNvPr id="69" name="AutoShape 25">
            <a:extLst>
              <a:ext uri="{FF2B5EF4-FFF2-40B4-BE49-F238E27FC236}">
                <a16:creationId xmlns:a16="http://schemas.microsoft.com/office/drawing/2014/main" id="{88DAFD54-A2E4-1895-52E6-26A297EB2B76}"/>
              </a:ext>
            </a:extLst>
          </p:cNvPr>
          <p:cNvSpPr/>
          <p:nvPr/>
        </p:nvSpPr>
        <p:spPr>
          <a:xfrm>
            <a:off x="8357448" y="5470403"/>
            <a:ext cx="3046762" cy="50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dirty="0" err="1">
                <a:solidFill>
                  <a:schemeClr val="bg1"/>
                </a:solidFill>
                <a:latin typeface="Noto Sans SC"/>
                <a:ea typeface="Noto Sans SC"/>
                <a:cs typeface="Noto Sans SC"/>
                <a:sym typeface="Noto Sans SC"/>
              </a:rPr>
              <a:t>市场调研</a:t>
            </a:r>
            <a:r>
              <a:rPr lang="en-US" sz="1400" b="1" i="0" u="none" strike="noStrike" dirty="0">
                <a:solidFill>
                  <a:schemeClr val="bg1"/>
                </a:solidFill>
                <a:latin typeface="Noto Sans SC"/>
                <a:ea typeface="Noto Sans SC"/>
                <a:cs typeface="Noto Sans SC"/>
                <a:sym typeface="Noto Sans SC"/>
              </a:rPr>
              <a:t> / </a:t>
            </a:r>
            <a:r>
              <a:rPr lang="en-US" sz="1400" b="1" i="0" u="none" strike="noStrike" dirty="0" err="1">
                <a:solidFill>
                  <a:schemeClr val="bg1"/>
                </a:solidFill>
                <a:latin typeface="Noto Sans SC"/>
                <a:ea typeface="Noto Sans SC"/>
                <a:cs typeface="Noto Sans SC"/>
                <a:sym typeface="Noto Sans SC"/>
              </a:rPr>
              <a:t>法律查明</a:t>
            </a:r>
            <a:r>
              <a:rPr lang="en-US" sz="1400" b="0" i="0" u="none" strike="noStrike" dirty="0">
                <a:solidFill>
                  <a:schemeClr val="bg1"/>
                </a:solidFill>
                <a:latin typeface="Noto Sans SC"/>
                <a:ea typeface="Noto Sans SC"/>
                <a:cs typeface="Noto Sans SC"/>
                <a:sym typeface="Noto Sans SC"/>
              </a:rPr>
              <a:t>　</a:t>
            </a:r>
            <a:r>
              <a:rPr lang="en-US" sz="1400" b="0" i="0" u="none" strike="noStrike" dirty="0" err="1">
                <a:solidFill>
                  <a:schemeClr val="bg1"/>
                </a:solidFill>
                <a:latin typeface="Noto Sans SC"/>
                <a:ea typeface="Noto Sans SC"/>
                <a:cs typeface="Noto Sans SC"/>
                <a:sym typeface="Noto Sans SC"/>
              </a:rPr>
              <a:t>大型机构，高客单、深度合作</a:t>
            </a:r>
            <a:endParaRPr lang="en-US" sz="1400" dirty="0">
              <a:solidFill>
                <a:schemeClr val="bg1"/>
              </a:solidFill>
            </a:endParaRPr>
          </a:p>
        </p:txBody>
      </p:sp>
      <p:cxnSp>
        <p:nvCxnSpPr>
          <p:cNvPr id="70" name="Connector 26">
            <a:extLst>
              <a:ext uri="{FF2B5EF4-FFF2-40B4-BE49-F238E27FC236}">
                <a16:creationId xmlns:a16="http://schemas.microsoft.com/office/drawing/2014/main" id="{5FC1079B-C539-F27F-B677-76A4A708D672}"/>
              </a:ext>
            </a:extLst>
          </p:cNvPr>
          <p:cNvCxnSpPr/>
          <p:nvPr/>
        </p:nvCxnSpPr>
        <p:spPr>
          <a:xfrm rot="-4092">
            <a:off x="762000" y="6314735"/>
            <a:ext cx="10668000" cy="12700"/>
          </a:xfrm>
          <a:prstGeom prst="straightConnector1">
            <a:avLst/>
          </a:prstGeom>
          <a:ln w="38100">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71" name="Connector 26">
            <a:extLst>
              <a:ext uri="{FF2B5EF4-FFF2-40B4-BE49-F238E27FC236}">
                <a16:creationId xmlns:a16="http://schemas.microsoft.com/office/drawing/2014/main" id="{CAAA4278-367B-0388-A52D-88F70165A1E8}"/>
              </a:ext>
            </a:extLst>
          </p:cNvPr>
          <p:cNvCxnSpPr/>
          <p:nvPr/>
        </p:nvCxnSpPr>
        <p:spPr>
          <a:xfrm rot="-4092">
            <a:off x="735358" y="1727077"/>
            <a:ext cx="10668000" cy="12700"/>
          </a:xfrm>
          <a:prstGeom prst="straightConnector1">
            <a:avLst/>
          </a:prstGeom>
          <a:ln w="25400">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 name="直接连接符 2">
            <a:extLst>
              <a:ext uri="{FF2B5EF4-FFF2-40B4-BE49-F238E27FC236}">
                <a16:creationId xmlns:a16="http://schemas.microsoft.com/office/drawing/2014/main" id="{237FD3DD-BF53-D4BB-B570-453C428A9FF1}"/>
              </a:ext>
            </a:extLst>
          </p:cNvPr>
          <p:cNvCxnSpPr/>
          <p:nvPr/>
        </p:nvCxnSpPr>
        <p:spPr>
          <a:xfrm>
            <a:off x="1546261" y="6096000"/>
            <a:ext cx="2255765"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265CC684-2558-209D-7457-39500D9F7B13}"/>
              </a:ext>
            </a:extLst>
          </p:cNvPr>
          <p:cNvCxnSpPr/>
          <p:nvPr/>
        </p:nvCxnSpPr>
        <p:spPr>
          <a:xfrm>
            <a:off x="4518785" y="4988622"/>
            <a:ext cx="30066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24829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1F7C331C-B4B0-4247-BDD4-5B539A4FA3F9}"/>
              </a:ext>
            </a:extLst>
          </p:cNvPr>
          <p:cNvPicPr>
            <a:picLocks noChangeAspect="1"/>
          </p:cNvPicPr>
          <p:nvPr/>
        </p:nvPicPr>
        <p:blipFill>
          <a:blip r:embed="rId2"/>
          <a:stretch>
            <a:fillRect/>
          </a:stretch>
        </p:blipFill>
        <p:spPr>
          <a:xfrm>
            <a:off x="8632054" y="4574436"/>
            <a:ext cx="3559946" cy="2315693"/>
          </a:xfrm>
          <a:prstGeom prst="rect">
            <a:avLst/>
          </a:prstGeom>
        </p:spPr>
      </p:pic>
      <p:sp>
        <p:nvSpPr>
          <p:cNvPr id="17" name="矩形 16">
            <a:extLst>
              <a:ext uri="{FF2B5EF4-FFF2-40B4-BE49-F238E27FC236}">
                <a16:creationId xmlns:a16="http://schemas.microsoft.com/office/drawing/2014/main" id="{9B0217DE-09BE-451B-957F-811ED01AC1BF}"/>
              </a:ext>
            </a:extLst>
          </p:cNvPr>
          <p:cNvSpPr/>
          <p:nvPr/>
        </p:nvSpPr>
        <p:spPr>
          <a:xfrm>
            <a:off x="6210778" y="3408465"/>
            <a:ext cx="5591785" cy="1470982"/>
          </a:xfrm>
          <a:prstGeom prst="rect">
            <a:avLst/>
          </a:prstGeom>
          <a:noFill/>
          <a:ln w="38100">
            <a:solidFill>
              <a:srgbClr val="E438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D8FC77AD-0BCC-F9B8-0BEB-B81C80389D10}"/>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9" name="平行四边形 28">
            <a:extLst>
              <a:ext uri="{FF2B5EF4-FFF2-40B4-BE49-F238E27FC236}">
                <a16:creationId xmlns:a16="http://schemas.microsoft.com/office/drawing/2014/main" id="{35AD23F7-1896-8315-763A-2A25F0D6DCF9}"/>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平行四边形 30">
            <a:extLst>
              <a:ext uri="{FF2B5EF4-FFF2-40B4-BE49-F238E27FC236}">
                <a16:creationId xmlns:a16="http://schemas.microsoft.com/office/drawing/2014/main" id="{07B8A090-9576-AAAC-047E-53194BCD952C}"/>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BE4A4DF2-DC26-FA86-2787-2B32BA818687}"/>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财务分析</a:t>
            </a:r>
            <a:endParaRPr lang="en-US" altLang="zh-CN" sz="3600" dirty="0"/>
          </a:p>
        </p:txBody>
      </p:sp>
      <p:pic>
        <p:nvPicPr>
          <p:cNvPr id="35" name="图片 34">
            <a:extLst>
              <a:ext uri="{FF2B5EF4-FFF2-40B4-BE49-F238E27FC236}">
                <a16:creationId xmlns:a16="http://schemas.microsoft.com/office/drawing/2014/main" id="{30889B09-887C-C2C9-1282-CE6073562389}"/>
              </a:ext>
            </a:extLst>
          </p:cNvPr>
          <p:cNvPicPr>
            <a:picLocks noChangeAspect="1"/>
          </p:cNvPicPr>
          <p:nvPr/>
        </p:nvPicPr>
        <p:blipFill>
          <a:blip r:embed="rId3">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2" name="AutoShape 4">
            <a:extLst>
              <a:ext uri="{FF2B5EF4-FFF2-40B4-BE49-F238E27FC236}">
                <a16:creationId xmlns:a16="http://schemas.microsoft.com/office/drawing/2014/main" id="{41AB6583-FC33-4DDC-81A5-1302C189DBEE}"/>
              </a:ext>
            </a:extLst>
          </p:cNvPr>
          <p:cNvSpPr/>
          <p:nvPr/>
        </p:nvSpPr>
        <p:spPr>
          <a:xfrm>
            <a:off x="598000" y="1197513"/>
            <a:ext cx="925195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000" b="1" i="0" u="none" strike="noStrike" dirty="0">
                <a:latin typeface="Noto Serif SC"/>
                <a:ea typeface="Noto Serif SC"/>
                <a:cs typeface="Noto Serif SC"/>
                <a:sym typeface="Noto Serif SC"/>
              </a:rPr>
              <a:t>预计</a:t>
            </a:r>
            <a:r>
              <a:rPr lang="en-US" sz="3000" b="1" i="0" u="none" strike="noStrike" dirty="0" err="1">
                <a:latin typeface="Noto Serif SC"/>
                <a:ea typeface="Noto Serif SC"/>
                <a:cs typeface="Noto Serif SC"/>
                <a:sym typeface="Noto Serif SC"/>
              </a:rPr>
              <a:t>三年收入复合增长约</a:t>
            </a:r>
            <a:r>
              <a:rPr lang="en-US" sz="3000" b="1" i="0" u="none" strike="noStrike" dirty="0">
                <a:latin typeface="Noto Serif SC"/>
                <a:ea typeface="Noto Serif SC"/>
                <a:cs typeface="Noto Serif SC"/>
                <a:sym typeface="Noto Serif SC"/>
              </a:rPr>
              <a:t> 182%，约 1 </a:t>
            </a:r>
            <a:r>
              <a:rPr lang="en-US" sz="3000" b="1" i="0" u="none" strike="noStrike" dirty="0" err="1">
                <a:latin typeface="Noto Serif SC"/>
                <a:ea typeface="Noto Serif SC"/>
                <a:cs typeface="Noto Serif SC"/>
                <a:sym typeface="Noto Serif SC"/>
              </a:rPr>
              <a:t>年收回初始投资</a:t>
            </a:r>
            <a:endParaRPr lang="en-US" sz="1100" dirty="0"/>
          </a:p>
        </p:txBody>
      </p:sp>
      <p:sp>
        <p:nvSpPr>
          <p:cNvPr id="3" name="AutoShape 5">
            <a:extLst>
              <a:ext uri="{FF2B5EF4-FFF2-40B4-BE49-F238E27FC236}">
                <a16:creationId xmlns:a16="http://schemas.microsoft.com/office/drawing/2014/main" id="{5E6A1957-48CA-B279-D08D-67479ED4CC5A}"/>
              </a:ext>
            </a:extLst>
          </p:cNvPr>
          <p:cNvSpPr/>
          <p:nvPr/>
        </p:nvSpPr>
        <p:spPr>
          <a:xfrm>
            <a:off x="603773" y="1884831"/>
            <a:ext cx="7245350" cy="27756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C00000"/>
                </a:solidFill>
                <a:latin typeface="Noto Sans SC"/>
                <a:ea typeface="Noto Sans SC"/>
                <a:cs typeface="Noto Sans SC"/>
                <a:sym typeface="Noto Sans SC"/>
              </a:rPr>
              <a:t>初始投资仅</a:t>
            </a:r>
            <a:r>
              <a:rPr lang="en-US" sz="1600" b="1" i="0" u="none" strike="noStrike" dirty="0">
                <a:solidFill>
                  <a:srgbClr val="C00000"/>
                </a:solidFill>
                <a:latin typeface="Noto Sans SC"/>
                <a:ea typeface="Noto Sans SC"/>
                <a:cs typeface="Noto Sans SC"/>
                <a:sym typeface="Noto Sans SC"/>
              </a:rPr>
              <a:t> 10 </a:t>
            </a:r>
            <a:r>
              <a:rPr lang="en-US" sz="1600" b="1" i="0" u="none" strike="noStrike" dirty="0" err="1">
                <a:solidFill>
                  <a:srgbClr val="C00000"/>
                </a:solidFill>
                <a:latin typeface="Noto Sans SC"/>
                <a:ea typeface="Noto Sans SC"/>
                <a:cs typeface="Noto Sans SC"/>
                <a:sym typeface="Noto Sans SC"/>
              </a:rPr>
              <a:t>万元、零有息负债；轻资产、无雇佣人力，规模效应逐年释放</a:t>
            </a:r>
            <a:endParaRPr lang="en-US" sz="1200" b="1" dirty="0">
              <a:solidFill>
                <a:srgbClr val="C00000"/>
              </a:solidFill>
            </a:endParaRPr>
          </a:p>
        </p:txBody>
      </p:sp>
      <p:sp>
        <p:nvSpPr>
          <p:cNvPr id="5" name="AutoShape 7">
            <a:extLst>
              <a:ext uri="{FF2B5EF4-FFF2-40B4-BE49-F238E27FC236}">
                <a16:creationId xmlns:a16="http://schemas.microsoft.com/office/drawing/2014/main" id="{58EECA51-2F27-04D3-0E0E-02DB1A4436EC}"/>
              </a:ext>
            </a:extLst>
          </p:cNvPr>
          <p:cNvSpPr/>
          <p:nvPr/>
        </p:nvSpPr>
        <p:spPr>
          <a:xfrm>
            <a:off x="911829" y="2337280"/>
            <a:ext cx="19558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dirty="0">
                <a:solidFill>
                  <a:srgbClr val="C00000"/>
                </a:solidFill>
                <a:latin typeface="Noto Sans SC"/>
                <a:ea typeface="Noto Sans SC"/>
                <a:cs typeface="Noto Sans SC"/>
                <a:sym typeface="Noto Sans SC"/>
              </a:rPr>
              <a:t>+143.24</a:t>
            </a:r>
            <a:r>
              <a:rPr lang="en-US" sz="1300" b="0" i="0" u="none" strike="noStrike" dirty="0">
                <a:solidFill>
                  <a:srgbClr val="C00000"/>
                </a:solidFill>
                <a:latin typeface="Noto Sans SC"/>
                <a:ea typeface="Noto Sans SC"/>
                <a:cs typeface="Noto Sans SC"/>
                <a:sym typeface="Noto Sans SC"/>
              </a:rPr>
              <a:t> </a:t>
            </a:r>
            <a:r>
              <a:rPr lang="en-US" sz="1300" b="0" i="0" u="none" strike="noStrike" dirty="0" err="1">
                <a:solidFill>
                  <a:srgbClr val="C00000"/>
                </a:solidFill>
                <a:latin typeface="Noto Sans SC"/>
                <a:ea typeface="Noto Sans SC"/>
                <a:cs typeface="Noto Sans SC"/>
                <a:sym typeface="Noto Sans SC"/>
              </a:rPr>
              <a:t>万元</a:t>
            </a:r>
            <a:endParaRPr lang="en-US" sz="1100" dirty="0">
              <a:solidFill>
                <a:srgbClr val="C00000"/>
              </a:solidFill>
            </a:endParaRPr>
          </a:p>
        </p:txBody>
      </p:sp>
      <p:sp>
        <p:nvSpPr>
          <p:cNvPr id="6" name="AutoShape 8">
            <a:extLst>
              <a:ext uri="{FF2B5EF4-FFF2-40B4-BE49-F238E27FC236}">
                <a16:creationId xmlns:a16="http://schemas.microsoft.com/office/drawing/2014/main" id="{70C1791A-D1EC-3053-B696-77D414EAB66E}"/>
              </a:ext>
            </a:extLst>
          </p:cNvPr>
          <p:cNvSpPr/>
          <p:nvPr/>
        </p:nvSpPr>
        <p:spPr>
          <a:xfrm>
            <a:off x="911829" y="2875718"/>
            <a:ext cx="1905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latin typeface="Noto Sans SC"/>
                <a:ea typeface="Noto Sans SC"/>
                <a:cs typeface="Noto Sans SC"/>
                <a:sym typeface="Noto Sans SC"/>
              </a:rPr>
              <a:t>NPV </a:t>
            </a:r>
            <a:r>
              <a:rPr lang="en-US" sz="1200" b="0" i="0" u="none" strike="noStrike" dirty="0" err="1">
                <a:latin typeface="Noto Sans SC"/>
                <a:ea typeface="Noto Sans SC"/>
                <a:cs typeface="Noto Sans SC"/>
                <a:sym typeface="Noto Sans SC"/>
              </a:rPr>
              <a:t>净现值（折现率</a:t>
            </a:r>
            <a:r>
              <a:rPr lang="en-US" sz="1200" b="0" i="0" u="none" strike="noStrike" dirty="0">
                <a:latin typeface="Noto Sans SC"/>
                <a:ea typeface="Noto Sans SC"/>
                <a:cs typeface="Noto Sans SC"/>
                <a:sym typeface="Noto Sans SC"/>
              </a:rPr>
              <a:t> 10%）</a:t>
            </a:r>
            <a:endParaRPr lang="en-US" sz="1600" dirty="0"/>
          </a:p>
        </p:txBody>
      </p:sp>
      <p:sp>
        <p:nvSpPr>
          <p:cNvPr id="7" name="AutoShape 9">
            <a:extLst>
              <a:ext uri="{FF2B5EF4-FFF2-40B4-BE49-F238E27FC236}">
                <a16:creationId xmlns:a16="http://schemas.microsoft.com/office/drawing/2014/main" id="{2DA25267-9AF2-C33F-7C66-3EAF55A903FD}"/>
              </a:ext>
            </a:extLst>
          </p:cNvPr>
          <p:cNvSpPr/>
          <p:nvPr/>
        </p:nvSpPr>
        <p:spPr>
          <a:xfrm>
            <a:off x="4103054" y="2355070"/>
            <a:ext cx="144145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dirty="0">
                <a:latin typeface="Noto Sans SC"/>
                <a:ea typeface="Noto Sans SC"/>
                <a:cs typeface="Noto Sans SC"/>
                <a:sym typeface="Noto Sans SC"/>
              </a:rPr>
              <a:t>≈257</a:t>
            </a:r>
            <a:r>
              <a:rPr lang="en-US" sz="1300" b="0" i="0" u="none" strike="noStrike" dirty="0">
                <a:latin typeface="Noto Sans SC"/>
                <a:ea typeface="Noto Sans SC"/>
                <a:cs typeface="Noto Sans SC"/>
                <a:sym typeface="Noto Sans SC"/>
              </a:rPr>
              <a:t>%</a:t>
            </a:r>
            <a:endParaRPr lang="en-US" sz="1100" dirty="0"/>
          </a:p>
        </p:txBody>
      </p:sp>
      <p:sp>
        <p:nvSpPr>
          <p:cNvPr id="8" name="AutoShape 10">
            <a:extLst>
              <a:ext uri="{FF2B5EF4-FFF2-40B4-BE49-F238E27FC236}">
                <a16:creationId xmlns:a16="http://schemas.microsoft.com/office/drawing/2014/main" id="{E3F9CE03-47E6-D780-1072-CE558F96FA58}"/>
              </a:ext>
            </a:extLst>
          </p:cNvPr>
          <p:cNvSpPr/>
          <p:nvPr/>
        </p:nvSpPr>
        <p:spPr>
          <a:xfrm>
            <a:off x="4163700" y="2869184"/>
            <a:ext cx="11176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latin typeface="Noto Sans SC"/>
                <a:ea typeface="Noto Sans SC"/>
                <a:cs typeface="Noto Sans SC"/>
                <a:sym typeface="Noto Sans SC"/>
              </a:rPr>
              <a:t>IRR </a:t>
            </a:r>
            <a:r>
              <a:rPr lang="en-US" sz="1200" b="0" i="0" u="none" strike="noStrike" dirty="0" err="1">
                <a:latin typeface="Noto Sans SC"/>
                <a:ea typeface="Noto Sans SC"/>
                <a:cs typeface="Noto Sans SC"/>
                <a:sym typeface="Noto Sans SC"/>
              </a:rPr>
              <a:t>内部收益率</a:t>
            </a:r>
            <a:endParaRPr lang="en-US" sz="1600" dirty="0"/>
          </a:p>
        </p:txBody>
      </p:sp>
      <p:sp>
        <p:nvSpPr>
          <p:cNvPr id="9" name="AutoShape 11">
            <a:extLst>
              <a:ext uri="{FF2B5EF4-FFF2-40B4-BE49-F238E27FC236}">
                <a16:creationId xmlns:a16="http://schemas.microsoft.com/office/drawing/2014/main" id="{9A5AFE84-E131-6146-B149-E35C07C23E85}"/>
              </a:ext>
            </a:extLst>
          </p:cNvPr>
          <p:cNvSpPr/>
          <p:nvPr/>
        </p:nvSpPr>
        <p:spPr>
          <a:xfrm>
            <a:off x="6568875" y="2341089"/>
            <a:ext cx="1508341"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dirty="0">
                <a:latin typeface="Noto Sans SC"/>
                <a:ea typeface="Noto Sans SC"/>
                <a:cs typeface="Noto Sans SC"/>
                <a:sym typeface="Noto Sans SC"/>
              </a:rPr>
              <a:t>≈1.02</a:t>
            </a:r>
            <a:r>
              <a:rPr lang="en-US" sz="1300" b="0" i="0" u="none" strike="noStrike" dirty="0">
                <a:latin typeface="Noto Sans SC"/>
                <a:ea typeface="Noto Sans SC"/>
                <a:cs typeface="Noto Sans SC"/>
                <a:sym typeface="Noto Sans SC"/>
              </a:rPr>
              <a:t> 年</a:t>
            </a:r>
            <a:endParaRPr lang="en-US" sz="1100" dirty="0"/>
          </a:p>
        </p:txBody>
      </p:sp>
      <p:sp>
        <p:nvSpPr>
          <p:cNvPr id="10" name="AutoShape 12">
            <a:extLst>
              <a:ext uri="{FF2B5EF4-FFF2-40B4-BE49-F238E27FC236}">
                <a16:creationId xmlns:a16="http://schemas.microsoft.com/office/drawing/2014/main" id="{0071AC3D-13AD-FB64-387C-51ABD950DD41}"/>
              </a:ext>
            </a:extLst>
          </p:cNvPr>
          <p:cNvSpPr/>
          <p:nvPr/>
        </p:nvSpPr>
        <p:spPr>
          <a:xfrm>
            <a:off x="6623066" y="2874281"/>
            <a:ext cx="12446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latin typeface="Noto Sans SC"/>
                <a:ea typeface="Noto Sans SC"/>
                <a:cs typeface="Noto Sans SC"/>
                <a:sym typeface="Noto Sans SC"/>
              </a:rPr>
              <a:t>静态投资回收期</a:t>
            </a:r>
            <a:endParaRPr lang="en-US" sz="1600" dirty="0"/>
          </a:p>
        </p:txBody>
      </p:sp>
      <p:sp>
        <p:nvSpPr>
          <p:cNvPr id="11" name="AutoShape 13">
            <a:extLst>
              <a:ext uri="{FF2B5EF4-FFF2-40B4-BE49-F238E27FC236}">
                <a16:creationId xmlns:a16="http://schemas.microsoft.com/office/drawing/2014/main" id="{159D9674-CD7D-10FC-F52F-4E4CEB351390}"/>
              </a:ext>
            </a:extLst>
          </p:cNvPr>
          <p:cNvSpPr/>
          <p:nvPr/>
        </p:nvSpPr>
        <p:spPr>
          <a:xfrm>
            <a:off x="9373287" y="2351465"/>
            <a:ext cx="1552359"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dirty="0">
                <a:latin typeface="Noto Sans SC"/>
                <a:ea typeface="Noto Sans SC"/>
                <a:cs typeface="Noto Sans SC"/>
                <a:sym typeface="Noto Sans SC"/>
              </a:rPr>
              <a:t>196.1</a:t>
            </a:r>
            <a:r>
              <a:rPr lang="en-US" sz="1300" b="0" i="0" u="none" strike="noStrike" dirty="0">
                <a:latin typeface="Noto Sans SC"/>
                <a:ea typeface="Noto Sans SC"/>
                <a:cs typeface="Noto Sans SC"/>
                <a:sym typeface="Noto Sans SC"/>
              </a:rPr>
              <a:t> </a:t>
            </a:r>
            <a:r>
              <a:rPr lang="en-US" sz="1300" b="0" i="0" u="none" strike="noStrike" dirty="0" err="1">
                <a:latin typeface="Noto Sans SC"/>
                <a:ea typeface="Noto Sans SC"/>
                <a:cs typeface="Noto Sans SC"/>
                <a:sym typeface="Noto Sans SC"/>
              </a:rPr>
              <a:t>万元</a:t>
            </a:r>
            <a:endParaRPr lang="en-US" sz="1100" dirty="0"/>
          </a:p>
        </p:txBody>
      </p:sp>
      <p:sp>
        <p:nvSpPr>
          <p:cNvPr id="12" name="AutoShape 14">
            <a:extLst>
              <a:ext uri="{FF2B5EF4-FFF2-40B4-BE49-F238E27FC236}">
                <a16:creationId xmlns:a16="http://schemas.microsoft.com/office/drawing/2014/main" id="{4E443035-91E2-8C0D-5357-F22BC6EF453B}"/>
              </a:ext>
            </a:extLst>
          </p:cNvPr>
          <p:cNvSpPr/>
          <p:nvPr/>
        </p:nvSpPr>
        <p:spPr>
          <a:xfrm>
            <a:off x="9373287" y="2935665"/>
            <a:ext cx="1476159"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latin typeface="Noto Sans SC"/>
                <a:ea typeface="Noto Sans SC"/>
                <a:cs typeface="Noto Sans SC"/>
                <a:sym typeface="Noto Sans SC"/>
              </a:rPr>
              <a:t>三年累计净利润</a:t>
            </a:r>
            <a:endParaRPr lang="en-US" sz="1600" dirty="0"/>
          </a:p>
        </p:txBody>
      </p:sp>
      <p:sp>
        <p:nvSpPr>
          <p:cNvPr id="14" name="AutoShape 16">
            <a:extLst>
              <a:ext uri="{FF2B5EF4-FFF2-40B4-BE49-F238E27FC236}">
                <a16:creationId xmlns:a16="http://schemas.microsoft.com/office/drawing/2014/main" id="{DC7CE6D7-B656-5F8E-F1B1-7CA92A00EDAD}"/>
              </a:ext>
            </a:extLst>
          </p:cNvPr>
          <p:cNvSpPr/>
          <p:nvPr/>
        </p:nvSpPr>
        <p:spPr>
          <a:xfrm>
            <a:off x="629824" y="3498987"/>
            <a:ext cx="330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latin typeface="Noto Sans SC"/>
                <a:ea typeface="Noto Sans SC"/>
                <a:cs typeface="Noto Sans SC"/>
                <a:sym typeface="Noto Sans SC"/>
              </a:rPr>
              <a:t>营业收入与净利润（万元</a:t>
            </a:r>
            <a:r>
              <a:rPr lang="en-US" sz="1600" b="1" i="0" u="none" strike="noStrike" dirty="0">
                <a:latin typeface="Noto Sans SC"/>
                <a:ea typeface="Noto Sans SC"/>
                <a:cs typeface="Noto Sans SC"/>
                <a:sym typeface="Noto Sans SC"/>
              </a:rPr>
              <a:t>）</a:t>
            </a:r>
            <a:endParaRPr lang="en-US" sz="1400" dirty="0"/>
          </a:p>
        </p:txBody>
      </p:sp>
      <p:sp>
        <p:nvSpPr>
          <p:cNvPr id="15" name="AutoShape 17">
            <a:extLst>
              <a:ext uri="{FF2B5EF4-FFF2-40B4-BE49-F238E27FC236}">
                <a16:creationId xmlns:a16="http://schemas.microsoft.com/office/drawing/2014/main" id="{77BF74C7-EDE4-3F2E-1D2F-86861FEDB7E3}"/>
              </a:ext>
            </a:extLst>
          </p:cNvPr>
          <p:cNvSpPr/>
          <p:nvPr/>
        </p:nvSpPr>
        <p:spPr>
          <a:xfrm>
            <a:off x="3870001" y="3566028"/>
            <a:ext cx="127000" cy="127000"/>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endParaRPr sz="2000"/>
          </a:p>
        </p:txBody>
      </p:sp>
      <p:sp>
        <p:nvSpPr>
          <p:cNvPr id="18" name="AutoShape 18">
            <a:extLst>
              <a:ext uri="{FF2B5EF4-FFF2-40B4-BE49-F238E27FC236}">
                <a16:creationId xmlns:a16="http://schemas.microsoft.com/office/drawing/2014/main" id="{C3A0A61B-1DC9-171A-E2DA-455D4C7FF202}"/>
              </a:ext>
            </a:extLst>
          </p:cNvPr>
          <p:cNvSpPr/>
          <p:nvPr/>
        </p:nvSpPr>
        <p:spPr>
          <a:xfrm>
            <a:off x="4047801" y="3515228"/>
            <a:ext cx="762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err="1">
                <a:latin typeface="Noto Sans SC"/>
                <a:ea typeface="Noto Sans SC"/>
                <a:cs typeface="Noto Sans SC"/>
                <a:sym typeface="Noto Sans SC"/>
              </a:rPr>
              <a:t>营业收入</a:t>
            </a:r>
            <a:endParaRPr lang="en-US" sz="1400" dirty="0"/>
          </a:p>
        </p:txBody>
      </p:sp>
      <p:sp>
        <p:nvSpPr>
          <p:cNvPr id="19" name="AutoShape 19">
            <a:extLst>
              <a:ext uri="{FF2B5EF4-FFF2-40B4-BE49-F238E27FC236}">
                <a16:creationId xmlns:a16="http://schemas.microsoft.com/office/drawing/2014/main" id="{549795A2-4A8F-F3B4-2734-E828993C34B8}"/>
              </a:ext>
            </a:extLst>
          </p:cNvPr>
          <p:cNvSpPr/>
          <p:nvPr/>
        </p:nvSpPr>
        <p:spPr>
          <a:xfrm>
            <a:off x="4962201" y="3566028"/>
            <a:ext cx="127000" cy="127000"/>
          </a:xfrm>
          <a:prstGeom prst="roundRect">
            <a:avLst>
              <a:gd name="adj" fmla="val 0"/>
            </a:avLst>
          </a:prstGeom>
          <a:solidFill>
            <a:schemeClr val="tx1"/>
          </a:solidFill>
          <a:ln w="25400" cap="flat" cmpd="sng">
            <a:noFill/>
            <a:prstDash val="solid"/>
            <a:round/>
          </a:ln>
        </p:spPr>
        <p:txBody>
          <a:bodyPr vert="horz" wrap="square" lIns="63500" tIns="63500" rIns="63500" bIns="63500" rtlCol="0" anchor="ctr"/>
          <a:lstStyle/>
          <a:p>
            <a:pPr algn="ctr">
              <a:defRPr/>
            </a:pPr>
            <a:endParaRPr sz="2000"/>
          </a:p>
        </p:txBody>
      </p:sp>
      <p:sp>
        <p:nvSpPr>
          <p:cNvPr id="20" name="AutoShape 20">
            <a:extLst>
              <a:ext uri="{FF2B5EF4-FFF2-40B4-BE49-F238E27FC236}">
                <a16:creationId xmlns:a16="http://schemas.microsoft.com/office/drawing/2014/main" id="{96CDE779-5A06-4722-BEB4-A57F273E2401}"/>
              </a:ext>
            </a:extLst>
          </p:cNvPr>
          <p:cNvSpPr/>
          <p:nvPr/>
        </p:nvSpPr>
        <p:spPr>
          <a:xfrm>
            <a:off x="5140001" y="3515228"/>
            <a:ext cx="762000" cy="228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err="1">
                <a:latin typeface="Noto Sans SC"/>
                <a:ea typeface="Noto Sans SC"/>
                <a:cs typeface="Noto Sans SC"/>
                <a:sym typeface="Noto Sans SC"/>
              </a:rPr>
              <a:t>净利润</a:t>
            </a:r>
            <a:endParaRPr lang="en-US" sz="1400" dirty="0"/>
          </a:p>
        </p:txBody>
      </p:sp>
      <p:sp>
        <p:nvSpPr>
          <p:cNvPr id="22" name="AutoShape 22">
            <a:extLst>
              <a:ext uri="{FF2B5EF4-FFF2-40B4-BE49-F238E27FC236}">
                <a16:creationId xmlns:a16="http://schemas.microsoft.com/office/drawing/2014/main" id="{ECA6DC31-BB65-E37D-37F9-97561EC1332A}"/>
              </a:ext>
            </a:extLst>
          </p:cNvPr>
          <p:cNvSpPr/>
          <p:nvPr/>
        </p:nvSpPr>
        <p:spPr>
          <a:xfrm>
            <a:off x="661500" y="5905100"/>
            <a:ext cx="698500" cy="193040"/>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a:extLst>
              <a:ext uri="{FF2B5EF4-FFF2-40B4-BE49-F238E27FC236}">
                <a16:creationId xmlns:a16="http://schemas.microsoft.com/office/drawing/2014/main" id="{3B3669B2-F8E1-3927-AAD6-C332BB4C13C2}"/>
              </a:ext>
            </a:extLst>
          </p:cNvPr>
          <p:cNvSpPr/>
          <p:nvPr/>
        </p:nvSpPr>
        <p:spPr>
          <a:xfrm>
            <a:off x="1423500" y="6074010"/>
            <a:ext cx="698500" cy="36830"/>
          </a:xfrm>
          <a:prstGeom prst="roundRect">
            <a:avLst>
              <a:gd name="adj" fmla="val 0"/>
            </a:avLst>
          </a:prstGeom>
          <a:solidFill>
            <a:schemeClr val="tx1"/>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4">
            <a:extLst>
              <a:ext uri="{FF2B5EF4-FFF2-40B4-BE49-F238E27FC236}">
                <a16:creationId xmlns:a16="http://schemas.microsoft.com/office/drawing/2014/main" id="{6716BA3E-0943-29C8-704D-A884B1769150}"/>
              </a:ext>
            </a:extLst>
          </p:cNvPr>
          <p:cNvSpPr/>
          <p:nvPr/>
        </p:nvSpPr>
        <p:spPr>
          <a:xfrm>
            <a:off x="598000" y="5615540"/>
            <a:ext cx="825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a:solidFill>
                  <a:srgbClr val="C00000"/>
                </a:solidFill>
                <a:latin typeface="Noto Sans SC"/>
                <a:ea typeface="Noto Sans SC"/>
                <a:cs typeface="Noto Sans SC"/>
                <a:sym typeface="Noto Sans SC"/>
              </a:rPr>
              <a:t>27.8</a:t>
            </a:r>
            <a:endParaRPr lang="en-US" sz="2000" dirty="0">
              <a:solidFill>
                <a:srgbClr val="C00000"/>
              </a:solidFill>
            </a:endParaRPr>
          </a:p>
        </p:txBody>
      </p:sp>
      <p:sp>
        <p:nvSpPr>
          <p:cNvPr id="27" name="AutoShape 25">
            <a:extLst>
              <a:ext uri="{FF2B5EF4-FFF2-40B4-BE49-F238E27FC236}">
                <a16:creationId xmlns:a16="http://schemas.microsoft.com/office/drawing/2014/main" id="{23A1DD7D-EA08-5CAE-8355-644807F64265}"/>
              </a:ext>
            </a:extLst>
          </p:cNvPr>
          <p:cNvSpPr/>
          <p:nvPr/>
        </p:nvSpPr>
        <p:spPr>
          <a:xfrm>
            <a:off x="1360000" y="5844140"/>
            <a:ext cx="825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latin typeface="Noto Sans SC"/>
                <a:ea typeface="Noto Sans SC"/>
                <a:cs typeface="Noto Sans SC"/>
                <a:sym typeface="Noto Sans SC"/>
              </a:rPr>
              <a:t>9.1</a:t>
            </a:r>
            <a:endParaRPr lang="en-US" dirty="0"/>
          </a:p>
        </p:txBody>
      </p:sp>
      <p:sp>
        <p:nvSpPr>
          <p:cNvPr id="28" name="AutoShape 26">
            <a:extLst>
              <a:ext uri="{FF2B5EF4-FFF2-40B4-BE49-F238E27FC236}">
                <a16:creationId xmlns:a16="http://schemas.microsoft.com/office/drawing/2014/main" id="{18C2AA7F-6875-FE96-AC3C-04197D2E4F74}"/>
              </a:ext>
            </a:extLst>
          </p:cNvPr>
          <p:cNvSpPr/>
          <p:nvPr/>
        </p:nvSpPr>
        <p:spPr>
          <a:xfrm>
            <a:off x="661500" y="6174340"/>
            <a:ext cx="1460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latin typeface="Noto Sans SC"/>
                <a:ea typeface="Noto Sans SC"/>
                <a:cs typeface="Noto Sans SC"/>
                <a:sym typeface="Noto Sans SC"/>
              </a:rPr>
              <a:t>第一年</a:t>
            </a:r>
            <a:endParaRPr lang="en-US" dirty="0"/>
          </a:p>
        </p:txBody>
      </p:sp>
      <p:sp>
        <p:nvSpPr>
          <p:cNvPr id="30" name="AutoShape 27">
            <a:extLst>
              <a:ext uri="{FF2B5EF4-FFF2-40B4-BE49-F238E27FC236}">
                <a16:creationId xmlns:a16="http://schemas.microsoft.com/office/drawing/2014/main" id="{DA5B6968-9A1E-7DF6-8437-1BCAFF3B3C2A}"/>
              </a:ext>
            </a:extLst>
          </p:cNvPr>
          <p:cNvSpPr/>
          <p:nvPr/>
        </p:nvSpPr>
        <p:spPr>
          <a:xfrm>
            <a:off x="2484107" y="5218213"/>
            <a:ext cx="698500" cy="883920"/>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8">
            <a:extLst>
              <a:ext uri="{FF2B5EF4-FFF2-40B4-BE49-F238E27FC236}">
                <a16:creationId xmlns:a16="http://schemas.microsoft.com/office/drawing/2014/main" id="{2B31D401-4724-8B92-97DE-C9286C240069}"/>
              </a:ext>
            </a:extLst>
          </p:cNvPr>
          <p:cNvSpPr/>
          <p:nvPr/>
        </p:nvSpPr>
        <p:spPr>
          <a:xfrm>
            <a:off x="3246107" y="5686843"/>
            <a:ext cx="698500" cy="440690"/>
          </a:xfrm>
          <a:prstGeom prst="roundRect">
            <a:avLst>
              <a:gd name="adj" fmla="val 0"/>
            </a:avLst>
          </a:prstGeom>
          <a:solidFill>
            <a:schemeClr val="tx1"/>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29">
            <a:extLst>
              <a:ext uri="{FF2B5EF4-FFF2-40B4-BE49-F238E27FC236}">
                <a16:creationId xmlns:a16="http://schemas.microsoft.com/office/drawing/2014/main" id="{AFB55A87-27B8-6BFB-703B-2361C6194DA8}"/>
              </a:ext>
            </a:extLst>
          </p:cNvPr>
          <p:cNvSpPr/>
          <p:nvPr/>
        </p:nvSpPr>
        <p:spPr>
          <a:xfrm>
            <a:off x="2420607" y="4959133"/>
            <a:ext cx="825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solidFill>
                  <a:srgbClr val="C00000"/>
                </a:solidFill>
                <a:latin typeface="Noto Sans SC"/>
                <a:ea typeface="Noto Sans SC"/>
                <a:cs typeface="Noto Sans SC"/>
                <a:sym typeface="Noto Sans SC"/>
              </a:rPr>
              <a:t>111.3</a:t>
            </a:r>
            <a:endParaRPr lang="en-US" dirty="0">
              <a:solidFill>
                <a:srgbClr val="C00000"/>
              </a:solidFill>
            </a:endParaRPr>
          </a:p>
        </p:txBody>
      </p:sp>
      <p:sp>
        <p:nvSpPr>
          <p:cNvPr id="36" name="AutoShape 30">
            <a:extLst>
              <a:ext uri="{FF2B5EF4-FFF2-40B4-BE49-F238E27FC236}">
                <a16:creationId xmlns:a16="http://schemas.microsoft.com/office/drawing/2014/main" id="{B3CE1E06-B466-B062-8EA3-67467C08F17D}"/>
              </a:ext>
            </a:extLst>
          </p:cNvPr>
          <p:cNvSpPr/>
          <p:nvPr/>
        </p:nvSpPr>
        <p:spPr>
          <a:xfrm>
            <a:off x="3182607" y="5416333"/>
            <a:ext cx="825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latin typeface="Noto Sans SC"/>
                <a:ea typeface="Noto Sans SC"/>
                <a:cs typeface="Noto Sans SC"/>
                <a:sym typeface="Noto Sans SC"/>
              </a:rPr>
              <a:t>59.3</a:t>
            </a:r>
            <a:endParaRPr lang="en-US" dirty="0"/>
          </a:p>
        </p:txBody>
      </p:sp>
      <p:sp>
        <p:nvSpPr>
          <p:cNvPr id="37" name="AutoShape 31">
            <a:extLst>
              <a:ext uri="{FF2B5EF4-FFF2-40B4-BE49-F238E27FC236}">
                <a16:creationId xmlns:a16="http://schemas.microsoft.com/office/drawing/2014/main" id="{094D3658-2645-BB0D-399D-79D4A5C065F8}"/>
              </a:ext>
            </a:extLst>
          </p:cNvPr>
          <p:cNvSpPr/>
          <p:nvPr/>
        </p:nvSpPr>
        <p:spPr>
          <a:xfrm>
            <a:off x="2484107" y="6178333"/>
            <a:ext cx="1460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latin typeface="Noto Sans SC"/>
                <a:ea typeface="Noto Sans SC"/>
                <a:cs typeface="Noto Sans SC"/>
                <a:sym typeface="Noto Sans SC"/>
              </a:rPr>
              <a:t>第二年</a:t>
            </a:r>
            <a:endParaRPr lang="en-US" dirty="0"/>
          </a:p>
        </p:txBody>
      </p:sp>
      <p:sp>
        <p:nvSpPr>
          <p:cNvPr id="38" name="AutoShape 32">
            <a:extLst>
              <a:ext uri="{FF2B5EF4-FFF2-40B4-BE49-F238E27FC236}">
                <a16:creationId xmlns:a16="http://schemas.microsoft.com/office/drawing/2014/main" id="{E29AE1FD-A5EA-EFA5-1E80-E5C4DF65121F}"/>
              </a:ext>
            </a:extLst>
          </p:cNvPr>
          <p:cNvSpPr/>
          <p:nvPr/>
        </p:nvSpPr>
        <p:spPr>
          <a:xfrm>
            <a:off x="4306714" y="4312068"/>
            <a:ext cx="698500" cy="1788160"/>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3">
            <a:extLst>
              <a:ext uri="{FF2B5EF4-FFF2-40B4-BE49-F238E27FC236}">
                <a16:creationId xmlns:a16="http://schemas.microsoft.com/office/drawing/2014/main" id="{E6C995AB-9421-4EC6-EE02-CCAF0B9BB05E}"/>
              </a:ext>
            </a:extLst>
          </p:cNvPr>
          <p:cNvSpPr/>
          <p:nvPr/>
        </p:nvSpPr>
        <p:spPr>
          <a:xfrm>
            <a:off x="5068714" y="5105818"/>
            <a:ext cx="698500" cy="1019810"/>
          </a:xfrm>
          <a:prstGeom prst="roundRect">
            <a:avLst>
              <a:gd name="adj" fmla="val 0"/>
            </a:avLst>
          </a:prstGeom>
          <a:solidFill>
            <a:schemeClr val="tx1"/>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34">
            <a:extLst>
              <a:ext uri="{FF2B5EF4-FFF2-40B4-BE49-F238E27FC236}">
                <a16:creationId xmlns:a16="http://schemas.microsoft.com/office/drawing/2014/main" id="{C5A74D2B-62C3-D9C5-4FE2-C524FA4BD3A5}"/>
              </a:ext>
            </a:extLst>
          </p:cNvPr>
          <p:cNvSpPr/>
          <p:nvPr/>
        </p:nvSpPr>
        <p:spPr>
          <a:xfrm>
            <a:off x="4243214" y="4055528"/>
            <a:ext cx="825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solidFill>
                  <a:srgbClr val="C00000"/>
                </a:solidFill>
                <a:latin typeface="Noto Sans SC"/>
                <a:ea typeface="Noto Sans SC"/>
                <a:cs typeface="Noto Sans SC"/>
                <a:sym typeface="Noto Sans SC"/>
              </a:rPr>
              <a:t>222.1</a:t>
            </a:r>
            <a:endParaRPr lang="en-US" dirty="0">
              <a:solidFill>
                <a:srgbClr val="C00000"/>
              </a:solidFill>
            </a:endParaRPr>
          </a:p>
        </p:txBody>
      </p:sp>
      <p:sp>
        <p:nvSpPr>
          <p:cNvPr id="41" name="AutoShape 35">
            <a:extLst>
              <a:ext uri="{FF2B5EF4-FFF2-40B4-BE49-F238E27FC236}">
                <a16:creationId xmlns:a16="http://schemas.microsoft.com/office/drawing/2014/main" id="{8DA23C26-DBF1-F7ED-9D15-D8A001B38A14}"/>
              </a:ext>
            </a:extLst>
          </p:cNvPr>
          <p:cNvSpPr/>
          <p:nvPr/>
        </p:nvSpPr>
        <p:spPr>
          <a:xfrm>
            <a:off x="5005214" y="4842928"/>
            <a:ext cx="825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latin typeface="Noto Sans SC"/>
                <a:ea typeface="Noto Sans SC"/>
                <a:cs typeface="Noto Sans SC"/>
                <a:sym typeface="Noto Sans SC"/>
              </a:rPr>
              <a:t>127.7</a:t>
            </a:r>
            <a:endParaRPr lang="en-US" dirty="0"/>
          </a:p>
        </p:txBody>
      </p:sp>
      <p:sp>
        <p:nvSpPr>
          <p:cNvPr id="42" name="AutoShape 36">
            <a:extLst>
              <a:ext uri="{FF2B5EF4-FFF2-40B4-BE49-F238E27FC236}">
                <a16:creationId xmlns:a16="http://schemas.microsoft.com/office/drawing/2014/main" id="{27168CB3-5606-552D-6DEC-8AD12A5700CE}"/>
              </a:ext>
            </a:extLst>
          </p:cNvPr>
          <p:cNvSpPr/>
          <p:nvPr/>
        </p:nvSpPr>
        <p:spPr>
          <a:xfrm>
            <a:off x="4306714" y="6176428"/>
            <a:ext cx="1460500" cy="203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dirty="0" err="1">
                <a:latin typeface="Noto Sans SC"/>
                <a:ea typeface="Noto Sans SC"/>
                <a:cs typeface="Noto Sans SC"/>
                <a:sym typeface="Noto Sans SC"/>
              </a:rPr>
              <a:t>第三年</a:t>
            </a:r>
            <a:endParaRPr lang="en-US" dirty="0"/>
          </a:p>
        </p:txBody>
      </p:sp>
      <p:sp>
        <p:nvSpPr>
          <p:cNvPr id="44" name="AutoShape 38">
            <a:extLst>
              <a:ext uri="{FF2B5EF4-FFF2-40B4-BE49-F238E27FC236}">
                <a16:creationId xmlns:a16="http://schemas.microsoft.com/office/drawing/2014/main" id="{B637D645-6D77-3A7B-B394-F349F7FB33CC}"/>
              </a:ext>
            </a:extLst>
          </p:cNvPr>
          <p:cNvSpPr/>
          <p:nvPr/>
        </p:nvSpPr>
        <p:spPr>
          <a:xfrm>
            <a:off x="6464030" y="5063653"/>
            <a:ext cx="4137241" cy="38172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dirty="0" err="1">
                <a:solidFill>
                  <a:srgbClr val="C00000"/>
                </a:solidFill>
                <a:latin typeface="Noto Sans SC"/>
                <a:ea typeface="Noto Sans SC"/>
                <a:cs typeface="Noto Sans SC"/>
                <a:sym typeface="Noto Sans SC"/>
              </a:rPr>
              <a:t>收入结构（第三年）与盈利质量</a:t>
            </a:r>
            <a:endParaRPr lang="en-US" dirty="0">
              <a:solidFill>
                <a:srgbClr val="C00000"/>
              </a:solidFill>
            </a:endParaRPr>
          </a:p>
        </p:txBody>
      </p:sp>
      <p:sp>
        <p:nvSpPr>
          <p:cNvPr id="45" name="AutoShape 39">
            <a:extLst>
              <a:ext uri="{FF2B5EF4-FFF2-40B4-BE49-F238E27FC236}">
                <a16:creationId xmlns:a16="http://schemas.microsoft.com/office/drawing/2014/main" id="{ED08C260-74C6-5B0F-A1B2-6780994B6A50}"/>
              </a:ext>
            </a:extLst>
          </p:cNvPr>
          <p:cNvSpPr/>
          <p:nvPr/>
        </p:nvSpPr>
        <p:spPr>
          <a:xfrm>
            <a:off x="6464030" y="5507868"/>
            <a:ext cx="1170917" cy="30537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dirty="0" err="1">
                <a:latin typeface="Noto Sans SC"/>
                <a:ea typeface="Noto Sans SC"/>
                <a:cs typeface="Noto Sans SC"/>
                <a:sym typeface="Noto Sans SC"/>
              </a:rPr>
              <a:t>个人版订阅</a:t>
            </a:r>
            <a:endParaRPr lang="en-US" sz="1500" dirty="0"/>
          </a:p>
        </p:txBody>
      </p:sp>
      <p:sp>
        <p:nvSpPr>
          <p:cNvPr id="46" name="AutoShape 40">
            <a:extLst>
              <a:ext uri="{FF2B5EF4-FFF2-40B4-BE49-F238E27FC236}">
                <a16:creationId xmlns:a16="http://schemas.microsoft.com/office/drawing/2014/main" id="{D4C2021E-3E5B-6AA1-09BB-17ED54A66173}"/>
              </a:ext>
            </a:extLst>
          </p:cNvPr>
          <p:cNvSpPr/>
          <p:nvPr/>
        </p:nvSpPr>
        <p:spPr>
          <a:xfrm>
            <a:off x="7683230" y="5596745"/>
            <a:ext cx="2497957" cy="165701"/>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41">
            <a:extLst>
              <a:ext uri="{FF2B5EF4-FFF2-40B4-BE49-F238E27FC236}">
                <a16:creationId xmlns:a16="http://schemas.microsoft.com/office/drawing/2014/main" id="{0C4CFB02-3C6B-E6A7-933B-E274CFF4569B}"/>
              </a:ext>
            </a:extLst>
          </p:cNvPr>
          <p:cNvSpPr/>
          <p:nvPr/>
        </p:nvSpPr>
        <p:spPr>
          <a:xfrm>
            <a:off x="10341065" y="5526906"/>
            <a:ext cx="390306" cy="30537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1" i="0" u="none" strike="noStrike" dirty="0">
                <a:solidFill>
                  <a:srgbClr val="C00000"/>
                </a:solidFill>
                <a:latin typeface="Noto Sans SC"/>
                <a:ea typeface="Noto Sans SC"/>
                <a:cs typeface="Noto Sans SC"/>
                <a:sym typeface="Noto Sans SC"/>
              </a:rPr>
              <a:t>73%</a:t>
            </a:r>
            <a:endParaRPr lang="en-US" sz="1400" b="1" dirty="0">
              <a:solidFill>
                <a:srgbClr val="C00000"/>
              </a:solidFill>
            </a:endParaRPr>
          </a:p>
        </p:txBody>
      </p:sp>
      <p:sp>
        <p:nvSpPr>
          <p:cNvPr id="48" name="AutoShape 42">
            <a:extLst>
              <a:ext uri="{FF2B5EF4-FFF2-40B4-BE49-F238E27FC236}">
                <a16:creationId xmlns:a16="http://schemas.microsoft.com/office/drawing/2014/main" id="{D23714C3-2BB9-E7F9-5900-A1F8D3B9086D}"/>
              </a:ext>
            </a:extLst>
          </p:cNvPr>
          <p:cNvSpPr/>
          <p:nvPr/>
        </p:nvSpPr>
        <p:spPr>
          <a:xfrm>
            <a:off x="6464030" y="5850017"/>
            <a:ext cx="1170917" cy="30537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dirty="0" err="1">
                <a:latin typeface="Noto Sans SC"/>
                <a:ea typeface="Noto Sans SC"/>
                <a:cs typeface="Noto Sans SC"/>
                <a:sym typeface="Noto Sans SC"/>
              </a:rPr>
              <a:t>企业版订阅</a:t>
            </a:r>
            <a:endParaRPr lang="en-US" sz="1500" dirty="0"/>
          </a:p>
        </p:txBody>
      </p:sp>
      <p:sp>
        <p:nvSpPr>
          <p:cNvPr id="49" name="AutoShape 43">
            <a:extLst>
              <a:ext uri="{FF2B5EF4-FFF2-40B4-BE49-F238E27FC236}">
                <a16:creationId xmlns:a16="http://schemas.microsoft.com/office/drawing/2014/main" id="{A3359720-A99B-C16D-DE3A-CC7B64291941}"/>
              </a:ext>
            </a:extLst>
          </p:cNvPr>
          <p:cNvSpPr/>
          <p:nvPr/>
        </p:nvSpPr>
        <p:spPr>
          <a:xfrm>
            <a:off x="7683231" y="5913733"/>
            <a:ext cx="949744" cy="190862"/>
          </a:xfrm>
          <a:prstGeom prst="roundRect">
            <a:avLst>
              <a:gd name="adj" fmla="val 0"/>
            </a:avLst>
          </a:prstGeom>
          <a:solidFill>
            <a:schemeClr val="tx1"/>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44">
            <a:extLst>
              <a:ext uri="{FF2B5EF4-FFF2-40B4-BE49-F238E27FC236}">
                <a16:creationId xmlns:a16="http://schemas.microsoft.com/office/drawing/2014/main" id="{D5D7E1F4-91C6-7DF2-3594-85B467078B59}"/>
              </a:ext>
            </a:extLst>
          </p:cNvPr>
          <p:cNvSpPr/>
          <p:nvPr/>
        </p:nvSpPr>
        <p:spPr>
          <a:xfrm>
            <a:off x="8733368" y="5850017"/>
            <a:ext cx="390306" cy="30537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latin typeface="Noto Sans SC"/>
                <a:ea typeface="Noto Sans SC"/>
                <a:cs typeface="Noto Sans SC"/>
                <a:sym typeface="Noto Sans SC"/>
              </a:rPr>
              <a:t>26%</a:t>
            </a:r>
            <a:endParaRPr lang="en-US" sz="1400" dirty="0"/>
          </a:p>
        </p:txBody>
      </p:sp>
      <p:sp>
        <p:nvSpPr>
          <p:cNvPr id="51" name="AutoShape 45">
            <a:extLst>
              <a:ext uri="{FF2B5EF4-FFF2-40B4-BE49-F238E27FC236}">
                <a16:creationId xmlns:a16="http://schemas.microsoft.com/office/drawing/2014/main" id="{77C8FC86-D813-8881-62BD-A7EB6E2647AB}"/>
              </a:ext>
            </a:extLst>
          </p:cNvPr>
          <p:cNvSpPr/>
          <p:nvPr/>
        </p:nvSpPr>
        <p:spPr>
          <a:xfrm>
            <a:off x="6464030" y="6163238"/>
            <a:ext cx="1170917" cy="30537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dirty="0" err="1">
                <a:latin typeface="Noto Sans SC"/>
                <a:ea typeface="Noto Sans SC"/>
                <a:cs typeface="Noto Sans SC"/>
                <a:sym typeface="Noto Sans SC"/>
              </a:rPr>
              <a:t>查明服务</a:t>
            </a:r>
            <a:endParaRPr lang="en-US" sz="1500" dirty="0"/>
          </a:p>
        </p:txBody>
      </p:sp>
      <p:sp>
        <p:nvSpPr>
          <p:cNvPr id="52" name="AutoShape 46">
            <a:extLst>
              <a:ext uri="{FF2B5EF4-FFF2-40B4-BE49-F238E27FC236}">
                <a16:creationId xmlns:a16="http://schemas.microsoft.com/office/drawing/2014/main" id="{D3BFB3F7-E50E-3F0C-CE9C-518CF2BE4ECC}"/>
              </a:ext>
            </a:extLst>
          </p:cNvPr>
          <p:cNvSpPr/>
          <p:nvPr/>
        </p:nvSpPr>
        <p:spPr>
          <a:xfrm>
            <a:off x="7683230" y="6226954"/>
            <a:ext cx="78061" cy="190862"/>
          </a:xfrm>
          <a:prstGeom prst="roundRect">
            <a:avLst>
              <a:gd name="adj" fmla="val 0"/>
            </a:avLst>
          </a:prstGeom>
          <a:solidFill>
            <a:schemeClr val="tx1"/>
          </a:solidFill>
          <a:ln w="25400" cap="flat" cmpd="sng">
            <a:noFill/>
            <a:prstDash val="solid"/>
            <a:round/>
          </a:ln>
        </p:spPr>
        <p:txBody>
          <a:bodyPr vert="horz" wrap="square" lIns="63500" tIns="63500" rIns="63500" bIns="63500" rtlCol="0" anchor="ctr"/>
          <a:lstStyle/>
          <a:p>
            <a:pPr algn="ctr">
              <a:defRPr/>
            </a:pPr>
            <a:endParaRPr/>
          </a:p>
        </p:txBody>
      </p:sp>
      <p:sp>
        <p:nvSpPr>
          <p:cNvPr id="53" name="AutoShape 47">
            <a:extLst>
              <a:ext uri="{FF2B5EF4-FFF2-40B4-BE49-F238E27FC236}">
                <a16:creationId xmlns:a16="http://schemas.microsoft.com/office/drawing/2014/main" id="{942F1A14-F0EF-DAE2-799A-7DF5143EDBBD}"/>
              </a:ext>
            </a:extLst>
          </p:cNvPr>
          <p:cNvSpPr/>
          <p:nvPr/>
        </p:nvSpPr>
        <p:spPr>
          <a:xfrm>
            <a:off x="7861684" y="6155395"/>
            <a:ext cx="390306" cy="305378"/>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dirty="0">
                <a:latin typeface="Noto Sans SC"/>
                <a:ea typeface="Noto Sans SC"/>
                <a:cs typeface="Noto Sans SC"/>
                <a:sym typeface="Noto Sans SC"/>
              </a:rPr>
              <a:t>1%</a:t>
            </a:r>
            <a:endParaRPr lang="en-US" sz="1400" dirty="0"/>
          </a:p>
        </p:txBody>
      </p:sp>
      <p:sp>
        <p:nvSpPr>
          <p:cNvPr id="55" name="AutoShape 49">
            <a:extLst>
              <a:ext uri="{FF2B5EF4-FFF2-40B4-BE49-F238E27FC236}">
                <a16:creationId xmlns:a16="http://schemas.microsoft.com/office/drawing/2014/main" id="{EBE443D9-D475-9C83-571F-CA4B43107DB7}"/>
              </a:ext>
            </a:extLst>
          </p:cNvPr>
          <p:cNvSpPr/>
          <p:nvPr/>
        </p:nvSpPr>
        <p:spPr>
          <a:xfrm>
            <a:off x="6393653" y="3566028"/>
            <a:ext cx="5226034" cy="1143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600" b="0" i="0" u="none" strike="noStrike" dirty="0" err="1">
                <a:latin typeface="Noto Sans SC"/>
                <a:ea typeface="Noto Sans SC"/>
                <a:cs typeface="Noto Sans SC"/>
                <a:sym typeface="Noto Sans SC"/>
              </a:rPr>
              <a:t>营业成本率</a:t>
            </a:r>
            <a:r>
              <a:rPr lang="en-US" sz="1600" b="0" i="0" u="none" strike="noStrike" dirty="0">
                <a:latin typeface="Noto Sans SC"/>
                <a:ea typeface="Noto Sans SC"/>
                <a:cs typeface="Noto Sans SC"/>
                <a:sym typeface="Noto Sans SC"/>
              </a:rPr>
              <a:t>　</a:t>
            </a:r>
            <a:r>
              <a:rPr lang="en-US" sz="1600" b="1" i="0" u="none" strike="noStrike" dirty="0">
                <a:solidFill>
                  <a:srgbClr val="C00000"/>
                </a:solidFill>
                <a:latin typeface="Noto Sans SC"/>
                <a:ea typeface="Noto Sans SC"/>
                <a:cs typeface="Noto Sans SC"/>
                <a:sym typeface="Noto Sans SC"/>
              </a:rPr>
              <a:t>56.4% → 23.3%</a:t>
            </a:r>
            <a:r>
              <a:rPr lang="en-US" sz="1600" b="0" i="0" u="none" strike="noStrike" dirty="0">
                <a:solidFill>
                  <a:srgbClr val="C00000"/>
                </a:solidFill>
                <a:latin typeface="Noto Sans SC"/>
                <a:ea typeface="Noto Sans SC"/>
                <a:cs typeface="Noto Sans SC"/>
                <a:sym typeface="Noto Sans SC"/>
              </a:rPr>
              <a:t>，</a:t>
            </a:r>
            <a:r>
              <a:rPr lang="en-US" sz="1600" b="0" i="0" u="none" strike="noStrike" dirty="0" err="1">
                <a:latin typeface="Noto Sans SC"/>
                <a:ea typeface="Noto Sans SC"/>
                <a:cs typeface="Noto Sans SC"/>
                <a:sym typeface="Noto Sans SC"/>
              </a:rPr>
              <a:t>规模效应显著</a:t>
            </a:r>
            <a:endParaRPr lang="en-US" sz="1600" dirty="0"/>
          </a:p>
          <a:p>
            <a:pPr marL="0" indent="0" algn="l">
              <a:lnSpc>
                <a:spcPct val="141666"/>
              </a:lnSpc>
            </a:pPr>
            <a:r>
              <a:rPr lang="en-US" sz="1600" b="0" i="0" u="none" strike="noStrike" dirty="0" err="1">
                <a:latin typeface="Noto Sans SC"/>
                <a:ea typeface="Noto Sans SC"/>
                <a:cs typeface="Noto Sans SC"/>
                <a:sym typeface="Noto Sans SC"/>
              </a:rPr>
              <a:t>毛利率</a:t>
            </a:r>
            <a:r>
              <a:rPr lang="en-US" sz="1600" b="0" i="0" u="none" strike="noStrike" dirty="0">
                <a:latin typeface="Noto Sans SC"/>
                <a:ea typeface="Noto Sans SC"/>
                <a:cs typeface="Noto Sans SC"/>
                <a:sym typeface="Noto Sans SC"/>
              </a:rPr>
              <a:t> / </a:t>
            </a:r>
            <a:r>
              <a:rPr lang="en-US" sz="1600" b="0" i="0" u="none" strike="noStrike" dirty="0" err="1">
                <a:latin typeface="Noto Sans SC"/>
                <a:ea typeface="Noto Sans SC"/>
                <a:cs typeface="Noto Sans SC"/>
                <a:sym typeface="Noto Sans SC"/>
              </a:rPr>
              <a:t>净利率</a:t>
            </a:r>
            <a:r>
              <a:rPr lang="en-US" sz="1600" b="0" i="0" u="none" strike="noStrike" dirty="0">
                <a:latin typeface="Noto Sans SC"/>
                <a:ea typeface="Noto Sans SC"/>
                <a:cs typeface="Noto Sans SC"/>
                <a:sym typeface="Noto Sans SC"/>
              </a:rPr>
              <a:t>　</a:t>
            </a:r>
            <a:r>
              <a:rPr lang="en-US" sz="1600" b="1" i="0" u="none" strike="noStrike" dirty="0" err="1">
                <a:solidFill>
                  <a:srgbClr val="C00000"/>
                </a:solidFill>
                <a:latin typeface="Noto Sans SC"/>
                <a:ea typeface="Noto Sans SC"/>
                <a:cs typeface="Noto Sans SC"/>
                <a:sym typeface="Noto Sans SC"/>
              </a:rPr>
              <a:t>升至</a:t>
            </a:r>
            <a:r>
              <a:rPr lang="en-US" sz="1600" b="1" i="0" u="none" strike="noStrike" dirty="0">
                <a:solidFill>
                  <a:srgbClr val="C00000"/>
                </a:solidFill>
                <a:latin typeface="Noto Sans SC"/>
                <a:ea typeface="Noto Sans SC"/>
                <a:cs typeface="Noto Sans SC"/>
                <a:sym typeface="Noto Sans SC"/>
              </a:rPr>
              <a:t> 76.7% / 57.5%</a:t>
            </a:r>
          </a:p>
          <a:p>
            <a:pPr marL="0" indent="0" algn="l">
              <a:lnSpc>
                <a:spcPct val="141666"/>
              </a:lnSpc>
            </a:pPr>
            <a:r>
              <a:rPr lang="en-US" sz="1600" b="0" i="0" u="none" strike="noStrike" dirty="0" err="1">
                <a:latin typeface="Noto Sans SC"/>
                <a:ea typeface="Noto Sans SC"/>
                <a:cs typeface="Noto Sans SC"/>
                <a:sym typeface="Noto Sans SC"/>
              </a:rPr>
              <a:t>经营现金净流量</a:t>
            </a:r>
            <a:r>
              <a:rPr lang="en-US" sz="1600" b="0" i="0" u="none" strike="noStrike" dirty="0">
                <a:latin typeface="Noto Sans SC"/>
                <a:ea typeface="Noto Sans SC"/>
                <a:cs typeface="Noto Sans SC"/>
                <a:sym typeface="Noto Sans SC"/>
              </a:rPr>
              <a:t>　</a:t>
            </a:r>
            <a:r>
              <a:rPr lang="en-US" sz="1600" b="1" i="0" u="none" strike="noStrike" dirty="0">
                <a:solidFill>
                  <a:srgbClr val="C00000"/>
                </a:solidFill>
                <a:latin typeface="Noto Sans SC"/>
                <a:ea typeface="Noto Sans SC"/>
                <a:cs typeface="Noto Sans SC"/>
                <a:sym typeface="Noto Sans SC"/>
              </a:rPr>
              <a:t>3.1 → 87.2 </a:t>
            </a:r>
            <a:r>
              <a:rPr lang="en-US" sz="1600" b="1" i="0" u="none" strike="noStrike" dirty="0" err="1">
                <a:solidFill>
                  <a:srgbClr val="C00000"/>
                </a:solidFill>
                <a:latin typeface="Noto Sans SC"/>
                <a:ea typeface="Noto Sans SC"/>
                <a:cs typeface="Noto Sans SC"/>
                <a:sym typeface="Noto Sans SC"/>
              </a:rPr>
              <a:t>万元</a:t>
            </a:r>
            <a:r>
              <a:rPr lang="en-US" sz="1600" b="0" i="0" u="none" strike="noStrike" dirty="0" err="1">
                <a:latin typeface="Noto Sans SC"/>
                <a:ea typeface="Noto Sans SC"/>
                <a:cs typeface="Noto Sans SC"/>
                <a:sym typeface="Noto Sans SC"/>
              </a:rPr>
              <a:t>，三年累计约</a:t>
            </a:r>
            <a:r>
              <a:rPr lang="en-US" sz="1600" b="0" i="0" u="none" strike="noStrike" dirty="0">
                <a:latin typeface="Noto Sans SC"/>
                <a:ea typeface="Noto Sans SC"/>
                <a:cs typeface="Noto Sans SC"/>
                <a:sym typeface="Noto Sans SC"/>
              </a:rPr>
              <a:t> </a:t>
            </a:r>
            <a:r>
              <a:rPr lang="en-US" sz="1600" b="0" i="0" u="none" strike="noStrike" dirty="0">
                <a:solidFill>
                  <a:srgbClr val="C00000"/>
                </a:solidFill>
                <a:latin typeface="Noto Sans SC"/>
                <a:ea typeface="Noto Sans SC"/>
                <a:cs typeface="Noto Sans SC"/>
                <a:sym typeface="Noto Sans SC"/>
              </a:rPr>
              <a:t>129 </a:t>
            </a:r>
            <a:r>
              <a:rPr lang="en-US" sz="1600" b="0" i="0" u="none" strike="noStrike" dirty="0" err="1">
                <a:solidFill>
                  <a:srgbClr val="C00000"/>
                </a:solidFill>
                <a:latin typeface="Noto Sans SC"/>
                <a:ea typeface="Noto Sans SC"/>
                <a:cs typeface="Noto Sans SC"/>
                <a:sym typeface="Noto Sans SC"/>
              </a:rPr>
              <a:t>万元</a:t>
            </a:r>
            <a:endParaRPr lang="en-US" sz="1600" b="0" i="0" u="none" strike="noStrike" dirty="0">
              <a:solidFill>
                <a:srgbClr val="C00000"/>
              </a:solidFill>
              <a:latin typeface="Noto Sans SC"/>
              <a:ea typeface="Noto Sans SC"/>
              <a:cs typeface="Noto Sans SC"/>
              <a:sym typeface="Noto Sans SC"/>
            </a:endParaRPr>
          </a:p>
          <a:p>
            <a:pPr marL="0" indent="0" algn="l">
              <a:lnSpc>
                <a:spcPct val="141666"/>
              </a:lnSpc>
            </a:pPr>
            <a:r>
              <a:rPr lang="en-US" sz="1600" b="0" i="0" u="none" strike="noStrike" dirty="0" err="1">
                <a:latin typeface="Noto Sans SC"/>
                <a:ea typeface="Noto Sans SC"/>
                <a:cs typeface="Noto Sans SC"/>
                <a:sym typeface="Noto Sans SC"/>
              </a:rPr>
              <a:t>股权结构</a:t>
            </a:r>
            <a:r>
              <a:rPr lang="en-US" sz="1600" b="0" i="0" u="none" strike="noStrike" dirty="0">
                <a:latin typeface="Noto Sans SC"/>
                <a:ea typeface="Noto Sans SC"/>
                <a:cs typeface="Noto Sans SC"/>
                <a:sym typeface="Noto Sans SC"/>
              </a:rPr>
              <a:t>　</a:t>
            </a:r>
            <a:r>
              <a:rPr lang="en-US" sz="1600" b="0" i="0" u="none" strike="noStrike" dirty="0" err="1">
                <a:latin typeface="Noto Sans SC"/>
                <a:ea typeface="Noto Sans SC"/>
                <a:cs typeface="Noto Sans SC"/>
                <a:sym typeface="Noto Sans SC"/>
              </a:rPr>
              <a:t>初始</a:t>
            </a:r>
            <a:r>
              <a:rPr lang="en-US" sz="1600" b="0" i="0" u="none" strike="noStrike" dirty="0">
                <a:latin typeface="Noto Sans SC"/>
                <a:ea typeface="Noto Sans SC"/>
                <a:cs typeface="Noto Sans SC"/>
                <a:sym typeface="Noto Sans SC"/>
              </a:rPr>
              <a:t> </a:t>
            </a:r>
            <a:r>
              <a:rPr lang="en-US" sz="1600" b="0" i="0" u="none" strike="noStrike" dirty="0">
                <a:solidFill>
                  <a:srgbClr val="C00000"/>
                </a:solidFill>
                <a:latin typeface="Noto Sans SC"/>
                <a:ea typeface="Noto Sans SC"/>
                <a:cs typeface="Noto Sans SC"/>
                <a:sym typeface="Noto Sans SC"/>
              </a:rPr>
              <a:t>10 </a:t>
            </a:r>
            <a:r>
              <a:rPr lang="en-US" sz="1600" b="0" i="0" u="none" strike="noStrike" dirty="0" err="1">
                <a:solidFill>
                  <a:srgbClr val="C00000"/>
                </a:solidFill>
                <a:latin typeface="Noto Sans SC"/>
                <a:ea typeface="Noto Sans SC"/>
                <a:cs typeface="Noto Sans SC"/>
                <a:sym typeface="Noto Sans SC"/>
              </a:rPr>
              <a:t>万元</a:t>
            </a:r>
            <a:r>
              <a:rPr lang="en-US" sz="1600" b="0" i="0" u="none" strike="noStrike" dirty="0" err="1">
                <a:latin typeface="Noto Sans SC"/>
                <a:ea typeface="Noto Sans SC"/>
                <a:cs typeface="Noto Sans SC"/>
                <a:sym typeface="Noto Sans SC"/>
              </a:rPr>
              <a:t>（资金</a:t>
            </a:r>
            <a:r>
              <a:rPr lang="en-US" sz="1600" b="0" i="0" u="none" strike="noStrike" dirty="0">
                <a:latin typeface="Noto Sans SC"/>
                <a:ea typeface="Noto Sans SC"/>
                <a:cs typeface="Noto Sans SC"/>
                <a:sym typeface="Noto Sans SC"/>
              </a:rPr>
              <a:t> 4 + </a:t>
            </a:r>
            <a:r>
              <a:rPr lang="en-US" sz="1600" b="0" i="0" u="none" strike="noStrike" dirty="0" err="1">
                <a:latin typeface="Noto Sans SC"/>
                <a:ea typeface="Noto Sans SC"/>
                <a:cs typeface="Noto Sans SC"/>
                <a:sym typeface="Noto Sans SC"/>
              </a:rPr>
              <a:t>劳务</a:t>
            </a:r>
            <a:r>
              <a:rPr lang="en-US" sz="1600" b="0" i="0" u="none" strike="noStrike" dirty="0">
                <a:latin typeface="Noto Sans SC"/>
                <a:ea typeface="Noto Sans SC"/>
                <a:cs typeface="Noto Sans SC"/>
                <a:sym typeface="Noto Sans SC"/>
              </a:rPr>
              <a:t> 6），</a:t>
            </a:r>
            <a:r>
              <a:rPr lang="en-US" sz="1600" b="0" i="0" u="none" strike="noStrike" dirty="0" err="1">
                <a:latin typeface="Noto Sans SC"/>
                <a:ea typeface="Noto Sans SC"/>
                <a:cs typeface="Noto Sans SC"/>
                <a:sym typeface="Noto Sans SC"/>
              </a:rPr>
              <a:t>零有息负债</a:t>
            </a:r>
            <a:endParaRPr lang="en-US" sz="1600" b="0" i="0" u="none" strike="noStrike" dirty="0">
              <a:latin typeface="Noto Sans SC"/>
              <a:ea typeface="Noto Sans SC"/>
              <a:cs typeface="Noto Sans SC"/>
              <a:sym typeface="Noto Sans SC"/>
            </a:endParaRPr>
          </a:p>
        </p:txBody>
      </p:sp>
    </p:spTree>
    <p:extLst>
      <p:ext uri="{BB962C8B-B14F-4D97-AF65-F5344CB8AC3E}">
        <p14:creationId xmlns:p14="http://schemas.microsoft.com/office/powerpoint/2010/main" val="401286767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DD87-6528-B92A-4E3A-214A738945DD}"/>
            </a:ext>
          </a:extLst>
        </p:cNvPr>
        <p:cNvGrpSpPr/>
        <p:nvPr/>
      </p:nvGrpSpPr>
      <p:grpSpPr>
        <a:xfrm>
          <a:off x="0" y="0"/>
          <a:ext cx="0" cy="0"/>
          <a:chOff x="0" y="0"/>
          <a:chExt cx="0" cy="0"/>
        </a:xfrm>
      </p:grpSpPr>
      <p:sp>
        <p:nvSpPr>
          <p:cNvPr id="72" name="矩形 71">
            <a:extLst>
              <a:ext uri="{FF2B5EF4-FFF2-40B4-BE49-F238E27FC236}">
                <a16:creationId xmlns:a16="http://schemas.microsoft.com/office/drawing/2014/main" id="{9229EA14-6FA5-B611-2D28-CEFBD039FAE2}"/>
              </a:ext>
            </a:extLst>
          </p:cNvPr>
          <p:cNvSpPr/>
          <p:nvPr/>
        </p:nvSpPr>
        <p:spPr>
          <a:xfrm>
            <a:off x="0" y="6487888"/>
            <a:ext cx="12192000" cy="370112"/>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AB3443EB-4149-0A9A-EF73-EEA33F389511}"/>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5" name="平行四边形 34">
            <a:extLst>
              <a:ext uri="{FF2B5EF4-FFF2-40B4-BE49-F238E27FC236}">
                <a16:creationId xmlns:a16="http://schemas.microsoft.com/office/drawing/2014/main" id="{5449B899-73AC-A852-DBCE-DA0B84CE5B68}"/>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平行四边形 36">
            <a:extLst>
              <a:ext uri="{FF2B5EF4-FFF2-40B4-BE49-F238E27FC236}">
                <a16:creationId xmlns:a16="http://schemas.microsoft.com/office/drawing/2014/main" id="{7CBFE300-CEE1-F6EC-ACE4-68AC4B6540AF}"/>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CBC1862F-45C7-D961-387F-8096DF11CB3A}"/>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用户反馈</a:t>
            </a:r>
            <a:endParaRPr lang="en-US" altLang="zh-CN" sz="3600" dirty="0"/>
          </a:p>
        </p:txBody>
      </p:sp>
      <p:pic>
        <p:nvPicPr>
          <p:cNvPr id="41" name="图片 40">
            <a:extLst>
              <a:ext uri="{FF2B5EF4-FFF2-40B4-BE49-F238E27FC236}">
                <a16:creationId xmlns:a16="http://schemas.microsoft.com/office/drawing/2014/main" id="{334EFAC4-8DE7-BE99-BE79-5B45C54A154A}"/>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51" name="AutoShape 4">
            <a:extLst>
              <a:ext uri="{FF2B5EF4-FFF2-40B4-BE49-F238E27FC236}">
                <a16:creationId xmlns:a16="http://schemas.microsoft.com/office/drawing/2014/main" id="{28B87F72-DCA9-B345-87AC-9FE49C9A32CA}"/>
              </a:ext>
            </a:extLst>
          </p:cNvPr>
          <p:cNvSpPr/>
          <p:nvPr/>
        </p:nvSpPr>
        <p:spPr>
          <a:xfrm>
            <a:off x="762000" y="1066732"/>
            <a:ext cx="1066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err="1">
                <a:latin typeface="Noto Sans SC"/>
                <a:ea typeface="Noto Sans SC"/>
                <a:cs typeface="Noto Sans SC"/>
                <a:sym typeface="Noto Sans SC"/>
              </a:rPr>
              <a:t>诚实反馈与快速迭代</a:t>
            </a:r>
            <a:endParaRPr lang="en-US" sz="2200" dirty="0"/>
          </a:p>
        </p:txBody>
      </p:sp>
      <p:sp>
        <p:nvSpPr>
          <p:cNvPr id="52" name="AutoShape 5">
            <a:extLst>
              <a:ext uri="{FF2B5EF4-FFF2-40B4-BE49-F238E27FC236}">
                <a16:creationId xmlns:a16="http://schemas.microsoft.com/office/drawing/2014/main" id="{936F533C-BC68-90B9-8534-9D34D74DFDB8}"/>
              </a:ext>
            </a:extLst>
          </p:cNvPr>
          <p:cNvSpPr/>
          <p:nvPr/>
        </p:nvSpPr>
        <p:spPr>
          <a:xfrm>
            <a:off x="761992" y="1548597"/>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latin typeface="Noto Sans SC"/>
                <a:ea typeface="Noto Sans SC"/>
                <a:cs typeface="Noto Sans SC"/>
                <a:sym typeface="Noto Sans SC"/>
              </a:rPr>
              <a:t>最常被追问的问题，正是产品需求的最强验证信号</a:t>
            </a:r>
            <a:endParaRPr lang="en-US" sz="1200" dirty="0"/>
          </a:p>
        </p:txBody>
      </p:sp>
      <p:sp>
        <p:nvSpPr>
          <p:cNvPr id="53" name="AutoShape 6">
            <a:extLst>
              <a:ext uri="{FF2B5EF4-FFF2-40B4-BE49-F238E27FC236}">
                <a16:creationId xmlns:a16="http://schemas.microsoft.com/office/drawing/2014/main" id="{57B5C68E-BEC7-4545-F63D-97391F792B8D}"/>
              </a:ext>
            </a:extLst>
          </p:cNvPr>
          <p:cNvSpPr/>
          <p:nvPr/>
        </p:nvSpPr>
        <p:spPr>
          <a:xfrm>
            <a:off x="762000" y="2132604"/>
            <a:ext cx="4724400" cy="4027868"/>
          </a:xfrm>
          <a:prstGeom prst="roundRect">
            <a:avLst>
              <a:gd name="adj" fmla="val 0"/>
            </a:avLst>
          </a:prstGeom>
          <a:solidFill>
            <a:srgbClr val="FFFFFF">
              <a:alpha val="8000"/>
            </a:srgbClr>
          </a:solidFill>
          <a:ln w="25400" cap="flat" cmpd="sng">
            <a:solidFill>
              <a:schemeClr val="tx1">
                <a:alpha val="30000"/>
              </a:schemeClr>
            </a:solidFill>
            <a:prstDash val="solid"/>
            <a:round/>
          </a:ln>
        </p:spPr>
        <p:txBody>
          <a:bodyPr vert="horz" wrap="square" lIns="63500" tIns="63500" rIns="63500" bIns="63500" rtlCol="0" anchor="ctr"/>
          <a:lstStyle/>
          <a:p>
            <a:pPr algn="ctr">
              <a:defRPr/>
            </a:pPr>
            <a:endParaRPr/>
          </a:p>
        </p:txBody>
      </p:sp>
      <p:sp>
        <p:nvSpPr>
          <p:cNvPr id="55" name="AutoShape 8">
            <a:extLst>
              <a:ext uri="{FF2B5EF4-FFF2-40B4-BE49-F238E27FC236}">
                <a16:creationId xmlns:a16="http://schemas.microsoft.com/office/drawing/2014/main" id="{A9F9379D-14E6-6AB6-837A-572E713CEF78}"/>
              </a:ext>
            </a:extLst>
          </p:cNvPr>
          <p:cNvSpPr/>
          <p:nvPr/>
        </p:nvSpPr>
        <p:spPr>
          <a:xfrm>
            <a:off x="761992" y="1852272"/>
            <a:ext cx="2418961" cy="11823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C00000"/>
                </a:solidFill>
                <a:latin typeface="Noto Sans SC"/>
                <a:ea typeface="Noto Sans SC"/>
                <a:cs typeface="Noto Sans SC"/>
                <a:sym typeface="Noto Sans SC"/>
              </a:rPr>
              <a:t>“AI </a:t>
            </a:r>
            <a:r>
              <a:rPr lang="en-US" b="1" i="0" u="none" strike="noStrike" dirty="0" err="1">
                <a:solidFill>
                  <a:srgbClr val="C00000"/>
                </a:solidFill>
                <a:latin typeface="Noto Sans SC"/>
                <a:ea typeface="Noto Sans SC"/>
                <a:cs typeface="Noto Sans SC"/>
                <a:sym typeface="Noto Sans SC"/>
              </a:rPr>
              <a:t>会不会编法条</a:t>
            </a:r>
            <a:r>
              <a:rPr lang="en-US" b="1" i="0" u="none" strike="noStrike" dirty="0">
                <a:solidFill>
                  <a:srgbClr val="C00000"/>
                </a:solidFill>
                <a:latin typeface="Noto Sans SC"/>
                <a:ea typeface="Noto Sans SC"/>
                <a:cs typeface="Noto Sans SC"/>
                <a:sym typeface="Noto Sans SC"/>
              </a:rPr>
              <a:t>？”</a:t>
            </a:r>
          </a:p>
          <a:p>
            <a:pPr marL="0" indent="0" algn="l">
              <a:lnSpc>
                <a:spcPct val="100000"/>
              </a:lnSpc>
              <a:defRPr/>
            </a:pPr>
            <a:endParaRPr lang="en-US" sz="200" b="1" i="0" u="none" strike="noStrike" dirty="0">
              <a:solidFill>
                <a:srgbClr val="C00000"/>
              </a:solidFill>
              <a:latin typeface="Noto Sans SC"/>
              <a:ea typeface="Noto Sans SC"/>
              <a:cs typeface="Noto Sans SC"/>
              <a:sym typeface="Noto Sans SC"/>
            </a:endParaRPr>
          </a:p>
          <a:p>
            <a:pPr marL="0" indent="0" algn="l">
              <a:lnSpc>
                <a:spcPct val="100000"/>
              </a:lnSpc>
              <a:defRPr/>
            </a:pPr>
            <a:endParaRPr lang="en-US" sz="200" dirty="0">
              <a:solidFill>
                <a:srgbClr val="C00000"/>
              </a:solidFill>
            </a:endParaRPr>
          </a:p>
        </p:txBody>
      </p:sp>
      <p:sp>
        <p:nvSpPr>
          <p:cNvPr id="56" name="AutoShape 9">
            <a:extLst>
              <a:ext uri="{FF2B5EF4-FFF2-40B4-BE49-F238E27FC236}">
                <a16:creationId xmlns:a16="http://schemas.microsoft.com/office/drawing/2014/main" id="{2951BE80-674F-6D06-C6D8-B561216BE69E}"/>
              </a:ext>
            </a:extLst>
          </p:cNvPr>
          <p:cNvSpPr/>
          <p:nvPr/>
        </p:nvSpPr>
        <p:spPr>
          <a:xfrm>
            <a:off x="6159500" y="2120464"/>
            <a:ext cx="5270500" cy="4040006"/>
          </a:xfrm>
          <a:prstGeom prst="roundRect">
            <a:avLst>
              <a:gd name="adj" fmla="val 0"/>
            </a:avLst>
          </a:prstGeom>
          <a:solidFill>
            <a:srgbClr val="FFFFFF">
              <a:alpha val="8000"/>
            </a:srgbClr>
          </a:solidFill>
          <a:ln w="254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sp>
        <p:nvSpPr>
          <p:cNvPr id="64" name="AutoShape 17">
            <a:extLst>
              <a:ext uri="{FF2B5EF4-FFF2-40B4-BE49-F238E27FC236}">
                <a16:creationId xmlns:a16="http://schemas.microsoft.com/office/drawing/2014/main" id="{80B05359-BE62-4B92-F875-CAA90A4E9A2B}"/>
              </a:ext>
            </a:extLst>
          </p:cNvPr>
          <p:cNvSpPr/>
          <p:nvPr/>
        </p:nvSpPr>
        <p:spPr>
          <a:xfrm>
            <a:off x="6159500" y="1838648"/>
            <a:ext cx="3254748" cy="11823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C00000"/>
                </a:solidFill>
                <a:latin typeface="Noto Sans SC"/>
                <a:ea typeface="Noto Sans SC"/>
                <a:cs typeface="Noto Sans SC"/>
                <a:sym typeface="Noto Sans SC"/>
              </a:rPr>
              <a:t>“和 ChatGPT </a:t>
            </a:r>
            <a:r>
              <a:rPr lang="en-US" b="1" i="0" u="none" strike="noStrike" dirty="0" err="1">
                <a:solidFill>
                  <a:srgbClr val="C00000"/>
                </a:solidFill>
                <a:latin typeface="Noto Sans SC"/>
                <a:ea typeface="Noto Sans SC"/>
                <a:cs typeface="Noto Sans SC"/>
                <a:sym typeface="Noto Sans SC"/>
              </a:rPr>
              <a:t>有何不同</a:t>
            </a:r>
            <a:r>
              <a:rPr lang="en-US" b="1" i="0" u="none" strike="noStrike" dirty="0">
                <a:solidFill>
                  <a:srgbClr val="C00000"/>
                </a:solidFill>
                <a:latin typeface="Noto Sans SC"/>
                <a:ea typeface="Noto Sans SC"/>
                <a:cs typeface="Noto Sans SC"/>
                <a:sym typeface="Noto Sans SC"/>
              </a:rPr>
              <a:t>？”</a:t>
            </a:r>
          </a:p>
          <a:p>
            <a:pPr marL="0" indent="0" algn="l">
              <a:lnSpc>
                <a:spcPct val="100000"/>
              </a:lnSpc>
              <a:defRPr/>
            </a:pPr>
            <a:endParaRPr lang="en-US" sz="100" b="1" i="0" u="none" strike="noStrike" dirty="0">
              <a:solidFill>
                <a:srgbClr val="C00000"/>
              </a:solidFill>
              <a:latin typeface="Noto Sans SC"/>
              <a:ea typeface="Noto Sans SC"/>
              <a:cs typeface="Noto Sans SC"/>
              <a:sym typeface="Noto Sans SC"/>
            </a:endParaRPr>
          </a:p>
          <a:p>
            <a:pPr marL="0" indent="0" algn="l">
              <a:lnSpc>
                <a:spcPct val="100000"/>
              </a:lnSpc>
              <a:defRPr/>
            </a:pPr>
            <a:endParaRPr lang="en-US" sz="100" dirty="0">
              <a:solidFill>
                <a:srgbClr val="C00000"/>
              </a:solidFill>
            </a:endParaRPr>
          </a:p>
        </p:txBody>
      </p:sp>
      <p:cxnSp>
        <p:nvCxnSpPr>
          <p:cNvPr id="65" name="Connector 18">
            <a:extLst>
              <a:ext uri="{FF2B5EF4-FFF2-40B4-BE49-F238E27FC236}">
                <a16:creationId xmlns:a16="http://schemas.microsoft.com/office/drawing/2014/main" id="{34511A57-4414-E308-6637-33F3C26CD367}"/>
              </a:ext>
            </a:extLst>
          </p:cNvPr>
          <p:cNvCxnSpPr>
            <a:cxnSpLocks/>
          </p:cNvCxnSpPr>
          <p:nvPr/>
        </p:nvCxnSpPr>
        <p:spPr>
          <a:xfrm>
            <a:off x="761992" y="1978354"/>
            <a:ext cx="10668008" cy="2"/>
          </a:xfrm>
          <a:prstGeom prst="straightConnector1">
            <a:avLst/>
          </a:prstGeom>
          <a:solidFill>
            <a:srgbClr val="DEE0E3">
              <a:alpha val="100000"/>
            </a:srgbClr>
          </a:solidFill>
          <a:ln w="50800" cap="flat" cmpd="sng">
            <a:solidFill>
              <a:srgbClr val="C00000"/>
            </a:solidFill>
            <a:prstDash val="solid"/>
            <a:round/>
            <a:headEnd type="none" w="med" len="med"/>
            <a:tailEnd type="none" w="med" len="med"/>
          </a:ln>
        </p:spPr>
      </p:cxnSp>
      <p:pic>
        <p:nvPicPr>
          <p:cNvPr id="70" name="图片 69">
            <a:extLst>
              <a:ext uri="{FF2B5EF4-FFF2-40B4-BE49-F238E27FC236}">
                <a16:creationId xmlns:a16="http://schemas.microsoft.com/office/drawing/2014/main" id="{B83B7BF0-D812-DDF4-2CEB-377603E08715}"/>
              </a:ext>
            </a:extLst>
          </p:cNvPr>
          <p:cNvPicPr>
            <a:picLocks noChangeAspect="1"/>
          </p:cNvPicPr>
          <p:nvPr/>
        </p:nvPicPr>
        <p:blipFill>
          <a:blip r:embed="rId3">
            <a:extLst>
              <a:ext uri="{28A0092B-C50C-407E-A947-70E740481C1C}">
                <a14:useLocalDpi xmlns:a14="http://schemas.microsoft.com/office/drawing/2010/main" val="0"/>
              </a:ext>
            </a:extLst>
          </a:blip>
          <a:srcRect l="8502" t="57195" r="23526" b="22300"/>
          <a:stretch>
            <a:fillRect/>
          </a:stretch>
        </p:blipFill>
        <p:spPr>
          <a:xfrm>
            <a:off x="8675977" y="1046283"/>
            <a:ext cx="2965844" cy="894706"/>
          </a:xfrm>
          <a:prstGeom prst="rect">
            <a:avLst/>
          </a:prstGeom>
        </p:spPr>
      </p:pic>
      <p:pic>
        <p:nvPicPr>
          <p:cNvPr id="5" name="图片 4">
            <a:extLst>
              <a:ext uri="{FF2B5EF4-FFF2-40B4-BE49-F238E27FC236}">
                <a16:creationId xmlns:a16="http://schemas.microsoft.com/office/drawing/2014/main" id="{08BCC2E2-D9E5-EAC3-2FAB-9E6AAC8E2D5D}"/>
              </a:ext>
            </a:extLst>
          </p:cNvPr>
          <p:cNvPicPr>
            <a:picLocks noChangeAspect="1"/>
          </p:cNvPicPr>
          <p:nvPr/>
        </p:nvPicPr>
        <p:blipFill>
          <a:blip r:embed="rId4"/>
          <a:stretch>
            <a:fillRect/>
          </a:stretch>
        </p:blipFill>
        <p:spPr>
          <a:xfrm>
            <a:off x="6838849" y="2951733"/>
            <a:ext cx="3911801" cy="2609984"/>
          </a:xfrm>
          <a:prstGeom prst="rect">
            <a:avLst/>
          </a:prstGeom>
        </p:spPr>
      </p:pic>
      <p:pic>
        <p:nvPicPr>
          <p:cNvPr id="7" name="图片 6">
            <a:extLst>
              <a:ext uri="{FF2B5EF4-FFF2-40B4-BE49-F238E27FC236}">
                <a16:creationId xmlns:a16="http://schemas.microsoft.com/office/drawing/2014/main" id="{A7C65667-D24D-AA67-01C1-3193416AD478}"/>
              </a:ext>
            </a:extLst>
          </p:cNvPr>
          <p:cNvPicPr>
            <a:picLocks noChangeAspect="1"/>
          </p:cNvPicPr>
          <p:nvPr/>
        </p:nvPicPr>
        <p:blipFill>
          <a:blip r:embed="rId5"/>
          <a:stretch>
            <a:fillRect/>
          </a:stretch>
        </p:blipFill>
        <p:spPr>
          <a:xfrm>
            <a:off x="1114321" y="3159539"/>
            <a:ext cx="4019757" cy="1638384"/>
          </a:xfrm>
          <a:prstGeom prst="rect">
            <a:avLst/>
          </a:prstGeom>
        </p:spPr>
      </p:pic>
    </p:spTree>
    <p:extLst>
      <p:ext uri="{BB962C8B-B14F-4D97-AF65-F5344CB8AC3E}">
        <p14:creationId xmlns:p14="http://schemas.microsoft.com/office/powerpoint/2010/main" val="24660909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C4CA1E80-6638-23B9-9B0F-E2D6381E5F47}"/>
              </a:ext>
            </a:extLst>
          </p:cNvPr>
          <p:cNvSpPr/>
          <p:nvPr/>
        </p:nvSpPr>
        <p:spPr>
          <a:xfrm>
            <a:off x="0" y="6487888"/>
            <a:ext cx="12192000" cy="370112"/>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9CB06C77-6691-9834-5D33-82C22C0D30AE}"/>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5" name="平行四边形 34">
            <a:extLst>
              <a:ext uri="{FF2B5EF4-FFF2-40B4-BE49-F238E27FC236}">
                <a16:creationId xmlns:a16="http://schemas.microsoft.com/office/drawing/2014/main" id="{1814B8BE-F493-5C69-7F56-35291455331D}"/>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平行四边形 36">
            <a:extLst>
              <a:ext uri="{FF2B5EF4-FFF2-40B4-BE49-F238E27FC236}">
                <a16:creationId xmlns:a16="http://schemas.microsoft.com/office/drawing/2014/main" id="{F9EE536B-8566-77D5-3F71-043AF8799CD5}"/>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C01AAF69-13A6-1C36-DBE2-F1927430589B}"/>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用户反馈</a:t>
            </a:r>
            <a:endParaRPr lang="en-US" altLang="zh-CN" sz="3600" dirty="0"/>
          </a:p>
        </p:txBody>
      </p:sp>
      <p:pic>
        <p:nvPicPr>
          <p:cNvPr id="41" name="图片 40">
            <a:extLst>
              <a:ext uri="{FF2B5EF4-FFF2-40B4-BE49-F238E27FC236}">
                <a16:creationId xmlns:a16="http://schemas.microsoft.com/office/drawing/2014/main" id="{A93D7C70-4135-4B32-9D15-80F700342001}"/>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51" name="AutoShape 4">
            <a:extLst>
              <a:ext uri="{FF2B5EF4-FFF2-40B4-BE49-F238E27FC236}">
                <a16:creationId xmlns:a16="http://schemas.microsoft.com/office/drawing/2014/main" id="{C9207600-3257-525F-0CEE-5ABA3EAAF2B1}"/>
              </a:ext>
            </a:extLst>
          </p:cNvPr>
          <p:cNvSpPr/>
          <p:nvPr/>
        </p:nvSpPr>
        <p:spPr>
          <a:xfrm>
            <a:off x="762000" y="1066732"/>
            <a:ext cx="1066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err="1">
                <a:latin typeface="Noto Sans SC"/>
                <a:ea typeface="Noto Sans SC"/>
                <a:cs typeface="Noto Sans SC"/>
                <a:sym typeface="Noto Sans SC"/>
              </a:rPr>
              <a:t>诚实反馈与快速迭代</a:t>
            </a:r>
            <a:endParaRPr lang="en-US" sz="2200" dirty="0"/>
          </a:p>
        </p:txBody>
      </p:sp>
      <p:sp>
        <p:nvSpPr>
          <p:cNvPr id="52" name="AutoShape 5">
            <a:extLst>
              <a:ext uri="{FF2B5EF4-FFF2-40B4-BE49-F238E27FC236}">
                <a16:creationId xmlns:a16="http://schemas.microsoft.com/office/drawing/2014/main" id="{56C8F6A8-07C9-BA08-3067-61EBE60DF0BD}"/>
              </a:ext>
            </a:extLst>
          </p:cNvPr>
          <p:cNvSpPr/>
          <p:nvPr/>
        </p:nvSpPr>
        <p:spPr>
          <a:xfrm>
            <a:off x="761992" y="1548597"/>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latin typeface="Noto Sans SC"/>
                <a:ea typeface="Noto Sans SC"/>
                <a:cs typeface="Noto Sans SC"/>
                <a:sym typeface="Noto Sans SC"/>
              </a:rPr>
              <a:t>最常被追问的问题，正是产品需求的最强验证信号</a:t>
            </a:r>
            <a:endParaRPr lang="en-US" sz="1200" dirty="0"/>
          </a:p>
        </p:txBody>
      </p:sp>
      <p:sp>
        <p:nvSpPr>
          <p:cNvPr id="58" name="AutoShape 11">
            <a:extLst>
              <a:ext uri="{FF2B5EF4-FFF2-40B4-BE49-F238E27FC236}">
                <a16:creationId xmlns:a16="http://schemas.microsoft.com/office/drawing/2014/main" id="{3B34F75B-35D6-D0EB-B89B-5C3833AEBA2C}"/>
              </a:ext>
            </a:extLst>
          </p:cNvPr>
          <p:cNvSpPr/>
          <p:nvPr/>
        </p:nvSpPr>
        <p:spPr>
          <a:xfrm>
            <a:off x="6283751" y="1992533"/>
            <a:ext cx="1829964" cy="11823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C00000"/>
                </a:solidFill>
                <a:latin typeface="Noto Sans SC"/>
                <a:ea typeface="Noto Sans SC"/>
                <a:cs typeface="Noto Sans SC"/>
                <a:sym typeface="Noto Sans SC"/>
              </a:rPr>
              <a:t>“</a:t>
            </a:r>
            <a:r>
              <a:rPr lang="en-US" b="1" i="0" u="none" strike="noStrike" dirty="0" err="1">
                <a:solidFill>
                  <a:srgbClr val="C00000"/>
                </a:solidFill>
                <a:latin typeface="Noto Sans SC"/>
                <a:ea typeface="Noto Sans SC"/>
                <a:cs typeface="Noto Sans SC"/>
                <a:sym typeface="Noto Sans SC"/>
              </a:rPr>
              <a:t>数据安全吗</a:t>
            </a:r>
            <a:r>
              <a:rPr lang="en-US" b="1" i="0" u="none" strike="noStrike" dirty="0">
                <a:solidFill>
                  <a:srgbClr val="C00000"/>
                </a:solidFill>
                <a:latin typeface="Noto Sans SC"/>
                <a:ea typeface="Noto Sans SC"/>
                <a:cs typeface="Noto Sans SC"/>
                <a:sym typeface="Noto Sans SC"/>
              </a:rPr>
              <a:t>？”</a:t>
            </a:r>
          </a:p>
          <a:p>
            <a:pPr marL="0" indent="0" algn="l">
              <a:lnSpc>
                <a:spcPct val="100000"/>
              </a:lnSpc>
              <a:defRPr/>
            </a:pPr>
            <a:endParaRPr lang="en-US" sz="1400" b="0" i="0" u="none" strike="noStrike" dirty="0">
              <a:latin typeface="Noto Sans SC"/>
              <a:ea typeface="Noto Sans SC"/>
              <a:cs typeface="Noto Sans SC"/>
              <a:sym typeface="Noto Sans SC"/>
            </a:endParaRPr>
          </a:p>
        </p:txBody>
      </p:sp>
      <p:sp>
        <p:nvSpPr>
          <p:cNvPr id="59" name="AutoShape 12">
            <a:extLst>
              <a:ext uri="{FF2B5EF4-FFF2-40B4-BE49-F238E27FC236}">
                <a16:creationId xmlns:a16="http://schemas.microsoft.com/office/drawing/2014/main" id="{BA1B00CB-4FF9-2C03-450F-97B5BBEEB1D5}"/>
              </a:ext>
            </a:extLst>
          </p:cNvPr>
          <p:cNvSpPr/>
          <p:nvPr/>
        </p:nvSpPr>
        <p:spPr>
          <a:xfrm>
            <a:off x="762000" y="2174278"/>
            <a:ext cx="5270500" cy="4117689"/>
          </a:xfrm>
          <a:prstGeom prst="roundRect">
            <a:avLst>
              <a:gd name="adj" fmla="val 0"/>
            </a:avLst>
          </a:prstGeom>
          <a:solidFill>
            <a:srgbClr val="FFFFFF">
              <a:alpha val="8000"/>
            </a:srgbClr>
          </a:solidFill>
          <a:ln w="254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sp>
        <p:nvSpPr>
          <p:cNvPr id="61" name="AutoShape 14">
            <a:extLst>
              <a:ext uri="{FF2B5EF4-FFF2-40B4-BE49-F238E27FC236}">
                <a16:creationId xmlns:a16="http://schemas.microsoft.com/office/drawing/2014/main" id="{4F86FFFE-B0FF-400B-997A-39B992E37E02}"/>
              </a:ext>
            </a:extLst>
          </p:cNvPr>
          <p:cNvSpPr/>
          <p:nvPr/>
        </p:nvSpPr>
        <p:spPr>
          <a:xfrm>
            <a:off x="803031" y="1978354"/>
            <a:ext cx="3622670" cy="11823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C00000"/>
                </a:solidFill>
                <a:latin typeface="Noto Sans SC"/>
                <a:ea typeface="Noto Sans SC"/>
                <a:cs typeface="Noto Sans SC"/>
                <a:sym typeface="Noto Sans SC"/>
              </a:rPr>
              <a:t>“</a:t>
            </a:r>
            <a:r>
              <a:rPr lang="en-US" b="1" i="0" u="none" strike="noStrike" dirty="0" err="1">
                <a:solidFill>
                  <a:srgbClr val="C00000"/>
                </a:solidFill>
                <a:latin typeface="Noto Sans SC"/>
                <a:ea typeface="Noto Sans SC"/>
                <a:cs typeface="Noto Sans SC"/>
                <a:sym typeface="Noto Sans SC"/>
              </a:rPr>
              <a:t>只有日美法</a:t>
            </a:r>
            <a:r>
              <a:rPr lang="en-US" b="1" i="0" u="none" strike="noStrike" dirty="0">
                <a:solidFill>
                  <a:srgbClr val="C00000"/>
                </a:solidFill>
                <a:latin typeface="Noto Sans SC"/>
                <a:ea typeface="Noto Sans SC"/>
                <a:cs typeface="Noto Sans SC"/>
                <a:sym typeface="Noto Sans SC"/>
              </a:rPr>
              <a:t>，</a:t>
            </a:r>
            <a:r>
              <a:rPr lang="zh-CN" altLang="en-US" b="1" i="0" u="none" strike="noStrike" dirty="0">
                <a:solidFill>
                  <a:srgbClr val="C00000"/>
                </a:solidFill>
                <a:latin typeface="Noto Sans SC"/>
                <a:ea typeface="Noto Sans SC"/>
                <a:cs typeface="Noto Sans SC"/>
                <a:sym typeface="Noto Sans SC"/>
              </a:rPr>
              <a:t>没有</a:t>
            </a:r>
            <a:r>
              <a:rPr lang="en-US" b="1" i="0" u="none" strike="noStrike" dirty="0" err="1">
                <a:solidFill>
                  <a:srgbClr val="C00000"/>
                </a:solidFill>
                <a:latin typeface="Noto Sans SC"/>
                <a:ea typeface="Noto Sans SC"/>
                <a:cs typeface="Noto Sans SC"/>
                <a:sym typeface="Noto Sans SC"/>
              </a:rPr>
              <a:t>中文</a:t>
            </a:r>
            <a:r>
              <a:rPr lang="zh-CN" altLang="en-US" b="1" i="0" u="none" strike="noStrike" dirty="0">
                <a:solidFill>
                  <a:srgbClr val="C00000"/>
                </a:solidFill>
                <a:latin typeface="Noto Sans SC"/>
                <a:ea typeface="Noto Sans SC"/>
                <a:cs typeface="Noto Sans SC"/>
                <a:sym typeface="Noto Sans SC"/>
              </a:rPr>
              <a:t>吗</a:t>
            </a:r>
            <a:r>
              <a:rPr lang="en-US" b="1" i="0" u="none" strike="noStrike" dirty="0">
                <a:solidFill>
                  <a:srgbClr val="C00000"/>
                </a:solidFill>
                <a:latin typeface="Noto Sans SC"/>
                <a:ea typeface="Noto Sans SC"/>
                <a:cs typeface="Noto Sans SC"/>
                <a:sym typeface="Noto Sans SC"/>
              </a:rPr>
              <a:t>？”</a:t>
            </a:r>
          </a:p>
          <a:p>
            <a:pPr marL="0" indent="0" algn="l">
              <a:lnSpc>
                <a:spcPct val="100000"/>
              </a:lnSpc>
              <a:defRPr/>
            </a:pPr>
            <a:endParaRPr lang="en-US" sz="100" b="1" i="0" u="none" strike="noStrike" dirty="0">
              <a:solidFill>
                <a:srgbClr val="C00000"/>
              </a:solidFill>
              <a:latin typeface="Noto Sans SC"/>
              <a:ea typeface="Noto Sans SC"/>
              <a:cs typeface="Noto Sans SC"/>
              <a:sym typeface="Noto Sans SC"/>
            </a:endParaRPr>
          </a:p>
          <a:p>
            <a:pPr marL="0" indent="0" algn="l">
              <a:lnSpc>
                <a:spcPct val="100000"/>
              </a:lnSpc>
              <a:defRPr/>
            </a:pPr>
            <a:endParaRPr lang="en-US" sz="100" dirty="0">
              <a:solidFill>
                <a:srgbClr val="C00000"/>
              </a:solidFill>
            </a:endParaRPr>
          </a:p>
          <a:p>
            <a:pPr marL="0" indent="0" algn="l">
              <a:lnSpc>
                <a:spcPct val="100000"/>
              </a:lnSpc>
            </a:pPr>
            <a:endParaRPr lang="en-US" sz="1400" b="0" i="0" u="none" strike="noStrike" dirty="0">
              <a:latin typeface="Noto Sans SC"/>
              <a:ea typeface="Noto Sans SC"/>
              <a:cs typeface="Noto Sans SC"/>
              <a:sym typeface="Noto Sans SC"/>
            </a:endParaRPr>
          </a:p>
        </p:txBody>
      </p:sp>
      <p:sp>
        <p:nvSpPr>
          <p:cNvPr id="62" name="AutoShape 15">
            <a:extLst>
              <a:ext uri="{FF2B5EF4-FFF2-40B4-BE49-F238E27FC236}">
                <a16:creationId xmlns:a16="http://schemas.microsoft.com/office/drawing/2014/main" id="{F833DA62-0713-5BCE-C093-CD49017FFE76}"/>
              </a:ext>
            </a:extLst>
          </p:cNvPr>
          <p:cNvSpPr/>
          <p:nvPr/>
        </p:nvSpPr>
        <p:spPr>
          <a:xfrm>
            <a:off x="6239630" y="2174278"/>
            <a:ext cx="5270500" cy="4117689"/>
          </a:xfrm>
          <a:prstGeom prst="roundRect">
            <a:avLst>
              <a:gd name="adj" fmla="val 0"/>
            </a:avLst>
          </a:prstGeom>
          <a:solidFill>
            <a:srgbClr val="FFFFFF">
              <a:alpha val="8000"/>
            </a:srgbClr>
          </a:solidFill>
          <a:ln w="25400" cap="flat" cmpd="sng">
            <a:solidFill>
              <a:schemeClr val="tx1">
                <a:alpha val="30000"/>
              </a:schemeClr>
            </a:solidFill>
            <a:prstDash val="solid"/>
            <a:round/>
          </a:ln>
        </p:spPr>
        <p:txBody>
          <a:bodyPr vert="horz" wrap="square" lIns="63500" tIns="63500" rIns="63500" bIns="63500" rtlCol="0" anchor="ctr"/>
          <a:lstStyle/>
          <a:p>
            <a:pPr algn="ctr">
              <a:defRPr/>
            </a:pPr>
            <a:endParaRPr dirty="0"/>
          </a:p>
        </p:txBody>
      </p:sp>
      <p:cxnSp>
        <p:nvCxnSpPr>
          <p:cNvPr id="65" name="Connector 18">
            <a:extLst>
              <a:ext uri="{FF2B5EF4-FFF2-40B4-BE49-F238E27FC236}">
                <a16:creationId xmlns:a16="http://schemas.microsoft.com/office/drawing/2014/main" id="{E607E14A-57A0-1425-6657-B61C02BAD812}"/>
              </a:ext>
            </a:extLst>
          </p:cNvPr>
          <p:cNvCxnSpPr>
            <a:cxnSpLocks/>
          </p:cNvCxnSpPr>
          <p:nvPr/>
        </p:nvCxnSpPr>
        <p:spPr>
          <a:xfrm>
            <a:off x="761992" y="1978354"/>
            <a:ext cx="10668008" cy="2"/>
          </a:xfrm>
          <a:prstGeom prst="straightConnector1">
            <a:avLst/>
          </a:prstGeom>
          <a:solidFill>
            <a:srgbClr val="DEE0E3">
              <a:alpha val="100000"/>
            </a:srgbClr>
          </a:solidFill>
          <a:ln w="50800" cap="flat" cmpd="sng">
            <a:solidFill>
              <a:srgbClr val="C00000"/>
            </a:solidFill>
            <a:prstDash val="solid"/>
            <a:round/>
            <a:headEnd type="none" w="med" len="med"/>
            <a:tailEnd type="none" w="med" len="med"/>
          </a:ln>
        </p:spPr>
      </p:cxnSp>
      <p:pic>
        <p:nvPicPr>
          <p:cNvPr id="70" name="图片 69">
            <a:extLst>
              <a:ext uri="{FF2B5EF4-FFF2-40B4-BE49-F238E27FC236}">
                <a16:creationId xmlns:a16="http://schemas.microsoft.com/office/drawing/2014/main" id="{33FAE3A6-D7E1-9756-4AF7-D2F7900ACD11}"/>
              </a:ext>
            </a:extLst>
          </p:cNvPr>
          <p:cNvPicPr>
            <a:picLocks noChangeAspect="1"/>
          </p:cNvPicPr>
          <p:nvPr/>
        </p:nvPicPr>
        <p:blipFill>
          <a:blip r:embed="rId3">
            <a:extLst>
              <a:ext uri="{28A0092B-C50C-407E-A947-70E740481C1C}">
                <a14:useLocalDpi xmlns:a14="http://schemas.microsoft.com/office/drawing/2010/main" val="0"/>
              </a:ext>
            </a:extLst>
          </a:blip>
          <a:srcRect l="8502" t="57195" r="23526" b="22300"/>
          <a:stretch>
            <a:fillRect/>
          </a:stretch>
        </p:blipFill>
        <p:spPr>
          <a:xfrm>
            <a:off x="8675977" y="1046283"/>
            <a:ext cx="2965844" cy="894706"/>
          </a:xfrm>
          <a:prstGeom prst="rect">
            <a:avLst/>
          </a:prstGeom>
        </p:spPr>
      </p:pic>
      <p:pic>
        <p:nvPicPr>
          <p:cNvPr id="5" name="图片 4">
            <a:extLst>
              <a:ext uri="{FF2B5EF4-FFF2-40B4-BE49-F238E27FC236}">
                <a16:creationId xmlns:a16="http://schemas.microsoft.com/office/drawing/2014/main" id="{D30EAF1F-87BC-97D1-C45B-CE914A6DE607}"/>
              </a:ext>
            </a:extLst>
          </p:cNvPr>
          <p:cNvPicPr>
            <a:picLocks noChangeAspect="1"/>
          </p:cNvPicPr>
          <p:nvPr/>
        </p:nvPicPr>
        <p:blipFill>
          <a:blip r:embed="rId4"/>
          <a:stretch>
            <a:fillRect/>
          </a:stretch>
        </p:blipFill>
        <p:spPr>
          <a:xfrm>
            <a:off x="1366721" y="2816795"/>
            <a:ext cx="3988005" cy="3149762"/>
          </a:xfrm>
          <a:prstGeom prst="rect">
            <a:avLst/>
          </a:prstGeom>
        </p:spPr>
      </p:pic>
      <p:pic>
        <p:nvPicPr>
          <p:cNvPr id="7" name="图片 6">
            <a:extLst>
              <a:ext uri="{FF2B5EF4-FFF2-40B4-BE49-F238E27FC236}">
                <a16:creationId xmlns:a16="http://schemas.microsoft.com/office/drawing/2014/main" id="{85C5BF97-5CFF-9109-8108-9D659647CA59}"/>
              </a:ext>
            </a:extLst>
          </p:cNvPr>
          <p:cNvPicPr>
            <a:picLocks noChangeAspect="1"/>
          </p:cNvPicPr>
          <p:nvPr/>
        </p:nvPicPr>
        <p:blipFill>
          <a:blip r:embed="rId5"/>
          <a:stretch>
            <a:fillRect/>
          </a:stretch>
        </p:blipFill>
        <p:spPr>
          <a:xfrm>
            <a:off x="7212776" y="2719486"/>
            <a:ext cx="3261835" cy="3338645"/>
          </a:xfrm>
          <a:prstGeom prst="rect">
            <a:avLst/>
          </a:prstGeom>
        </p:spPr>
      </p:pic>
    </p:spTree>
    <p:extLst>
      <p:ext uri="{BB962C8B-B14F-4D97-AF65-F5344CB8AC3E}">
        <p14:creationId xmlns:p14="http://schemas.microsoft.com/office/powerpoint/2010/main" val="165383265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68D82-55DF-6FEA-AFD8-0844016B6145}"/>
            </a:ext>
          </a:extLst>
        </p:cNvPr>
        <p:cNvGrpSpPr/>
        <p:nvPr/>
      </p:nvGrpSpPr>
      <p:grpSpPr>
        <a:xfrm>
          <a:off x="0" y="0"/>
          <a:ext cx="0" cy="0"/>
          <a:chOff x="0" y="0"/>
          <a:chExt cx="0" cy="0"/>
        </a:xfrm>
      </p:grpSpPr>
      <p:sp>
        <p:nvSpPr>
          <p:cNvPr id="31" name="矩形 30">
            <a:extLst>
              <a:ext uri="{FF2B5EF4-FFF2-40B4-BE49-F238E27FC236}">
                <a16:creationId xmlns:a16="http://schemas.microsoft.com/office/drawing/2014/main" id="{831D43E4-AAC4-DB9D-1AE3-64026B138850}"/>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35" name="平行四边形 34">
            <a:extLst>
              <a:ext uri="{FF2B5EF4-FFF2-40B4-BE49-F238E27FC236}">
                <a16:creationId xmlns:a16="http://schemas.microsoft.com/office/drawing/2014/main" id="{9A68A800-A2F1-758C-16BA-7B0333D8F06E}"/>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平行四边形 36">
            <a:extLst>
              <a:ext uri="{FF2B5EF4-FFF2-40B4-BE49-F238E27FC236}">
                <a16:creationId xmlns:a16="http://schemas.microsoft.com/office/drawing/2014/main" id="{5EC0187C-8341-5CEC-6C53-1FC1D73A7552}"/>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880E3DD7-9B62-E67D-4A5F-60BDA43C017B}"/>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用户反馈</a:t>
            </a:r>
            <a:endParaRPr lang="en-US" altLang="zh-CN" sz="3600" dirty="0"/>
          </a:p>
        </p:txBody>
      </p:sp>
      <p:pic>
        <p:nvPicPr>
          <p:cNvPr id="41" name="图片 40">
            <a:extLst>
              <a:ext uri="{FF2B5EF4-FFF2-40B4-BE49-F238E27FC236}">
                <a16:creationId xmlns:a16="http://schemas.microsoft.com/office/drawing/2014/main" id="{C7EBC254-D586-2102-B947-7332A598396B}"/>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51" name="AutoShape 4">
            <a:extLst>
              <a:ext uri="{FF2B5EF4-FFF2-40B4-BE49-F238E27FC236}">
                <a16:creationId xmlns:a16="http://schemas.microsoft.com/office/drawing/2014/main" id="{555F9DD3-5D46-07AC-BC4C-C5D4228234F7}"/>
              </a:ext>
            </a:extLst>
          </p:cNvPr>
          <p:cNvSpPr/>
          <p:nvPr/>
        </p:nvSpPr>
        <p:spPr>
          <a:xfrm>
            <a:off x="762000" y="1066732"/>
            <a:ext cx="1066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err="1">
                <a:latin typeface="Noto Sans SC"/>
                <a:ea typeface="Noto Sans SC"/>
                <a:cs typeface="Noto Sans SC"/>
                <a:sym typeface="Noto Sans SC"/>
              </a:rPr>
              <a:t>诚实反馈与快速迭代</a:t>
            </a:r>
            <a:endParaRPr lang="en-US" sz="2200" dirty="0"/>
          </a:p>
        </p:txBody>
      </p:sp>
      <p:sp>
        <p:nvSpPr>
          <p:cNvPr id="52" name="AutoShape 5">
            <a:extLst>
              <a:ext uri="{FF2B5EF4-FFF2-40B4-BE49-F238E27FC236}">
                <a16:creationId xmlns:a16="http://schemas.microsoft.com/office/drawing/2014/main" id="{468D2AEE-FD4A-5E66-9E4A-D8CCE464EE14}"/>
              </a:ext>
            </a:extLst>
          </p:cNvPr>
          <p:cNvSpPr/>
          <p:nvPr/>
        </p:nvSpPr>
        <p:spPr>
          <a:xfrm>
            <a:off x="761992" y="1548597"/>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latin typeface="Noto Sans SC"/>
                <a:ea typeface="Noto Sans SC"/>
                <a:cs typeface="Noto Sans SC"/>
                <a:sym typeface="Noto Sans SC"/>
              </a:rPr>
              <a:t>最常被追问的问题，正是产品需求的最强验证信号</a:t>
            </a:r>
            <a:endParaRPr lang="en-US" sz="1200" dirty="0"/>
          </a:p>
        </p:txBody>
      </p:sp>
      <p:cxnSp>
        <p:nvCxnSpPr>
          <p:cNvPr id="65" name="Connector 18">
            <a:extLst>
              <a:ext uri="{FF2B5EF4-FFF2-40B4-BE49-F238E27FC236}">
                <a16:creationId xmlns:a16="http://schemas.microsoft.com/office/drawing/2014/main" id="{DC9BE543-BD1A-204F-EC08-11CA0B9B0984}"/>
              </a:ext>
            </a:extLst>
          </p:cNvPr>
          <p:cNvCxnSpPr>
            <a:cxnSpLocks/>
          </p:cNvCxnSpPr>
          <p:nvPr/>
        </p:nvCxnSpPr>
        <p:spPr>
          <a:xfrm>
            <a:off x="761992" y="1978354"/>
            <a:ext cx="10668008" cy="2"/>
          </a:xfrm>
          <a:prstGeom prst="straightConnector1">
            <a:avLst/>
          </a:prstGeom>
          <a:solidFill>
            <a:srgbClr val="DEE0E3">
              <a:alpha val="100000"/>
            </a:srgbClr>
          </a:solidFill>
          <a:ln w="50800" cap="flat" cmpd="sng">
            <a:solidFill>
              <a:srgbClr val="C00000"/>
            </a:solidFill>
            <a:prstDash val="solid"/>
            <a:round/>
            <a:headEnd type="none" w="med" len="med"/>
            <a:tailEnd type="none" w="med" len="med"/>
          </a:ln>
        </p:spPr>
      </p:cxnSp>
      <p:sp>
        <p:nvSpPr>
          <p:cNvPr id="66" name="AutoShape 19">
            <a:extLst>
              <a:ext uri="{FF2B5EF4-FFF2-40B4-BE49-F238E27FC236}">
                <a16:creationId xmlns:a16="http://schemas.microsoft.com/office/drawing/2014/main" id="{D18721BB-C347-F475-5931-CAD6EBA71909}"/>
              </a:ext>
            </a:extLst>
          </p:cNvPr>
          <p:cNvSpPr/>
          <p:nvPr/>
        </p:nvSpPr>
        <p:spPr>
          <a:xfrm>
            <a:off x="761991" y="4931840"/>
            <a:ext cx="2339018"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2000" b="1" i="0" u="none" strike="noStrike" dirty="0" err="1">
                <a:latin typeface="Noto Sans SC"/>
                <a:ea typeface="Noto Sans SC"/>
                <a:cs typeface="Noto Sans SC"/>
                <a:sym typeface="Noto Sans SC"/>
              </a:rPr>
              <a:t>用户画像验证</a:t>
            </a:r>
            <a:r>
              <a:rPr lang="en-US" sz="2000" b="1" i="0" u="none" strike="noStrike" dirty="0">
                <a:latin typeface="Noto Sans SC"/>
                <a:ea typeface="Noto Sans SC"/>
                <a:cs typeface="Noto Sans SC"/>
                <a:sym typeface="Noto Sans SC"/>
              </a:rPr>
              <a:t>：</a:t>
            </a:r>
          </a:p>
          <a:p>
            <a:pPr marL="0" indent="0" algn="l">
              <a:lnSpc>
                <a:spcPct val="108333"/>
              </a:lnSpc>
              <a:defRPr/>
            </a:pPr>
            <a:endParaRPr lang="en-US" sz="200" b="1" i="0" u="none" strike="noStrike" dirty="0">
              <a:latin typeface="Noto Sans SC"/>
              <a:ea typeface="Noto Sans SC"/>
              <a:cs typeface="Noto Sans SC"/>
              <a:sym typeface="Noto Sans SC"/>
            </a:endParaRPr>
          </a:p>
          <a:p>
            <a:pPr marL="0" indent="0" algn="l">
              <a:lnSpc>
                <a:spcPct val="108333"/>
              </a:lnSpc>
              <a:defRPr/>
            </a:pPr>
            <a:r>
              <a:rPr lang="en-US" sz="1700" b="0" i="0" u="none" strike="noStrike" dirty="0" err="1">
                <a:latin typeface="Noto Sans SC"/>
                <a:ea typeface="Noto Sans SC"/>
                <a:cs typeface="Noto Sans SC"/>
                <a:sym typeface="Noto Sans SC"/>
              </a:rPr>
              <a:t>三类目标客群对「省时高效」与「数据不出网」高度敏感，直接反哺商业模式优化，聚焦高频刚需场景</a:t>
            </a:r>
            <a:r>
              <a:rPr lang="en-US" sz="1700" b="0" i="0" u="none" strike="noStrike" dirty="0">
                <a:latin typeface="Noto Sans SC"/>
                <a:ea typeface="Noto Sans SC"/>
                <a:cs typeface="Noto Sans SC"/>
                <a:sym typeface="Noto Sans SC"/>
              </a:rPr>
              <a:t>。</a:t>
            </a:r>
            <a:endParaRPr lang="en-US" sz="1700" dirty="0"/>
          </a:p>
        </p:txBody>
      </p:sp>
      <p:sp>
        <p:nvSpPr>
          <p:cNvPr id="67" name="AutoShape 20">
            <a:extLst>
              <a:ext uri="{FF2B5EF4-FFF2-40B4-BE49-F238E27FC236}">
                <a16:creationId xmlns:a16="http://schemas.microsoft.com/office/drawing/2014/main" id="{0DB4EB49-3300-B944-E930-68FABC26DAB1}"/>
              </a:ext>
            </a:extLst>
          </p:cNvPr>
          <p:cNvSpPr/>
          <p:nvPr/>
        </p:nvSpPr>
        <p:spPr>
          <a:xfrm>
            <a:off x="761991" y="2788348"/>
            <a:ext cx="2339018"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2000" b="1" i="0" u="none" strike="noStrike" dirty="0" err="1">
                <a:latin typeface="Noto Sans SC"/>
                <a:ea typeface="Noto Sans SC"/>
                <a:cs typeface="Noto Sans SC"/>
                <a:sym typeface="Noto Sans SC"/>
              </a:rPr>
              <a:t>多维反馈闭环</a:t>
            </a:r>
            <a:r>
              <a:rPr lang="en-US" sz="2000" b="1" i="0" u="none" strike="noStrike" dirty="0">
                <a:latin typeface="Noto Sans SC"/>
                <a:ea typeface="Noto Sans SC"/>
                <a:cs typeface="Noto Sans SC"/>
                <a:sym typeface="Noto Sans SC"/>
              </a:rPr>
              <a:t>：</a:t>
            </a:r>
          </a:p>
          <a:p>
            <a:pPr marL="0" indent="0" algn="l">
              <a:lnSpc>
                <a:spcPct val="108333"/>
              </a:lnSpc>
              <a:defRPr/>
            </a:pPr>
            <a:endParaRPr lang="en-US" sz="200" b="1" i="0" u="none" strike="noStrike" dirty="0">
              <a:latin typeface="Noto Sans SC"/>
              <a:ea typeface="Noto Sans SC"/>
              <a:cs typeface="Noto Sans SC"/>
              <a:sym typeface="Noto Sans SC"/>
            </a:endParaRPr>
          </a:p>
          <a:p>
            <a:pPr marL="0" indent="0" algn="l">
              <a:lnSpc>
                <a:spcPct val="108333"/>
              </a:lnSpc>
              <a:defRPr/>
            </a:pPr>
            <a:r>
              <a:rPr lang="en-US" sz="1700" b="0" i="0" u="none" strike="noStrike" dirty="0" err="1">
                <a:latin typeface="Noto Sans SC"/>
                <a:ea typeface="Noto Sans SC"/>
                <a:cs typeface="Noto Sans SC"/>
                <a:sym typeface="Noto Sans SC"/>
              </a:rPr>
              <a:t>建立内测社群、试用问卷、律所深度访谈及典型案例征集的多维机制，构建快速迭代的需求洞察体系</a:t>
            </a:r>
            <a:r>
              <a:rPr lang="en-US" sz="1700" b="0" i="0" u="none" strike="noStrike" dirty="0">
                <a:latin typeface="Noto Sans SC"/>
                <a:ea typeface="Noto Sans SC"/>
                <a:cs typeface="Noto Sans SC"/>
                <a:sym typeface="Noto Sans SC"/>
              </a:rPr>
              <a:t>。</a:t>
            </a:r>
            <a:endParaRPr lang="en-US" sz="1700" dirty="0"/>
          </a:p>
        </p:txBody>
      </p:sp>
      <p:pic>
        <p:nvPicPr>
          <p:cNvPr id="70" name="图片 69">
            <a:extLst>
              <a:ext uri="{FF2B5EF4-FFF2-40B4-BE49-F238E27FC236}">
                <a16:creationId xmlns:a16="http://schemas.microsoft.com/office/drawing/2014/main" id="{435AAACA-E7EA-5FC3-BFD4-7ED9C6210DA2}"/>
              </a:ext>
            </a:extLst>
          </p:cNvPr>
          <p:cNvPicPr>
            <a:picLocks noChangeAspect="1"/>
          </p:cNvPicPr>
          <p:nvPr/>
        </p:nvPicPr>
        <p:blipFill>
          <a:blip r:embed="rId3">
            <a:extLst>
              <a:ext uri="{28A0092B-C50C-407E-A947-70E740481C1C}">
                <a14:useLocalDpi xmlns:a14="http://schemas.microsoft.com/office/drawing/2010/main" val="0"/>
              </a:ext>
            </a:extLst>
          </a:blip>
          <a:srcRect l="8502" t="57195" r="23526" b="22300"/>
          <a:stretch>
            <a:fillRect/>
          </a:stretch>
        </p:blipFill>
        <p:spPr>
          <a:xfrm>
            <a:off x="8675977" y="1046283"/>
            <a:ext cx="2965844" cy="894706"/>
          </a:xfrm>
          <a:prstGeom prst="rect">
            <a:avLst/>
          </a:prstGeom>
        </p:spPr>
      </p:pic>
      <p:sp>
        <p:nvSpPr>
          <p:cNvPr id="3" name="矩形 2">
            <a:extLst>
              <a:ext uri="{FF2B5EF4-FFF2-40B4-BE49-F238E27FC236}">
                <a16:creationId xmlns:a16="http://schemas.microsoft.com/office/drawing/2014/main" id="{4A55F157-C088-BD84-D0F2-A79806F76E14}"/>
              </a:ext>
            </a:extLst>
          </p:cNvPr>
          <p:cNvSpPr/>
          <p:nvPr/>
        </p:nvSpPr>
        <p:spPr>
          <a:xfrm>
            <a:off x="0" y="6487888"/>
            <a:ext cx="12192000" cy="370112"/>
          </a:xfrm>
          <a:prstGeom prst="rect">
            <a:avLst/>
          </a:prstGeom>
          <a:solidFill>
            <a:srgbClr val="E43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C1845908-18E1-DFB6-B3B9-6F386A83CA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4463" y="2402335"/>
            <a:ext cx="4375852" cy="3071790"/>
          </a:xfrm>
          <a:prstGeom prst="rect">
            <a:avLst/>
          </a:prstGeom>
        </p:spPr>
      </p:pic>
      <p:pic>
        <p:nvPicPr>
          <p:cNvPr id="14" name="图片 13">
            <a:extLst>
              <a:ext uri="{FF2B5EF4-FFF2-40B4-BE49-F238E27FC236}">
                <a16:creationId xmlns:a16="http://schemas.microsoft.com/office/drawing/2014/main" id="{3931B594-B911-446E-124D-8EF4C6FC13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56298" y="2438060"/>
            <a:ext cx="3793711" cy="3123000"/>
          </a:xfrm>
          <a:prstGeom prst="rect">
            <a:avLst/>
          </a:prstGeom>
        </p:spPr>
      </p:pic>
    </p:spTree>
    <p:extLst>
      <p:ext uri="{BB962C8B-B14F-4D97-AF65-F5344CB8AC3E}">
        <p14:creationId xmlns:p14="http://schemas.microsoft.com/office/powerpoint/2010/main" val="159489055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538ED478-C304-4F53-88CA-57959F1E860E}"/>
              </a:ext>
            </a:extLst>
          </p:cNvPr>
          <p:cNvSpPr/>
          <p:nvPr/>
        </p:nvSpPr>
        <p:spPr>
          <a:xfrm>
            <a:off x="531300" y="1058853"/>
            <a:ext cx="6750326" cy="2614185"/>
          </a:xfrm>
          <a:prstGeom prst="rect">
            <a:avLst/>
          </a:prstGeom>
          <a:noFill/>
          <a:ln w="19050">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14528132-412F-4B41-A96D-DA7A48CB162D}"/>
              </a:ext>
            </a:extLst>
          </p:cNvPr>
          <p:cNvSpPr/>
          <p:nvPr/>
        </p:nvSpPr>
        <p:spPr>
          <a:xfrm>
            <a:off x="531300" y="3673039"/>
            <a:ext cx="6750326" cy="2906666"/>
          </a:xfrm>
          <a:prstGeom prst="rect">
            <a:avLst/>
          </a:prstGeom>
          <a:noFill/>
          <a:ln w="19050">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7EFD1223-B654-FADD-8B28-2D37A6A504BA}"/>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6" name="平行四边形 25">
            <a:extLst>
              <a:ext uri="{FF2B5EF4-FFF2-40B4-BE49-F238E27FC236}">
                <a16:creationId xmlns:a16="http://schemas.microsoft.com/office/drawing/2014/main" id="{5AE603CE-3937-5A23-7115-617BA81ECBBD}"/>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a:extLst>
              <a:ext uri="{FF2B5EF4-FFF2-40B4-BE49-F238E27FC236}">
                <a16:creationId xmlns:a16="http://schemas.microsoft.com/office/drawing/2014/main" id="{41A126A9-574D-42F5-0A9A-6C7BA6D97ED6}"/>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A1CAE8B3-40DF-AF8C-0D54-61DC2B6A4271}"/>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未来规划</a:t>
            </a:r>
            <a:endParaRPr lang="en-US" altLang="zh-CN" sz="3600" dirty="0"/>
          </a:p>
        </p:txBody>
      </p:sp>
      <p:pic>
        <p:nvPicPr>
          <p:cNvPr id="32" name="图片 31">
            <a:extLst>
              <a:ext uri="{FF2B5EF4-FFF2-40B4-BE49-F238E27FC236}">
                <a16:creationId xmlns:a16="http://schemas.microsoft.com/office/drawing/2014/main" id="{358BF50D-3251-B6DC-01FD-769D663FC3E0}"/>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25" name="AutoShape 14">
            <a:extLst>
              <a:ext uri="{FF2B5EF4-FFF2-40B4-BE49-F238E27FC236}">
                <a16:creationId xmlns:a16="http://schemas.microsoft.com/office/drawing/2014/main" id="{85310550-87D9-5399-5180-70C91E5B9539}"/>
              </a:ext>
            </a:extLst>
          </p:cNvPr>
          <p:cNvSpPr/>
          <p:nvPr/>
        </p:nvSpPr>
        <p:spPr>
          <a:xfrm>
            <a:off x="7536054" y="4296550"/>
            <a:ext cx="4124646" cy="98185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1" i="0" u="none" strike="noStrike" dirty="0">
                <a:latin typeface="Noto Sans SC"/>
                <a:ea typeface="Noto Sans SC"/>
                <a:cs typeface="Noto Sans SC"/>
                <a:sym typeface="Noto Sans SC"/>
              </a:rPr>
              <a:t>“ </a:t>
            </a:r>
            <a:r>
              <a:rPr lang="en-US" b="1" i="0" u="none" strike="noStrike" dirty="0" err="1">
                <a:latin typeface="Noto Sans SC"/>
                <a:ea typeface="Noto Sans SC"/>
                <a:cs typeface="Noto Sans SC"/>
                <a:sym typeface="Noto Sans SC"/>
              </a:rPr>
              <a:t>以技术创新为引擎，从基础建设迈向智能进化，构建安全、可信、自适应的智能法律服务生态</a:t>
            </a:r>
            <a:r>
              <a:rPr lang="en-US" b="1" i="0" u="none" strike="noStrike" dirty="0">
                <a:latin typeface="Noto Sans SC"/>
                <a:ea typeface="Noto Sans SC"/>
                <a:cs typeface="Noto Sans SC"/>
                <a:sym typeface="Noto Sans SC"/>
              </a:rPr>
              <a:t> ”</a:t>
            </a:r>
            <a:endParaRPr lang="en-US" sz="1400" b="1" dirty="0"/>
          </a:p>
        </p:txBody>
      </p:sp>
      <p:sp>
        <p:nvSpPr>
          <p:cNvPr id="44" name="AutoShape 10">
            <a:extLst>
              <a:ext uri="{FF2B5EF4-FFF2-40B4-BE49-F238E27FC236}">
                <a16:creationId xmlns:a16="http://schemas.microsoft.com/office/drawing/2014/main" id="{0D2E8A4B-B1B8-D23D-D3C9-8C044A93F5BA}"/>
              </a:ext>
            </a:extLst>
          </p:cNvPr>
          <p:cNvSpPr/>
          <p:nvPr/>
        </p:nvSpPr>
        <p:spPr>
          <a:xfrm>
            <a:off x="725296" y="3762296"/>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C00000"/>
                </a:solidFill>
                <a:latin typeface="Noto Sans SC"/>
                <a:ea typeface="Noto Sans SC"/>
                <a:cs typeface="Noto Sans SC"/>
                <a:sym typeface="Noto Sans SC"/>
              </a:rPr>
              <a:t>0.8.0 </a:t>
            </a:r>
            <a:r>
              <a:rPr lang="en-US" sz="2400" b="1" i="0" u="none" strike="noStrike" dirty="0" err="1">
                <a:solidFill>
                  <a:srgbClr val="C00000"/>
                </a:solidFill>
                <a:latin typeface="Noto Sans SC"/>
                <a:ea typeface="Noto Sans SC"/>
                <a:cs typeface="Noto Sans SC"/>
                <a:sym typeface="Noto Sans SC"/>
              </a:rPr>
              <a:t>版本</a:t>
            </a:r>
            <a:r>
              <a:rPr lang="en-US" sz="2400" b="1" i="0" u="none" strike="noStrike" dirty="0">
                <a:solidFill>
                  <a:srgbClr val="C00000"/>
                </a:solidFill>
                <a:latin typeface="Noto Sans SC"/>
                <a:ea typeface="Noto Sans SC"/>
                <a:cs typeface="Noto Sans SC"/>
                <a:sym typeface="Noto Sans SC"/>
              </a:rPr>
              <a:t> · </a:t>
            </a:r>
            <a:r>
              <a:rPr lang="en-US" sz="2400" b="1" i="0" u="none" strike="noStrike" dirty="0" err="1">
                <a:solidFill>
                  <a:srgbClr val="C00000"/>
                </a:solidFill>
                <a:latin typeface="Noto Sans SC"/>
                <a:ea typeface="Noto Sans SC"/>
                <a:cs typeface="Noto Sans SC"/>
                <a:sym typeface="Noto Sans SC"/>
              </a:rPr>
              <a:t>智能进化</a:t>
            </a:r>
            <a:endParaRPr lang="en-US" sz="1200" dirty="0">
              <a:solidFill>
                <a:srgbClr val="C00000"/>
              </a:solidFill>
            </a:endParaRPr>
          </a:p>
        </p:txBody>
      </p:sp>
      <p:sp>
        <p:nvSpPr>
          <p:cNvPr id="46" name="AutoShape 11">
            <a:extLst>
              <a:ext uri="{FF2B5EF4-FFF2-40B4-BE49-F238E27FC236}">
                <a16:creationId xmlns:a16="http://schemas.microsoft.com/office/drawing/2014/main" id="{CDCA84BE-8D53-CDDC-907E-DC95D6AE7841}"/>
              </a:ext>
            </a:extLst>
          </p:cNvPr>
          <p:cNvSpPr/>
          <p:nvPr/>
        </p:nvSpPr>
        <p:spPr>
          <a:xfrm>
            <a:off x="5184937" y="3814154"/>
            <a:ext cx="1705296" cy="456142"/>
          </a:xfrm>
          <a:prstGeom prst="roundRect">
            <a:avLst>
              <a:gd name="adj" fmla="val 0"/>
            </a:avLst>
          </a:prstGeom>
          <a:solidFill>
            <a:srgbClr val="FF0000">
              <a:alpha val="15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err="1">
                <a:solidFill>
                  <a:srgbClr val="C00000"/>
                </a:solidFill>
                <a:latin typeface="Noto Sans SC"/>
                <a:ea typeface="Noto Sans SC"/>
                <a:cs typeface="Noto Sans SC"/>
                <a:sym typeface="Noto Sans SC"/>
              </a:rPr>
              <a:t>方案稿</a:t>
            </a:r>
            <a:r>
              <a:rPr lang="en-US" sz="1400" b="1" i="0" u="none" strike="noStrike" dirty="0">
                <a:solidFill>
                  <a:srgbClr val="C00000"/>
                </a:solidFill>
                <a:latin typeface="Noto Sans SC"/>
                <a:ea typeface="Noto Sans SC"/>
                <a:cs typeface="Noto Sans SC"/>
                <a:sym typeface="Noto Sans SC"/>
              </a:rPr>
              <a:t> · </a:t>
            </a:r>
            <a:r>
              <a:rPr lang="en-US" sz="1400" b="1" i="0" u="none" strike="noStrike" dirty="0" err="1">
                <a:solidFill>
                  <a:srgbClr val="C00000"/>
                </a:solidFill>
                <a:latin typeface="Noto Sans SC"/>
                <a:ea typeface="Noto Sans SC"/>
                <a:cs typeface="Noto Sans SC"/>
                <a:sym typeface="Noto Sans SC"/>
              </a:rPr>
              <a:t>创新突破</a:t>
            </a:r>
            <a:endParaRPr lang="en-US" sz="1200" b="1" dirty="0">
              <a:solidFill>
                <a:srgbClr val="C00000"/>
              </a:solidFill>
            </a:endParaRPr>
          </a:p>
        </p:txBody>
      </p:sp>
      <p:sp>
        <p:nvSpPr>
          <p:cNvPr id="48" name="AutoShape 13">
            <a:extLst>
              <a:ext uri="{FF2B5EF4-FFF2-40B4-BE49-F238E27FC236}">
                <a16:creationId xmlns:a16="http://schemas.microsoft.com/office/drawing/2014/main" id="{A2B4EBEE-9992-67F6-1E39-17EB7E823F45}"/>
              </a:ext>
            </a:extLst>
          </p:cNvPr>
          <p:cNvSpPr/>
          <p:nvPr/>
        </p:nvSpPr>
        <p:spPr>
          <a:xfrm>
            <a:off x="725296" y="4456516"/>
            <a:ext cx="6391120" cy="1830064"/>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b="1" i="0" u="none" strike="noStrike" dirty="0" err="1">
                <a:latin typeface="Noto Sans SC"/>
                <a:ea typeface="Noto Sans SC"/>
                <a:cs typeface="Noto Sans SC"/>
                <a:sym typeface="Noto Sans SC"/>
              </a:rPr>
              <a:t>核心：联邦配方进化</a:t>
            </a:r>
            <a:r>
              <a:rPr lang="en-US" b="1" i="0" u="none" strike="noStrike" dirty="0">
                <a:latin typeface="Noto Sans SC"/>
                <a:ea typeface="Noto Sans SC"/>
                <a:cs typeface="Noto Sans SC"/>
                <a:sym typeface="Noto Sans SC"/>
              </a:rPr>
              <a:t> (FRE)</a:t>
            </a:r>
            <a:br>
              <a:rPr lang="en-US" b="0" i="0" u="none" strike="noStrike" dirty="0">
                <a:latin typeface="Noto Sans SC"/>
                <a:ea typeface="Noto Sans SC"/>
                <a:cs typeface="Noto Sans SC"/>
                <a:sym typeface="Noto Sans SC"/>
              </a:rPr>
            </a:br>
            <a:r>
              <a:rPr lang="zh-CN" altLang="en-US" sz="1600" b="0" i="0" u="none" strike="noStrike" dirty="0">
                <a:latin typeface="Noto Sans SC"/>
                <a:ea typeface="Noto Sans SC"/>
                <a:cs typeface="Noto Sans SC"/>
                <a:sym typeface="Noto Sans SC"/>
              </a:rPr>
              <a:t>借鉴联邦学习 “数据不出本地” 的设计思路</a:t>
            </a:r>
            <a:r>
              <a:rPr lang="en-US" altLang="zh-CN" sz="1600" b="0" i="0" u="none" strike="noStrike" dirty="0">
                <a:latin typeface="Noto Sans SC"/>
                <a:ea typeface="Noto Sans SC"/>
                <a:cs typeface="Noto Sans SC"/>
                <a:sym typeface="Noto Sans SC"/>
              </a:rPr>
              <a:t>——</a:t>
            </a:r>
            <a:r>
              <a:rPr lang="zh-CN" altLang="en-US" sz="1600" b="0" i="0" u="none" strike="noStrike" dirty="0">
                <a:latin typeface="Noto Sans SC"/>
                <a:ea typeface="Noto Sans SC"/>
                <a:cs typeface="Noto Sans SC"/>
                <a:sym typeface="Noto Sans SC"/>
              </a:rPr>
              <a:t>本项目不训练大模型权重，迭代对象是提示词、任务工作范式。本地输出匿名统计配方向量的进化包，云端聚合后下发优化配方。</a:t>
            </a:r>
            <a:br>
              <a:rPr lang="en-US" b="0" i="0" u="none" strike="noStrike" dirty="0">
                <a:latin typeface="Noto Sans SC"/>
                <a:ea typeface="Noto Sans SC"/>
                <a:cs typeface="Noto Sans SC"/>
                <a:sym typeface="Noto Sans SC"/>
              </a:rPr>
            </a:br>
            <a:r>
              <a:rPr lang="en-US" altLang="zh-CN" b="1" dirty="0" err="1">
                <a:latin typeface="Noto Sans SC"/>
                <a:ea typeface="Noto Sans SC"/>
                <a:cs typeface="Noto Sans SC"/>
                <a:sym typeface="Noto Sans SC"/>
              </a:rPr>
              <a:t>迭代</a:t>
            </a:r>
            <a:r>
              <a:rPr lang="en-US" b="1" i="0" u="none" strike="noStrike" dirty="0">
                <a:latin typeface="Noto Sans SC"/>
                <a:ea typeface="Noto Sans SC"/>
                <a:cs typeface="Noto Sans SC"/>
                <a:sym typeface="Noto Sans SC"/>
              </a:rPr>
              <a:t>：</a:t>
            </a:r>
            <a:r>
              <a:rPr lang="zh-CN" altLang="en-US" b="1" i="0" u="none" strike="noStrike" dirty="0">
                <a:latin typeface="Noto Sans SC"/>
                <a:ea typeface="Noto Sans SC"/>
                <a:cs typeface="Noto Sans SC"/>
                <a:sym typeface="Noto Sans SC"/>
              </a:rPr>
              <a:t>云端数据库落实</a:t>
            </a:r>
            <a:br>
              <a:rPr lang="en-US" b="0" i="0" u="none" strike="noStrike" dirty="0">
                <a:latin typeface="Noto Sans SC"/>
                <a:ea typeface="Noto Sans SC"/>
                <a:cs typeface="Noto Sans SC"/>
                <a:sym typeface="Noto Sans SC"/>
              </a:rPr>
            </a:br>
            <a:r>
              <a:rPr lang="en-US" sz="1600" b="0" i="0" u="none" strike="noStrike" dirty="0" err="1">
                <a:latin typeface="Noto Sans SC"/>
                <a:ea typeface="Noto Sans SC"/>
                <a:cs typeface="Noto Sans SC"/>
                <a:sym typeface="Noto Sans SC"/>
              </a:rPr>
              <a:t>在严格保护用户隐私数据不出域的前提下</a:t>
            </a:r>
            <a:r>
              <a:rPr lang="en-US" sz="1600" b="0" i="0" u="none" strike="noStrike" dirty="0">
                <a:latin typeface="Noto Sans SC"/>
                <a:ea typeface="Noto Sans SC"/>
                <a:cs typeface="Noto Sans SC"/>
                <a:sym typeface="Noto Sans SC"/>
              </a:rPr>
              <a:t>，</a:t>
            </a:r>
            <a:r>
              <a:rPr lang="zh-CN" altLang="en-US" sz="1600" b="0" i="0" u="none" strike="noStrike" dirty="0">
                <a:latin typeface="Noto Sans SC"/>
                <a:ea typeface="Noto Sans SC"/>
                <a:cs typeface="Noto Sans SC"/>
                <a:sym typeface="Noto Sans SC"/>
              </a:rPr>
              <a:t>通过</a:t>
            </a:r>
            <a:r>
              <a:rPr lang="zh-CN" altLang="en-US" sz="1600" dirty="0">
                <a:latin typeface="Noto Sans SC"/>
                <a:ea typeface="Noto Sans SC"/>
                <a:cs typeface="Noto Sans SC"/>
                <a:sym typeface="Noto Sans SC"/>
              </a:rPr>
              <a:t>搭建</a:t>
            </a:r>
            <a:r>
              <a:rPr lang="zh-CN" altLang="en-US" sz="1600" b="0" i="0" u="none" strike="noStrike" dirty="0">
                <a:latin typeface="Noto Sans SC"/>
                <a:ea typeface="Noto Sans SC"/>
                <a:cs typeface="Noto Sans SC"/>
                <a:sym typeface="Noto Sans SC"/>
              </a:rPr>
              <a:t>云端数据库，实现高效响应能力同时</a:t>
            </a:r>
            <a:r>
              <a:rPr lang="en-US" sz="1600" b="0" i="0" u="none" strike="noStrike" dirty="0" err="1">
                <a:latin typeface="Noto Sans SC"/>
                <a:ea typeface="Noto Sans SC"/>
                <a:cs typeface="Noto Sans SC"/>
                <a:sym typeface="Noto Sans SC"/>
              </a:rPr>
              <a:t>让系统随用户需求与市场反馈持续自我优化</a:t>
            </a:r>
            <a:r>
              <a:rPr lang="en-US" sz="1600" b="0" i="0" u="none" strike="noStrike" dirty="0">
                <a:latin typeface="Noto Sans SC"/>
                <a:ea typeface="Noto Sans SC"/>
                <a:cs typeface="Noto Sans SC"/>
                <a:sym typeface="Noto Sans SC"/>
              </a:rPr>
              <a:t>。</a:t>
            </a:r>
            <a:endParaRPr lang="en-US" sz="1200" dirty="0"/>
          </a:p>
        </p:txBody>
      </p:sp>
      <p:sp>
        <p:nvSpPr>
          <p:cNvPr id="50" name="AutoShape 5">
            <a:extLst>
              <a:ext uri="{FF2B5EF4-FFF2-40B4-BE49-F238E27FC236}">
                <a16:creationId xmlns:a16="http://schemas.microsoft.com/office/drawing/2014/main" id="{FAA4C40F-EA62-99BC-8218-CD9415C953A7}"/>
              </a:ext>
            </a:extLst>
          </p:cNvPr>
          <p:cNvSpPr/>
          <p:nvPr/>
        </p:nvSpPr>
        <p:spPr>
          <a:xfrm>
            <a:off x="725296" y="1155751"/>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C00000"/>
                </a:solidFill>
                <a:latin typeface="Noto Sans SC"/>
                <a:ea typeface="Noto Sans SC"/>
                <a:cs typeface="Noto Sans SC"/>
                <a:sym typeface="Noto Sans SC"/>
              </a:rPr>
              <a:t>0.7.3 </a:t>
            </a:r>
            <a:r>
              <a:rPr lang="en-US" sz="2400" b="1" i="0" u="none" strike="noStrike" dirty="0" err="1">
                <a:solidFill>
                  <a:srgbClr val="C00000"/>
                </a:solidFill>
                <a:latin typeface="Noto Sans SC"/>
                <a:ea typeface="Noto Sans SC"/>
                <a:cs typeface="Noto Sans SC"/>
                <a:sym typeface="Noto Sans SC"/>
              </a:rPr>
              <a:t>版本</a:t>
            </a:r>
            <a:r>
              <a:rPr lang="en-US" sz="2400" b="1" i="0" u="none" strike="noStrike" dirty="0">
                <a:solidFill>
                  <a:srgbClr val="C00000"/>
                </a:solidFill>
                <a:latin typeface="Noto Sans SC"/>
                <a:ea typeface="Noto Sans SC"/>
                <a:cs typeface="Noto Sans SC"/>
                <a:sym typeface="Noto Sans SC"/>
              </a:rPr>
              <a:t> · </a:t>
            </a:r>
            <a:r>
              <a:rPr lang="en-US" sz="2400" b="1" i="0" u="none" strike="noStrike" dirty="0" err="1">
                <a:solidFill>
                  <a:srgbClr val="C00000"/>
                </a:solidFill>
                <a:latin typeface="Noto Sans SC"/>
                <a:ea typeface="Noto Sans SC"/>
                <a:cs typeface="Noto Sans SC"/>
                <a:sym typeface="Noto Sans SC"/>
              </a:rPr>
              <a:t>夯实基座</a:t>
            </a:r>
            <a:endParaRPr lang="en-US" sz="1200" dirty="0">
              <a:solidFill>
                <a:srgbClr val="C00000"/>
              </a:solidFill>
            </a:endParaRPr>
          </a:p>
        </p:txBody>
      </p:sp>
      <p:sp>
        <p:nvSpPr>
          <p:cNvPr id="52" name="AutoShape 6">
            <a:extLst>
              <a:ext uri="{FF2B5EF4-FFF2-40B4-BE49-F238E27FC236}">
                <a16:creationId xmlns:a16="http://schemas.microsoft.com/office/drawing/2014/main" id="{4F2C21B6-7C41-8972-1C69-3125EFC32CC9}"/>
              </a:ext>
            </a:extLst>
          </p:cNvPr>
          <p:cNvSpPr/>
          <p:nvPr/>
        </p:nvSpPr>
        <p:spPr>
          <a:xfrm>
            <a:off x="5178404" y="1222411"/>
            <a:ext cx="1705296" cy="424161"/>
          </a:xfrm>
          <a:prstGeom prst="roundRect">
            <a:avLst>
              <a:gd name="adj" fmla="val 0"/>
            </a:avLst>
          </a:prstGeom>
          <a:solidFill>
            <a:srgbClr val="FF0000">
              <a:alpha val="15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dirty="0" err="1">
                <a:solidFill>
                  <a:srgbClr val="C00000"/>
                </a:solidFill>
                <a:latin typeface="Noto Sans SC"/>
                <a:ea typeface="Noto Sans SC"/>
                <a:cs typeface="Noto Sans SC"/>
                <a:sym typeface="Noto Sans SC"/>
              </a:rPr>
              <a:t>Dev主线</a:t>
            </a:r>
            <a:r>
              <a:rPr lang="en-US" sz="1400" b="1" i="0" u="none" strike="noStrike" dirty="0">
                <a:solidFill>
                  <a:srgbClr val="C00000"/>
                </a:solidFill>
                <a:latin typeface="Noto Sans SC"/>
                <a:ea typeface="Noto Sans SC"/>
                <a:cs typeface="Noto Sans SC"/>
                <a:sym typeface="Noto Sans SC"/>
              </a:rPr>
              <a:t> · </a:t>
            </a:r>
            <a:r>
              <a:rPr lang="en-US" sz="1400" b="1" i="0" u="none" strike="noStrike" dirty="0" err="1">
                <a:solidFill>
                  <a:srgbClr val="C00000"/>
                </a:solidFill>
                <a:latin typeface="Noto Sans SC"/>
                <a:ea typeface="Noto Sans SC"/>
                <a:cs typeface="Noto Sans SC"/>
                <a:sym typeface="Noto Sans SC"/>
              </a:rPr>
              <a:t>已拆解</a:t>
            </a:r>
            <a:endParaRPr lang="en-US" sz="1200" b="1" dirty="0">
              <a:solidFill>
                <a:srgbClr val="C00000"/>
              </a:solidFill>
            </a:endParaRPr>
          </a:p>
        </p:txBody>
      </p:sp>
      <p:sp>
        <p:nvSpPr>
          <p:cNvPr id="54" name="AutoShape 8">
            <a:extLst>
              <a:ext uri="{FF2B5EF4-FFF2-40B4-BE49-F238E27FC236}">
                <a16:creationId xmlns:a16="http://schemas.microsoft.com/office/drawing/2014/main" id="{7D89C9BE-1C53-4297-2BCD-B28DB579628B}"/>
              </a:ext>
            </a:extLst>
          </p:cNvPr>
          <p:cNvSpPr/>
          <p:nvPr/>
        </p:nvSpPr>
        <p:spPr>
          <a:xfrm>
            <a:off x="750695" y="1698187"/>
            <a:ext cx="6365721" cy="18977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latin typeface="Noto Sans SC"/>
                <a:ea typeface="Noto Sans SC"/>
                <a:cs typeface="Noto Sans SC"/>
                <a:sym typeface="Noto Sans SC"/>
              </a:rPr>
              <a:t>核心：中文全量法库接入</a:t>
            </a:r>
            <a:br>
              <a:rPr lang="en-US" b="0" i="0" u="none" strike="noStrike" dirty="0">
                <a:latin typeface="Noto Sans SC"/>
                <a:ea typeface="Noto Sans SC"/>
                <a:cs typeface="Noto Sans SC"/>
                <a:sym typeface="Noto Sans SC"/>
              </a:rPr>
            </a:br>
            <a:r>
              <a:rPr lang="en-US" sz="1600" b="0" i="0" u="none" strike="noStrike" dirty="0" err="1">
                <a:latin typeface="Noto Sans SC"/>
                <a:ea typeface="Noto Sans SC"/>
                <a:cs typeface="Noto Sans SC"/>
                <a:sym typeface="Noto Sans SC"/>
              </a:rPr>
              <a:t>引入权威公开法律数据源，构建完整的中文法律知识图谱，为智能应用提供坚实的数据支撑</a:t>
            </a:r>
            <a:r>
              <a:rPr lang="en-US" sz="1600" b="0" i="0" u="none" strike="noStrike" dirty="0">
                <a:latin typeface="Noto Sans SC"/>
                <a:ea typeface="Noto Sans SC"/>
                <a:cs typeface="Noto Sans SC"/>
                <a:sym typeface="Noto Sans SC"/>
              </a:rPr>
              <a:t>。</a:t>
            </a:r>
            <a:br>
              <a:rPr lang="en-US" b="0" i="0" u="none" strike="noStrike" dirty="0">
                <a:latin typeface="Noto Sans SC"/>
                <a:ea typeface="Noto Sans SC"/>
                <a:cs typeface="Noto Sans SC"/>
                <a:sym typeface="Noto Sans SC"/>
              </a:rPr>
            </a:br>
            <a:r>
              <a:rPr lang="en-US" b="1" i="0" u="none" strike="noStrike" dirty="0" err="1">
                <a:latin typeface="Noto Sans SC"/>
                <a:ea typeface="Noto Sans SC"/>
                <a:cs typeface="Noto Sans SC"/>
                <a:sym typeface="Noto Sans SC"/>
              </a:rPr>
              <a:t>配套：工程化与稳定性升级</a:t>
            </a:r>
            <a:br>
              <a:rPr lang="en-US" b="0" i="0" u="none" strike="noStrike" dirty="0">
                <a:latin typeface="Noto Sans SC"/>
                <a:ea typeface="Noto Sans SC"/>
                <a:cs typeface="Noto Sans SC"/>
                <a:sym typeface="Noto Sans SC"/>
              </a:rPr>
            </a:br>
            <a:r>
              <a:rPr lang="en-US" sz="1600" b="0" i="0" u="none" strike="noStrike" dirty="0" err="1">
                <a:latin typeface="Noto Sans SC"/>
                <a:ea typeface="Noto Sans SC"/>
                <a:cs typeface="Noto Sans SC"/>
                <a:sym typeface="Noto Sans SC"/>
              </a:rPr>
              <a:t>部署自动备份调度机制，保障数据安全；优化Docx文档版式适配，提升输出体验；完善CI</a:t>
            </a:r>
            <a:r>
              <a:rPr lang="en-US" sz="1600" b="0" i="0" u="none" strike="noStrike" dirty="0">
                <a:latin typeface="Noto Sans SC"/>
                <a:ea typeface="Noto Sans SC"/>
                <a:cs typeface="Noto Sans SC"/>
                <a:sym typeface="Noto Sans SC"/>
              </a:rPr>
              <a:t>/</a:t>
            </a:r>
            <a:r>
              <a:rPr lang="en-US" sz="1600" b="0" i="0" u="none" strike="noStrike" dirty="0" err="1">
                <a:latin typeface="Noto Sans SC"/>
                <a:ea typeface="Noto Sans SC"/>
                <a:cs typeface="Noto Sans SC"/>
                <a:sym typeface="Noto Sans SC"/>
              </a:rPr>
              <a:t>CD流水线，确保研发交付的高效与稳定</a:t>
            </a:r>
            <a:r>
              <a:rPr lang="en-US" sz="1600" b="0" i="0" u="none" strike="noStrike" dirty="0">
                <a:latin typeface="Noto Sans SC"/>
                <a:ea typeface="Noto Sans SC"/>
                <a:cs typeface="Noto Sans SC"/>
                <a:sym typeface="Noto Sans SC"/>
              </a:rPr>
              <a:t>。</a:t>
            </a:r>
            <a:endParaRPr lang="en-US" sz="1200" dirty="0"/>
          </a:p>
        </p:txBody>
      </p:sp>
      <p:pic>
        <p:nvPicPr>
          <p:cNvPr id="56" name="图片 55">
            <a:extLst>
              <a:ext uri="{FF2B5EF4-FFF2-40B4-BE49-F238E27FC236}">
                <a16:creationId xmlns:a16="http://schemas.microsoft.com/office/drawing/2014/main" id="{EC44279E-4D13-8547-4771-9621F92916CF}"/>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8542960" y="1459688"/>
            <a:ext cx="2285143" cy="2213350"/>
          </a:xfrm>
          <a:prstGeom prst="rect">
            <a:avLst/>
          </a:prstGeom>
        </p:spPr>
      </p:pic>
      <p:pic>
        <p:nvPicPr>
          <p:cNvPr id="58" name="图片 57">
            <a:extLst>
              <a:ext uri="{FF2B5EF4-FFF2-40B4-BE49-F238E27FC236}">
                <a16:creationId xmlns:a16="http://schemas.microsoft.com/office/drawing/2014/main" id="{409790A7-7557-C487-E4CB-BC0FBE934548}"/>
              </a:ext>
            </a:extLst>
          </p:cNvPr>
          <p:cNvPicPr>
            <a:picLocks noChangeAspect="1"/>
          </p:cNvPicPr>
          <p:nvPr/>
        </p:nvPicPr>
        <p:blipFill>
          <a:blip r:embed="rId3">
            <a:extLst>
              <a:ext uri="{28A0092B-C50C-407E-A947-70E740481C1C}">
                <a14:useLocalDpi xmlns:a14="http://schemas.microsoft.com/office/drawing/2010/main" val="0"/>
              </a:ext>
            </a:extLst>
          </a:blip>
          <a:srcRect l="8502" t="57195" r="23526" b="22300"/>
          <a:stretch>
            <a:fillRect/>
          </a:stretch>
        </p:blipFill>
        <p:spPr>
          <a:xfrm>
            <a:off x="8191070" y="3329673"/>
            <a:ext cx="2965844" cy="894706"/>
          </a:xfrm>
          <a:prstGeom prst="rect">
            <a:avLst/>
          </a:prstGeom>
        </p:spPr>
      </p:pic>
      <p:pic>
        <p:nvPicPr>
          <p:cNvPr id="62" name="图片 61">
            <a:extLst>
              <a:ext uri="{FF2B5EF4-FFF2-40B4-BE49-F238E27FC236}">
                <a16:creationId xmlns:a16="http://schemas.microsoft.com/office/drawing/2014/main" id="{F737062E-EC52-1758-3B6C-8CE9080EDA56}"/>
              </a:ext>
            </a:extLst>
          </p:cNvPr>
          <p:cNvPicPr>
            <a:picLocks noChangeAspect="1"/>
          </p:cNvPicPr>
          <p:nvPr/>
        </p:nvPicPr>
        <p:blipFill>
          <a:blip r:embed="rId4"/>
          <a:stretch>
            <a:fillRect/>
          </a:stretch>
        </p:blipFill>
        <p:spPr>
          <a:xfrm flipH="1">
            <a:off x="4024519" y="5650647"/>
            <a:ext cx="6253648" cy="1350148"/>
          </a:xfrm>
          <a:prstGeom prst="rect">
            <a:avLst/>
          </a:prstGeom>
        </p:spPr>
      </p:pic>
      <p:pic>
        <p:nvPicPr>
          <p:cNvPr id="23" name="图片 22">
            <a:extLst>
              <a:ext uri="{FF2B5EF4-FFF2-40B4-BE49-F238E27FC236}">
                <a16:creationId xmlns:a16="http://schemas.microsoft.com/office/drawing/2014/main" id="{B46DC239-3858-4471-AF97-5FD33B4ED983}"/>
              </a:ext>
            </a:extLst>
          </p:cNvPr>
          <p:cNvPicPr>
            <a:picLocks noChangeAspect="1"/>
          </p:cNvPicPr>
          <p:nvPr/>
        </p:nvPicPr>
        <p:blipFill>
          <a:blip r:embed="rId5"/>
          <a:stretch>
            <a:fillRect/>
          </a:stretch>
        </p:blipFill>
        <p:spPr>
          <a:xfrm>
            <a:off x="6477000" y="4652150"/>
            <a:ext cx="5819508" cy="2424616"/>
          </a:xfrm>
          <a:prstGeom prst="rect">
            <a:avLst/>
          </a:prstGeom>
        </p:spPr>
      </p:pic>
    </p:spTree>
    <p:extLst>
      <p:ext uri="{BB962C8B-B14F-4D97-AF65-F5344CB8AC3E}">
        <p14:creationId xmlns:p14="http://schemas.microsoft.com/office/powerpoint/2010/main" val="260899435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A1C2C08-46B1-4B14-B00F-C3EA7C8ED370}"/>
              </a:ext>
            </a:extLst>
          </p:cNvPr>
          <p:cNvSpPr/>
          <p:nvPr/>
        </p:nvSpPr>
        <p:spPr>
          <a:xfrm>
            <a:off x="852778" y="2272295"/>
            <a:ext cx="3038475" cy="1503485"/>
          </a:xfrm>
          <a:prstGeom prst="rect">
            <a:avLst/>
          </a:prstGeom>
          <a:noFill/>
          <a:ln>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903B0FA-C021-4C87-9D26-97E60DFE87CD}"/>
              </a:ext>
            </a:extLst>
          </p:cNvPr>
          <p:cNvSpPr/>
          <p:nvPr/>
        </p:nvSpPr>
        <p:spPr>
          <a:xfrm>
            <a:off x="1066394" y="2017981"/>
            <a:ext cx="1691741" cy="4973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defRPr/>
            </a:pPr>
            <a:r>
              <a:rPr lang="en-US" altLang="zh-CN" b="1" dirty="0" err="1">
                <a:solidFill>
                  <a:schemeClr val="bg1"/>
                </a:solidFill>
                <a:latin typeface="Noto Sans SC"/>
                <a:ea typeface="Noto Sans SC"/>
                <a:cs typeface="Noto Sans SC"/>
                <a:sym typeface="Noto Sans SC"/>
              </a:rPr>
              <a:t>终端形态层</a:t>
            </a:r>
            <a:endParaRPr lang="en-US" altLang="zh-CN" sz="1200" dirty="0">
              <a:solidFill>
                <a:schemeClr val="bg1"/>
              </a:solidFill>
            </a:endParaRPr>
          </a:p>
        </p:txBody>
      </p:sp>
      <p:sp>
        <p:nvSpPr>
          <p:cNvPr id="20" name="文本框 19">
            <a:extLst>
              <a:ext uri="{FF2B5EF4-FFF2-40B4-BE49-F238E27FC236}">
                <a16:creationId xmlns:a16="http://schemas.microsoft.com/office/drawing/2014/main" id="{3544065B-C4A8-4B25-A845-33125F47A421}"/>
              </a:ext>
            </a:extLst>
          </p:cNvPr>
          <p:cNvSpPr txBox="1"/>
          <p:nvPr/>
        </p:nvSpPr>
        <p:spPr>
          <a:xfrm>
            <a:off x="852778" y="1211516"/>
            <a:ext cx="3506680" cy="589970"/>
          </a:xfrm>
          <a:prstGeom prst="rect">
            <a:avLst/>
          </a:prstGeom>
          <a:noFill/>
        </p:spPr>
        <p:txBody>
          <a:bodyPr wrap="square" rtlCol="0">
            <a:spAutoFit/>
          </a:bodyPr>
          <a:lstStyle/>
          <a:p>
            <a:pPr>
              <a:lnSpc>
                <a:spcPct val="125000"/>
              </a:lnSpc>
              <a:defRPr/>
            </a:pPr>
            <a:r>
              <a:rPr lang="en-US" altLang="zh-CN" sz="2800" b="1" dirty="0" err="1">
                <a:latin typeface="Noto Sans SC"/>
                <a:ea typeface="Noto Sans SC"/>
                <a:cs typeface="Noto Sans SC"/>
                <a:sym typeface="Noto Sans SC"/>
              </a:rPr>
              <a:t>法元</a:t>
            </a:r>
            <a:r>
              <a:rPr lang="en-US" altLang="zh-CN" sz="2800" b="1" dirty="0">
                <a:latin typeface="Noto Sans SC"/>
                <a:ea typeface="Noto Sans SC"/>
                <a:cs typeface="Noto Sans SC"/>
                <a:sym typeface="Noto Sans SC"/>
              </a:rPr>
              <a:t> · Faron</a:t>
            </a:r>
            <a:endParaRPr lang="en-US" altLang="zh-CN" sz="2800" dirty="0"/>
          </a:p>
        </p:txBody>
      </p:sp>
      <p:sp>
        <p:nvSpPr>
          <p:cNvPr id="3" name="矩形 2">
            <a:extLst>
              <a:ext uri="{FF2B5EF4-FFF2-40B4-BE49-F238E27FC236}">
                <a16:creationId xmlns:a16="http://schemas.microsoft.com/office/drawing/2014/main" id="{5F1F0623-CD54-5EA1-47B4-7C7CC0E0D282}"/>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1" name="平行四边形 20">
            <a:extLst>
              <a:ext uri="{FF2B5EF4-FFF2-40B4-BE49-F238E27FC236}">
                <a16:creationId xmlns:a16="http://schemas.microsoft.com/office/drawing/2014/main" id="{2AA13A4E-F7E6-63BA-4A41-0ABD809FADC7}"/>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a:extLst>
              <a:ext uri="{FF2B5EF4-FFF2-40B4-BE49-F238E27FC236}">
                <a16:creationId xmlns:a16="http://schemas.microsoft.com/office/drawing/2014/main" id="{5163FAF2-1BFB-A0E8-3E66-91BFBA335183}"/>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559A46D4-C8EB-87D8-6899-87B155DD7B34}"/>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cs typeface="Noto Sans SC"/>
                <a:sym typeface="Noto Sans SC"/>
              </a:rPr>
              <a:t>未来规划</a:t>
            </a:r>
            <a:endParaRPr lang="en-US" altLang="zh-CN" sz="3600" dirty="0"/>
          </a:p>
        </p:txBody>
      </p:sp>
      <p:pic>
        <p:nvPicPr>
          <p:cNvPr id="27" name="图片 26">
            <a:extLst>
              <a:ext uri="{FF2B5EF4-FFF2-40B4-BE49-F238E27FC236}">
                <a16:creationId xmlns:a16="http://schemas.microsoft.com/office/drawing/2014/main" id="{BEC1B8C5-95E3-29FE-5EE3-ACD626BEA19F}"/>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5" name="矩形 4">
            <a:extLst>
              <a:ext uri="{FF2B5EF4-FFF2-40B4-BE49-F238E27FC236}">
                <a16:creationId xmlns:a16="http://schemas.microsoft.com/office/drawing/2014/main" id="{0DC407E6-B48F-78AB-CC84-7CD7B79EAB50}"/>
              </a:ext>
            </a:extLst>
          </p:cNvPr>
          <p:cNvSpPr/>
          <p:nvPr/>
        </p:nvSpPr>
        <p:spPr>
          <a:xfrm>
            <a:off x="4104869" y="2272296"/>
            <a:ext cx="3038475" cy="1503484"/>
          </a:xfrm>
          <a:prstGeom prst="rect">
            <a:avLst/>
          </a:prstGeom>
          <a:noFill/>
          <a:ln>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A9662237-CD1F-5702-B9E7-22F4CFD89B33}"/>
              </a:ext>
            </a:extLst>
          </p:cNvPr>
          <p:cNvSpPr/>
          <p:nvPr/>
        </p:nvSpPr>
        <p:spPr>
          <a:xfrm>
            <a:off x="4318485" y="2017981"/>
            <a:ext cx="1691741" cy="4973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bg1"/>
                </a:solidFill>
                <a:latin typeface="Noto Sans SC"/>
                <a:ea typeface="Noto Sans SC"/>
                <a:cs typeface="Noto Sans SC"/>
                <a:sym typeface="Noto Sans SC"/>
              </a:rPr>
              <a:t>法域与语言层</a:t>
            </a:r>
            <a:endParaRPr lang="zh-CN" altLang="en-US" dirty="0">
              <a:solidFill>
                <a:schemeClr val="bg1"/>
              </a:solidFill>
              <a:latin typeface="Source Han Sans CN Bold"/>
              <a:ea typeface="Source Han Sans CN Bold"/>
            </a:endParaRPr>
          </a:p>
        </p:txBody>
      </p:sp>
      <p:sp>
        <p:nvSpPr>
          <p:cNvPr id="36" name="矩形 35">
            <a:extLst>
              <a:ext uri="{FF2B5EF4-FFF2-40B4-BE49-F238E27FC236}">
                <a16:creationId xmlns:a16="http://schemas.microsoft.com/office/drawing/2014/main" id="{565FD4D6-1C77-BB8F-1400-E272AEEEFCFF}"/>
              </a:ext>
            </a:extLst>
          </p:cNvPr>
          <p:cNvSpPr/>
          <p:nvPr/>
        </p:nvSpPr>
        <p:spPr>
          <a:xfrm>
            <a:off x="852778" y="4143000"/>
            <a:ext cx="3038475" cy="1503484"/>
          </a:xfrm>
          <a:prstGeom prst="rect">
            <a:avLst/>
          </a:prstGeom>
          <a:noFill/>
          <a:ln>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45304DDD-D58A-E431-623B-0FBDCA02D27F}"/>
              </a:ext>
            </a:extLst>
          </p:cNvPr>
          <p:cNvSpPr/>
          <p:nvPr/>
        </p:nvSpPr>
        <p:spPr>
          <a:xfrm>
            <a:off x="1066394" y="3888685"/>
            <a:ext cx="1691741" cy="4973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bg1"/>
                </a:solidFill>
                <a:latin typeface="Noto Sans SC"/>
                <a:ea typeface="Noto Sans SC"/>
                <a:cs typeface="Noto Sans SC"/>
                <a:sym typeface="Noto Sans SC"/>
              </a:rPr>
              <a:t>知识图谱层</a:t>
            </a:r>
            <a:endParaRPr lang="zh-CN" altLang="en-US" dirty="0">
              <a:solidFill>
                <a:schemeClr val="bg1"/>
              </a:solidFill>
              <a:latin typeface="Source Han Sans CN Bold"/>
              <a:ea typeface="Source Han Sans CN Bold"/>
            </a:endParaRPr>
          </a:p>
        </p:txBody>
      </p:sp>
      <p:sp>
        <p:nvSpPr>
          <p:cNvPr id="43" name="矩形 42">
            <a:extLst>
              <a:ext uri="{FF2B5EF4-FFF2-40B4-BE49-F238E27FC236}">
                <a16:creationId xmlns:a16="http://schemas.microsoft.com/office/drawing/2014/main" id="{FFE0C6D0-B43C-475F-2B16-EAC4B321B76C}"/>
              </a:ext>
            </a:extLst>
          </p:cNvPr>
          <p:cNvSpPr/>
          <p:nvPr/>
        </p:nvSpPr>
        <p:spPr>
          <a:xfrm>
            <a:off x="4102426" y="4142999"/>
            <a:ext cx="3038475" cy="1503483"/>
          </a:xfrm>
          <a:prstGeom prst="rect">
            <a:avLst/>
          </a:prstGeom>
          <a:noFill/>
          <a:ln>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7E6FFFB1-0C01-BA1F-513C-E0B0392FCE3B}"/>
              </a:ext>
            </a:extLst>
          </p:cNvPr>
          <p:cNvSpPr/>
          <p:nvPr/>
        </p:nvSpPr>
        <p:spPr>
          <a:xfrm>
            <a:off x="4316042" y="3888685"/>
            <a:ext cx="1691741" cy="49733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bg1"/>
                </a:solidFill>
                <a:latin typeface="Noto Sans SC"/>
                <a:ea typeface="Noto Sans SC"/>
                <a:cs typeface="Noto Sans SC"/>
                <a:sym typeface="Noto Sans SC"/>
              </a:rPr>
              <a:t>文书场景层</a:t>
            </a:r>
            <a:endParaRPr lang="zh-CN" altLang="en-US" dirty="0">
              <a:solidFill>
                <a:schemeClr val="bg1"/>
              </a:solidFill>
              <a:latin typeface="Source Han Sans CN Bold"/>
              <a:ea typeface="Source Han Sans CN Bold"/>
            </a:endParaRPr>
          </a:p>
        </p:txBody>
      </p:sp>
      <p:pic>
        <p:nvPicPr>
          <p:cNvPr id="49" name="Picture 21">
            <a:extLst>
              <a:ext uri="{FF2B5EF4-FFF2-40B4-BE49-F238E27FC236}">
                <a16:creationId xmlns:a16="http://schemas.microsoft.com/office/drawing/2014/main" id="{8EAC6E9D-9789-447B-E95F-869DA474C0B7}"/>
              </a:ext>
            </a:extLst>
          </p:cNvPr>
          <p:cNvPicPr>
            <a:picLocks noChangeAspect="1"/>
          </p:cNvPicPr>
          <p:nvPr/>
        </p:nvPicPr>
        <p:blipFill>
          <a:blip r:embed="rId3"/>
          <a:srcRect l="1624" r="1625"/>
          <a:stretch>
            <a:fillRect/>
          </a:stretch>
        </p:blipFill>
        <p:spPr>
          <a:xfrm>
            <a:off x="7689929" y="2143400"/>
            <a:ext cx="3989068" cy="1994534"/>
          </a:xfrm>
          <a:prstGeom prst="rect">
            <a:avLst/>
          </a:prstGeom>
          <a:noFill/>
          <a:ln w="25400" cap="flat" cmpd="sng">
            <a:solidFill>
              <a:srgbClr val="D4AF37">
                <a:alpha val="60000"/>
              </a:srgbClr>
            </a:solidFill>
            <a:prstDash val="solid"/>
            <a:round/>
          </a:ln>
        </p:spPr>
      </p:pic>
      <p:sp>
        <p:nvSpPr>
          <p:cNvPr id="51" name="AutoShape 22">
            <a:extLst>
              <a:ext uri="{FF2B5EF4-FFF2-40B4-BE49-F238E27FC236}">
                <a16:creationId xmlns:a16="http://schemas.microsoft.com/office/drawing/2014/main" id="{D0E4A036-85D8-7F29-15AD-2DD4E1B8231C}"/>
              </a:ext>
            </a:extLst>
          </p:cNvPr>
          <p:cNvSpPr/>
          <p:nvPr/>
        </p:nvSpPr>
        <p:spPr>
          <a:xfrm>
            <a:off x="7689929" y="4512002"/>
            <a:ext cx="50800" cy="1524000"/>
          </a:xfrm>
          <a:prstGeom prst="roundRect">
            <a:avLst>
              <a:gd name="adj" fmla="val 0"/>
            </a:avLst>
          </a:prstGeom>
          <a:solidFill>
            <a:srgbClr val="C00000"/>
          </a:solidFill>
          <a:ln w="25400" cap="flat" cmpd="sng">
            <a:noFill/>
            <a:prstDash val="solid"/>
            <a:round/>
          </a:ln>
        </p:spPr>
        <p:txBody>
          <a:bodyPr vert="horz" wrap="square" lIns="63500" tIns="63500" rIns="63500" bIns="63500" rtlCol="0" anchor="ctr"/>
          <a:lstStyle/>
          <a:p>
            <a:pPr algn="ctr">
              <a:defRPr/>
            </a:pPr>
            <a:endParaRPr>
              <a:solidFill>
                <a:srgbClr val="C00000"/>
              </a:solidFill>
            </a:endParaRPr>
          </a:p>
        </p:txBody>
      </p:sp>
      <p:sp>
        <p:nvSpPr>
          <p:cNvPr id="53" name="AutoShape 23">
            <a:extLst>
              <a:ext uri="{FF2B5EF4-FFF2-40B4-BE49-F238E27FC236}">
                <a16:creationId xmlns:a16="http://schemas.microsoft.com/office/drawing/2014/main" id="{3C734B85-6B1E-7079-B173-175B9C9284B6}"/>
              </a:ext>
            </a:extLst>
          </p:cNvPr>
          <p:cNvSpPr/>
          <p:nvPr/>
        </p:nvSpPr>
        <p:spPr>
          <a:xfrm>
            <a:off x="7946083" y="4386015"/>
            <a:ext cx="3732914"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2000" b="1" i="0" u="none" strike="noStrike" dirty="0">
                <a:latin typeface="Noto Sans SC"/>
                <a:ea typeface="Noto Sans SC"/>
                <a:cs typeface="Noto Sans SC"/>
                <a:sym typeface="Noto Sans SC"/>
              </a:rPr>
              <a:t>“</a:t>
            </a:r>
            <a:r>
              <a:rPr lang="en-US" sz="2000" b="1" i="0" u="none" strike="noStrike" dirty="0" err="1">
                <a:latin typeface="Noto Sans SC"/>
                <a:ea typeface="Noto Sans SC"/>
                <a:cs typeface="Noto Sans SC"/>
                <a:sym typeface="Noto Sans SC"/>
              </a:rPr>
              <a:t>验证期聚焦涉外，能力上限是全部法律场景</a:t>
            </a:r>
            <a:r>
              <a:rPr lang="en-US" sz="2000" b="1" i="0" u="none" strike="noStrike" dirty="0">
                <a:latin typeface="Noto Sans SC"/>
                <a:ea typeface="Noto Sans SC"/>
                <a:cs typeface="Noto Sans SC"/>
                <a:sym typeface="Noto Sans SC"/>
              </a:rPr>
              <a:t>。”</a:t>
            </a:r>
            <a:endParaRPr lang="en-US" sz="1200" dirty="0"/>
          </a:p>
          <a:p>
            <a:pPr marL="0" indent="0" algn="l">
              <a:lnSpc>
                <a:spcPct val="116666"/>
              </a:lnSpc>
            </a:pPr>
            <a:r>
              <a:rPr lang="en-US" sz="1400" b="0" i="0" u="none" strike="noStrike" dirty="0">
                <a:latin typeface="Noto Sans SC"/>
                <a:ea typeface="Noto Sans SC"/>
                <a:cs typeface="Noto Sans SC"/>
                <a:sym typeface="Noto Sans SC"/>
              </a:rPr>
              <a:t>我们致力于打破地域与场景的边界，通过技术赋能，为全球法律工作者提供全维度、智能化的办案支持，构建可信、可溯源、安全高效的数字法律服务生态，让法律智慧触手可及。</a:t>
            </a:r>
          </a:p>
        </p:txBody>
      </p:sp>
      <p:sp>
        <p:nvSpPr>
          <p:cNvPr id="55" name="AutoShape 8">
            <a:extLst>
              <a:ext uri="{FF2B5EF4-FFF2-40B4-BE49-F238E27FC236}">
                <a16:creationId xmlns:a16="http://schemas.microsoft.com/office/drawing/2014/main" id="{D5304383-B33B-4047-10A2-D772B69C6914}"/>
              </a:ext>
            </a:extLst>
          </p:cNvPr>
          <p:cNvSpPr/>
          <p:nvPr/>
        </p:nvSpPr>
        <p:spPr>
          <a:xfrm>
            <a:off x="1066394" y="2769153"/>
            <a:ext cx="2604089"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err="1">
                <a:latin typeface="Noto Sans SC"/>
                <a:ea typeface="Noto Sans SC"/>
                <a:cs typeface="Noto Sans SC"/>
                <a:sym typeface="Noto Sans SC"/>
              </a:rPr>
              <a:t>覆盖桌面、移动端、Web全平台，打破设备壁垒，实现跨终端无缝协同，随时随地高效办案</a:t>
            </a:r>
            <a:r>
              <a:rPr lang="en-US" sz="1600" b="0" i="0" u="none" strike="noStrike" dirty="0">
                <a:latin typeface="Noto Sans SC"/>
                <a:ea typeface="Noto Sans SC"/>
                <a:cs typeface="Noto Sans SC"/>
                <a:sym typeface="Noto Sans SC"/>
              </a:rPr>
              <a:t>。</a:t>
            </a:r>
            <a:endParaRPr lang="en-US" sz="1400" dirty="0"/>
          </a:p>
        </p:txBody>
      </p:sp>
      <p:sp>
        <p:nvSpPr>
          <p:cNvPr id="57" name="AutoShape 12">
            <a:extLst>
              <a:ext uri="{FF2B5EF4-FFF2-40B4-BE49-F238E27FC236}">
                <a16:creationId xmlns:a16="http://schemas.microsoft.com/office/drawing/2014/main" id="{60D0BF6E-68E1-A182-1578-66ED1E6DF4F9}"/>
              </a:ext>
            </a:extLst>
          </p:cNvPr>
          <p:cNvSpPr/>
          <p:nvPr/>
        </p:nvSpPr>
        <p:spPr>
          <a:xfrm>
            <a:off x="4316042" y="2759558"/>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err="1">
                <a:latin typeface="Noto Sans SC"/>
                <a:ea typeface="Noto Sans SC"/>
                <a:cs typeface="Noto Sans SC"/>
                <a:sym typeface="Noto Sans SC"/>
              </a:rPr>
              <a:t>深度适配日美法、中国法及全球主流法域，支持多语言自动转换，打通跨境法律服务壁垒</a:t>
            </a:r>
            <a:r>
              <a:rPr lang="en-US" sz="1600" b="0" i="0" u="none" strike="noStrike" dirty="0">
                <a:latin typeface="Noto Sans SC"/>
                <a:ea typeface="Noto Sans SC"/>
                <a:cs typeface="Noto Sans SC"/>
                <a:sym typeface="Noto Sans SC"/>
              </a:rPr>
              <a:t>。</a:t>
            </a:r>
            <a:endParaRPr lang="en-US" sz="1400" dirty="0"/>
          </a:p>
        </p:txBody>
      </p:sp>
      <p:sp>
        <p:nvSpPr>
          <p:cNvPr id="59" name="AutoShape 16">
            <a:extLst>
              <a:ext uri="{FF2B5EF4-FFF2-40B4-BE49-F238E27FC236}">
                <a16:creationId xmlns:a16="http://schemas.microsoft.com/office/drawing/2014/main" id="{693C052E-2C5E-2D0E-E710-2C19987DB5B0}"/>
              </a:ext>
            </a:extLst>
          </p:cNvPr>
          <p:cNvSpPr/>
          <p:nvPr/>
        </p:nvSpPr>
        <p:spPr>
          <a:xfrm>
            <a:off x="1066394" y="4639857"/>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err="1">
                <a:latin typeface="Noto Sans SC"/>
                <a:ea typeface="Noto Sans SC"/>
                <a:cs typeface="Noto Sans SC"/>
                <a:sym typeface="Noto Sans SC"/>
              </a:rPr>
              <a:t>构建案由、法律要件、请求权基础的关联网络，实现案件智能拆解、法律关系自动梳理与推理</a:t>
            </a:r>
            <a:r>
              <a:rPr lang="en-US" sz="1600" b="0" i="0" u="none" strike="noStrike" dirty="0">
                <a:latin typeface="Noto Sans SC"/>
                <a:ea typeface="Noto Sans SC"/>
                <a:cs typeface="Noto Sans SC"/>
                <a:sym typeface="Noto Sans SC"/>
              </a:rPr>
              <a:t>。</a:t>
            </a:r>
            <a:endParaRPr lang="en-US" sz="1400" dirty="0"/>
          </a:p>
        </p:txBody>
      </p:sp>
      <p:sp>
        <p:nvSpPr>
          <p:cNvPr id="61" name="AutoShape 20">
            <a:extLst>
              <a:ext uri="{FF2B5EF4-FFF2-40B4-BE49-F238E27FC236}">
                <a16:creationId xmlns:a16="http://schemas.microsoft.com/office/drawing/2014/main" id="{532286F8-AA8E-40BC-A799-565A222E5EB9}"/>
              </a:ext>
            </a:extLst>
          </p:cNvPr>
          <p:cNvSpPr/>
          <p:nvPr/>
        </p:nvSpPr>
        <p:spPr>
          <a:xfrm>
            <a:off x="4316042" y="4635248"/>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err="1">
                <a:latin typeface="Noto Sans SC"/>
                <a:ea typeface="Noto Sans SC"/>
                <a:cs typeface="Noto Sans SC"/>
                <a:sym typeface="Noto Sans SC"/>
              </a:rPr>
              <a:t>覆盖合同审查、诉讼文书、合规风控、劳动仲裁、知产保护等全场景，自动化生成专业文书</a:t>
            </a:r>
            <a:r>
              <a:rPr lang="en-US" sz="1600" b="0" i="0" u="none" strike="noStrike" dirty="0">
                <a:latin typeface="Noto Sans SC"/>
                <a:ea typeface="Noto Sans SC"/>
                <a:cs typeface="Noto Sans SC"/>
                <a:sym typeface="Noto Sans SC"/>
              </a:rPr>
              <a:t>。</a:t>
            </a:r>
            <a:endParaRPr lang="en-US" sz="1400" dirty="0"/>
          </a:p>
        </p:txBody>
      </p:sp>
      <p:sp>
        <p:nvSpPr>
          <p:cNvPr id="63" name="AutoShape 4">
            <a:extLst>
              <a:ext uri="{FF2B5EF4-FFF2-40B4-BE49-F238E27FC236}">
                <a16:creationId xmlns:a16="http://schemas.microsoft.com/office/drawing/2014/main" id="{CDD795C1-B1EB-B8DE-C7A0-2DBE34706855}"/>
              </a:ext>
            </a:extLst>
          </p:cNvPr>
          <p:cNvSpPr/>
          <p:nvPr/>
        </p:nvSpPr>
        <p:spPr>
          <a:xfrm>
            <a:off x="8516519" y="1509355"/>
            <a:ext cx="3175430" cy="5188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dirty="0" err="1">
                <a:solidFill>
                  <a:srgbClr val="C00000"/>
                </a:solidFill>
                <a:latin typeface="Noto Sans SC"/>
                <a:ea typeface="Noto Sans SC"/>
                <a:cs typeface="Noto Sans SC"/>
                <a:sym typeface="Noto Sans SC"/>
              </a:rPr>
              <a:t>能力上限：全部法律场景</a:t>
            </a:r>
            <a:endParaRPr lang="en-US" sz="1100" dirty="0">
              <a:solidFill>
                <a:srgbClr val="C00000"/>
              </a:solidFill>
            </a:endParaRPr>
          </a:p>
        </p:txBody>
      </p:sp>
      <p:pic>
        <p:nvPicPr>
          <p:cNvPr id="65" name="图片 64">
            <a:extLst>
              <a:ext uri="{FF2B5EF4-FFF2-40B4-BE49-F238E27FC236}">
                <a16:creationId xmlns:a16="http://schemas.microsoft.com/office/drawing/2014/main" id="{8FC1C6DF-7488-E848-A800-EFAFD01F03B6}"/>
              </a:ext>
            </a:extLst>
          </p:cNvPr>
          <p:cNvPicPr>
            <a:picLocks noChangeAspect="1"/>
          </p:cNvPicPr>
          <p:nvPr/>
        </p:nvPicPr>
        <p:blipFill>
          <a:blip r:embed="rId4"/>
          <a:stretch>
            <a:fillRect/>
          </a:stretch>
        </p:blipFill>
        <p:spPr>
          <a:xfrm>
            <a:off x="2286000" y="5902369"/>
            <a:ext cx="5612071" cy="955631"/>
          </a:xfrm>
          <a:prstGeom prst="rect">
            <a:avLst/>
          </a:prstGeom>
        </p:spPr>
      </p:pic>
      <p:pic>
        <p:nvPicPr>
          <p:cNvPr id="38" name="图片 37">
            <a:extLst>
              <a:ext uri="{FF2B5EF4-FFF2-40B4-BE49-F238E27FC236}">
                <a16:creationId xmlns:a16="http://schemas.microsoft.com/office/drawing/2014/main" id="{38F8A035-0968-463E-A0B6-F0335A1865C3}"/>
              </a:ext>
            </a:extLst>
          </p:cNvPr>
          <p:cNvPicPr>
            <a:picLocks noChangeAspect="1"/>
          </p:cNvPicPr>
          <p:nvPr/>
        </p:nvPicPr>
        <p:blipFill>
          <a:blip r:embed="rId5"/>
          <a:stretch>
            <a:fillRect/>
          </a:stretch>
        </p:blipFill>
        <p:spPr>
          <a:xfrm flipH="1">
            <a:off x="0" y="5287617"/>
            <a:ext cx="4538362" cy="1570383"/>
          </a:xfrm>
          <a:prstGeom prst="rect">
            <a:avLst/>
          </a:prstGeom>
        </p:spPr>
      </p:pic>
    </p:spTree>
    <p:extLst>
      <p:ext uri="{BB962C8B-B14F-4D97-AF65-F5344CB8AC3E}">
        <p14:creationId xmlns:p14="http://schemas.microsoft.com/office/powerpoint/2010/main" val="328878233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66755-3F93-DD41-2E0D-67C0DEE27683}"/>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7D5D2666-4191-08DB-304E-43A86A9664CB}"/>
              </a:ext>
            </a:extLst>
          </p:cNvPr>
          <p:cNvSpPr/>
          <p:nvPr/>
        </p:nvSpPr>
        <p:spPr>
          <a:xfrm>
            <a:off x="531300" y="1058853"/>
            <a:ext cx="6750326" cy="2614185"/>
          </a:xfrm>
          <a:prstGeom prst="rect">
            <a:avLst/>
          </a:prstGeom>
          <a:noFill/>
          <a:ln w="19050">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EF1F5CD-6F09-4303-8C8A-E4AB7FDEFA8C}"/>
              </a:ext>
            </a:extLst>
          </p:cNvPr>
          <p:cNvSpPr/>
          <p:nvPr/>
        </p:nvSpPr>
        <p:spPr>
          <a:xfrm>
            <a:off x="531300" y="3673039"/>
            <a:ext cx="6750326" cy="2906666"/>
          </a:xfrm>
          <a:prstGeom prst="rect">
            <a:avLst/>
          </a:prstGeom>
          <a:noFill/>
          <a:ln w="19050">
            <a:solidFill>
              <a:srgbClr val="E438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0F24B28F-C65C-2B46-DCDF-2FA474B07A95}"/>
              </a:ext>
            </a:extLst>
          </p:cNvPr>
          <p:cNvSpPr/>
          <p:nvPr/>
        </p:nvSpPr>
        <p:spPr>
          <a:xfrm>
            <a:off x="-71919" y="113016"/>
            <a:ext cx="12431730" cy="753792"/>
          </a:xfrm>
          <a:prstGeom prst="rect">
            <a:avLst/>
          </a:prstGeom>
          <a:solidFill>
            <a:srgbClr val="3B383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solidFill>
                <a:srgbClr val="3B3838"/>
              </a:solidFill>
            </a:endParaRPr>
          </a:p>
        </p:txBody>
      </p:sp>
      <p:sp>
        <p:nvSpPr>
          <p:cNvPr id="26" name="平行四边形 25">
            <a:extLst>
              <a:ext uri="{FF2B5EF4-FFF2-40B4-BE49-F238E27FC236}">
                <a16:creationId xmlns:a16="http://schemas.microsoft.com/office/drawing/2014/main" id="{51E1F68B-73F1-C41F-8C49-1B471F1CF5B6}"/>
              </a:ext>
            </a:extLst>
          </p:cNvPr>
          <p:cNvSpPr/>
          <p:nvPr/>
        </p:nvSpPr>
        <p:spPr>
          <a:xfrm>
            <a:off x="8454818" y="99258"/>
            <a:ext cx="3055312" cy="888385"/>
          </a:xfrm>
          <a:prstGeom prst="parallelogram">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a:extLst>
              <a:ext uri="{FF2B5EF4-FFF2-40B4-BE49-F238E27FC236}">
                <a16:creationId xmlns:a16="http://schemas.microsoft.com/office/drawing/2014/main" id="{B74F5A71-AE09-4A15-20F9-1C37AAF6853D}"/>
              </a:ext>
            </a:extLst>
          </p:cNvPr>
          <p:cNvSpPr/>
          <p:nvPr/>
        </p:nvSpPr>
        <p:spPr>
          <a:xfrm>
            <a:off x="7839181" y="99257"/>
            <a:ext cx="703779" cy="888385"/>
          </a:xfrm>
          <a:prstGeom prst="parallelogram">
            <a:avLst>
              <a:gd name="adj" fmla="val 34265"/>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A159B3DE-2BB4-A1B8-8F22-4362E40587EA}"/>
              </a:ext>
            </a:extLst>
          </p:cNvPr>
          <p:cNvSpPr txBox="1"/>
          <p:nvPr/>
        </p:nvSpPr>
        <p:spPr>
          <a:xfrm>
            <a:off x="9113712" y="195038"/>
            <a:ext cx="2090374" cy="732188"/>
          </a:xfrm>
          <a:prstGeom prst="rect">
            <a:avLst/>
          </a:prstGeom>
          <a:noFill/>
        </p:spPr>
        <p:txBody>
          <a:bodyPr wrap="square">
            <a:spAutoFit/>
          </a:bodyPr>
          <a:lstStyle/>
          <a:p>
            <a:pPr>
              <a:lnSpc>
                <a:spcPct val="125000"/>
              </a:lnSpc>
              <a:defRPr/>
            </a:pPr>
            <a:r>
              <a:rPr lang="zh-CN" altLang="en-US" sz="3600" b="1" dirty="0">
                <a:solidFill>
                  <a:srgbClr val="FFFFFF"/>
                </a:solidFill>
                <a:latin typeface="Noto Sans SC"/>
                <a:ea typeface="Noto Sans SC"/>
                <a:sym typeface="Noto Sans SC"/>
              </a:rPr>
              <a:t>团队介绍</a:t>
            </a:r>
            <a:endParaRPr lang="en-US" altLang="zh-CN" sz="3600" dirty="0"/>
          </a:p>
        </p:txBody>
      </p:sp>
      <p:pic>
        <p:nvPicPr>
          <p:cNvPr id="32" name="图片 31">
            <a:extLst>
              <a:ext uri="{FF2B5EF4-FFF2-40B4-BE49-F238E27FC236}">
                <a16:creationId xmlns:a16="http://schemas.microsoft.com/office/drawing/2014/main" id="{F9DAEDB4-48F3-C630-A858-B7E1066D4385}"/>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217500" y="138623"/>
            <a:ext cx="814182" cy="788602"/>
          </a:xfrm>
          <a:prstGeom prst="rect">
            <a:avLst/>
          </a:prstGeom>
        </p:spPr>
      </p:pic>
      <p:sp>
        <p:nvSpPr>
          <p:cNvPr id="25" name="AutoShape 14">
            <a:extLst>
              <a:ext uri="{FF2B5EF4-FFF2-40B4-BE49-F238E27FC236}">
                <a16:creationId xmlns:a16="http://schemas.microsoft.com/office/drawing/2014/main" id="{333CEFE6-D892-BF36-93AE-38E963AB8080}"/>
              </a:ext>
            </a:extLst>
          </p:cNvPr>
          <p:cNvSpPr/>
          <p:nvPr/>
        </p:nvSpPr>
        <p:spPr>
          <a:xfrm>
            <a:off x="7536054" y="4296550"/>
            <a:ext cx="4124646" cy="98185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1" i="0" u="none" strike="noStrike" dirty="0">
                <a:latin typeface="Noto Sans SC"/>
                <a:ea typeface="Noto Sans SC"/>
                <a:cs typeface="Noto Sans SC"/>
                <a:sym typeface="Noto Sans SC"/>
              </a:rPr>
              <a:t>“ </a:t>
            </a:r>
            <a:r>
              <a:rPr lang="en-US" b="1" i="0" u="none" strike="noStrike" dirty="0" err="1">
                <a:latin typeface="Noto Sans SC"/>
                <a:ea typeface="Noto Sans SC"/>
                <a:cs typeface="Noto Sans SC"/>
                <a:sym typeface="Noto Sans SC"/>
              </a:rPr>
              <a:t>以技术创新为引擎，从基础建设迈向智能进化，构建安全、可信、自适应的智能服务生态</a:t>
            </a:r>
            <a:r>
              <a:rPr lang="en-US" b="1" i="0" u="none" strike="noStrike" dirty="0">
                <a:latin typeface="Noto Sans SC"/>
                <a:ea typeface="Noto Sans SC"/>
                <a:cs typeface="Noto Sans SC"/>
                <a:sym typeface="Noto Sans SC"/>
              </a:rPr>
              <a:t> ”</a:t>
            </a:r>
            <a:endParaRPr lang="en-US" sz="1400" b="1" dirty="0"/>
          </a:p>
        </p:txBody>
      </p:sp>
      <p:sp>
        <p:nvSpPr>
          <p:cNvPr id="44" name="AutoShape 10">
            <a:extLst>
              <a:ext uri="{FF2B5EF4-FFF2-40B4-BE49-F238E27FC236}">
                <a16:creationId xmlns:a16="http://schemas.microsoft.com/office/drawing/2014/main" id="{F5B47A2E-E73C-CC4B-D11D-599785B0E35C}"/>
              </a:ext>
            </a:extLst>
          </p:cNvPr>
          <p:cNvSpPr/>
          <p:nvPr/>
        </p:nvSpPr>
        <p:spPr>
          <a:xfrm>
            <a:off x="725296" y="3762296"/>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dirty="0">
                <a:solidFill>
                  <a:srgbClr val="C00000"/>
                </a:solidFill>
                <a:latin typeface="Noto Sans SC"/>
                <a:ea typeface="Noto Sans SC"/>
                <a:sym typeface="Noto Sans SC"/>
              </a:rPr>
              <a:t>面向个体</a:t>
            </a:r>
            <a:r>
              <a:rPr lang="en-US" altLang="zh-CN" sz="2400" b="1" dirty="0">
                <a:solidFill>
                  <a:srgbClr val="C00000"/>
                </a:solidFill>
                <a:latin typeface="Noto Sans SC"/>
                <a:ea typeface="Noto Sans SC"/>
                <a:sym typeface="Noto Sans SC"/>
              </a:rPr>
              <a:t>·</a:t>
            </a:r>
            <a:r>
              <a:rPr lang="zh-CN" altLang="en-US" sz="2400" b="1" dirty="0">
                <a:solidFill>
                  <a:srgbClr val="C00000"/>
                </a:solidFill>
                <a:latin typeface="Noto Sans SC"/>
                <a:ea typeface="Noto Sans SC"/>
                <a:sym typeface="Noto Sans SC"/>
              </a:rPr>
              <a:t>个性化定制</a:t>
            </a:r>
            <a:endParaRPr lang="en-US" sz="1200" dirty="0">
              <a:solidFill>
                <a:srgbClr val="C00000"/>
              </a:solidFill>
            </a:endParaRPr>
          </a:p>
        </p:txBody>
      </p:sp>
      <p:sp>
        <p:nvSpPr>
          <p:cNvPr id="48" name="AutoShape 13">
            <a:extLst>
              <a:ext uri="{FF2B5EF4-FFF2-40B4-BE49-F238E27FC236}">
                <a16:creationId xmlns:a16="http://schemas.microsoft.com/office/drawing/2014/main" id="{036BB2D7-B910-36B9-159D-5E0307770C80}"/>
              </a:ext>
            </a:extLst>
          </p:cNvPr>
          <p:cNvSpPr/>
          <p:nvPr/>
        </p:nvSpPr>
        <p:spPr>
          <a:xfrm>
            <a:off x="725296" y="4456516"/>
            <a:ext cx="6391120" cy="1830064"/>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b="1" dirty="0">
                <a:latin typeface="Noto Sans SC"/>
                <a:ea typeface="Noto Sans SC"/>
                <a:cs typeface="Noto Sans SC"/>
                <a:sym typeface="Noto Sans SC"/>
              </a:rPr>
              <a:t>我们做什么</a:t>
            </a:r>
            <a:br>
              <a:rPr lang="en-US" b="0" i="0" u="none" strike="noStrike" dirty="0">
                <a:latin typeface="Noto Sans SC"/>
                <a:ea typeface="Noto Sans SC"/>
                <a:cs typeface="Noto Sans SC"/>
                <a:sym typeface="Noto Sans SC"/>
              </a:rPr>
            </a:br>
            <a:r>
              <a:rPr lang="zh-CN" altLang="en-US" sz="1600" b="0" i="0" u="none" strike="noStrike" dirty="0">
                <a:latin typeface="Noto Sans SC"/>
                <a:ea typeface="Noto Sans SC"/>
                <a:cs typeface="Noto Sans SC"/>
                <a:sym typeface="Noto Sans SC"/>
              </a:rPr>
              <a:t>紧跟</a:t>
            </a:r>
            <a:r>
              <a:rPr lang="en-US" altLang="zh-CN" sz="1600" b="0" i="0" u="none" strike="noStrike" dirty="0">
                <a:latin typeface="Noto Sans SC"/>
                <a:ea typeface="Noto Sans SC"/>
                <a:cs typeface="Noto Sans SC"/>
                <a:sym typeface="Noto Sans SC"/>
              </a:rPr>
              <a:t>ai</a:t>
            </a:r>
            <a:r>
              <a:rPr lang="zh-CN" altLang="en-US" sz="1600" b="0" i="0" u="none" strike="noStrike" dirty="0">
                <a:latin typeface="Noto Sans SC"/>
                <a:ea typeface="Noto Sans SC"/>
                <a:cs typeface="Noto Sans SC"/>
                <a:sym typeface="Noto Sans SC"/>
              </a:rPr>
              <a:t>时代浪潮，发现日常用户需求，个性化定制</a:t>
            </a:r>
            <a:r>
              <a:rPr lang="en-US" altLang="zh-CN" sz="1600" b="0" i="0" u="none" strike="noStrike" dirty="0">
                <a:latin typeface="Noto Sans SC"/>
                <a:ea typeface="Noto Sans SC"/>
                <a:cs typeface="Noto Sans SC"/>
                <a:sym typeface="Noto Sans SC"/>
              </a:rPr>
              <a:t>agent</a:t>
            </a:r>
            <a:r>
              <a:rPr lang="zh-CN" altLang="en-US" sz="1600" b="0" i="0" u="none" strike="noStrike" dirty="0">
                <a:latin typeface="Noto Sans SC"/>
                <a:ea typeface="Noto Sans SC"/>
                <a:cs typeface="Noto Sans SC"/>
                <a:sym typeface="Noto Sans SC"/>
              </a:rPr>
              <a:t>工作流平台，定制信息、数据平台。</a:t>
            </a:r>
            <a:br>
              <a:rPr lang="en-US" b="0" i="0" u="none" strike="noStrike" dirty="0">
                <a:latin typeface="Noto Sans SC"/>
                <a:ea typeface="Noto Sans SC"/>
                <a:cs typeface="Noto Sans SC"/>
                <a:sym typeface="Noto Sans SC"/>
              </a:rPr>
            </a:br>
            <a:r>
              <a:rPr lang="zh-CN" altLang="en-US" b="1" i="0" u="none" strike="noStrike" dirty="0">
                <a:latin typeface="Noto Sans SC"/>
                <a:ea typeface="Noto Sans SC"/>
                <a:cs typeface="Noto Sans SC"/>
                <a:sym typeface="Noto Sans SC"/>
              </a:rPr>
              <a:t>我们的产品</a:t>
            </a:r>
            <a:br>
              <a:rPr lang="en-US" b="0" i="0" u="none" strike="noStrike" dirty="0">
                <a:latin typeface="Noto Sans SC"/>
                <a:ea typeface="Noto Sans SC"/>
                <a:cs typeface="Noto Sans SC"/>
                <a:sym typeface="Noto Sans SC"/>
              </a:rPr>
            </a:br>
            <a:r>
              <a:rPr lang="zh-CN" altLang="en-US" sz="1600" b="0" i="0" u="none" strike="noStrike" dirty="0">
                <a:latin typeface="Noto Sans SC"/>
                <a:ea typeface="Noto Sans SC"/>
                <a:cs typeface="Noto Sans SC"/>
                <a:sym typeface="Noto Sans SC"/>
              </a:rPr>
              <a:t>目前已开发出的优秀好评产品（内嵌</a:t>
            </a:r>
            <a:r>
              <a:rPr lang="en-US" altLang="zh-CN" sz="1600" b="0" i="0" u="none" strike="noStrike" dirty="0">
                <a:latin typeface="Noto Sans SC"/>
                <a:ea typeface="Noto Sans SC"/>
                <a:cs typeface="Noto Sans SC"/>
                <a:sym typeface="Noto Sans SC"/>
              </a:rPr>
              <a:t>agent</a:t>
            </a:r>
            <a:r>
              <a:rPr lang="zh-CN" altLang="en-US" sz="1600" b="0" i="0" u="none" strike="noStrike" dirty="0">
                <a:latin typeface="Noto Sans SC"/>
                <a:ea typeface="Noto Sans SC"/>
                <a:cs typeface="Noto Sans SC"/>
                <a:sym typeface="Noto Sans SC"/>
              </a:rPr>
              <a:t>）：论文助手、信息日历、</a:t>
            </a:r>
            <a:r>
              <a:rPr lang="en-US" altLang="zh-CN" sz="1600" b="0" i="0" u="none" strike="noStrike" dirty="0" err="1">
                <a:latin typeface="Noto Sans SC"/>
                <a:ea typeface="Noto Sans SC"/>
                <a:cs typeface="Noto Sans SC"/>
                <a:sym typeface="Noto Sans SC"/>
              </a:rPr>
              <a:t>dsh</a:t>
            </a:r>
            <a:r>
              <a:rPr lang="zh-CN" altLang="en-US" sz="1600" b="0" i="0" u="none" strike="noStrike" dirty="0">
                <a:latin typeface="Noto Sans SC"/>
                <a:ea typeface="Noto Sans SC"/>
                <a:cs typeface="Noto Sans SC"/>
                <a:sym typeface="Noto Sans SC"/>
              </a:rPr>
              <a:t>移动端监测系统，详情见</a:t>
            </a:r>
            <a:r>
              <a:rPr lang="en-US" altLang="zh-CN" sz="1600" b="0" i="0" u="none" strike="noStrike" dirty="0" err="1">
                <a:latin typeface="Noto Sans SC"/>
                <a:ea typeface="Noto Sans SC"/>
                <a:cs typeface="Noto Sans SC"/>
                <a:sym typeface="Noto Sans SC"/>
              </a:rPr>
              <a:t>github</a:t>
            </a:r>
            <a:r>
              <a:rPr lang="zh-CN" altLang="en-US" sz="1600" b="0" i="0" u="none" strike="noStrike" dirty="0">
                <a:latin typeface="Noto Sans SC"/>
                <a:ea typeface="Noto Sans SC"/>
                <a:cs typeface="Noto Sans SC"/>
                <a:sym typeface="Noto Sans SC"/>
              </a:rPr>
              <a:t>：</a:t>
            </a:r>
            <a:r>
              <a:rPr lang="en-US" altLang="zh-CN" sz="1600" b="0" i="0" u="none" strike="noStrike" dirty="0">
                <a:latin typeface="Noto Sans SC"/>
                <a:ea typeface="Noto Sans SC"/>
                <a:cs typeface="Noto Sans SC"/>
                <a:sym typeface="Noto Sans SC"/>
              </a:rPr>
              <a:t>https://github.com/lin612320</a:t>
            </a:r>
            <a:endParaRPr lang="en-US" sz="1200" dirty="0"/>
          </a:p>
        </p:txBody>
      </p:sp>
      <p:sp>
        <p:nvSpPr>
          <p:cNvPr id="50" name="AutoShape 5">
            <a:extLst>
              <a:ext uri="{FF2B5EF4-FFF2-40B4-BE49-F238E27FC236}">
                <a16:creationId xmlns:a16="http://schemas.microsoft.com/office/drawing/2014/main" id="{DAC2A505-48B8-F6B7-AA3B-67AFCCBD978F}"/>
              </a:ext>
            </a:extLst>
          </p:cNvPr>
          <p:cNvSpPr/>
          <p:nvPr/>
        </p:nvSpPr>
        <p:spPr>
          <a:xfrm>
            <a:off x="725296" y="1155751"/>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dirty="0">
                <a:solidFill>
                  <a:srgbClr val="C00000"/>
                </a:solidFill>
                <a:latin typeface="Noto Sans SC"/>
                <a:ea typeface="Noto Sans SC"/>
                <a:sym typeface="Noto Sans SC"/>
              </a:rPr>
              <a:t>学生团队</a:t>
            </a:r>
            <a:r>
              <a:rPr lang="en-US" altLang="zh-CN" sz="2400" b="1" dirty="0">
                <a:solidFill>
                  <a:srgbClr val="C00000"/>
                </a:solidFill>
                <a:latin typeface="Noto Sans SC"/>
                <a:ea typeface="Noto Sans SC"/>
                <a:sym typeface="Noto Sans SC"/>
              </a:rPr>
              <a:t>·</a:t>
            </a:r>
            <a:r>
              <a:rPr lang="zh-CN" altLang="en-US" sz="2400" b="1" dirty="0">
                <a:solidFill>
                  <a:srgbClr val="C00000"/>
                </a:solidFill>
                <a:latin typeface="Noto Sans SC"/>
                <a:ea typeface="Noto Sans SC"/>
                <a:sym typeface="Noto Sans SC"/>
              </a:rPr>
              <a:t>高校资源</a:t>
            </a:r>
            <a:endParaRPr lang="en-US" sz="1200" dirty="0">
              <a:solidFill>
                <a:srgbClr val="C00000"/>
              </a:solidFill>
            </a:endParaRPr>
          </a:p>
        </p:txBody>
      </p:sp>
      <p:sp>
        <p:nvSpPr>
          <p:cNvPr id="54" name="AutoShape 8">
            <a:extLst>
              <a:ext uri="{FF2B5EF4-FFF2-40B4-BE49-F238E27FC236}">
                <a16:creationId xmlns:a16="http://schemas.microsoft.com/office/drawing/2014/main" id="{BD13D698-AC42-527A-19A5-3ECF5858366B}"/>
              </a:ext>
            </a:extLst>
          </p:cNvPr>
          <p:cNvSpPr/>
          <p:nvPr/>
        </p:nvSpPr>
        <p:spPr>
          <a:xfrm>
            <a:off x="750695" y="1698187"/>
            <a:ext cx="6365721" cy="189771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dirty="0">
                <a:latin typeface="Noto Sans SC"/>
                <a:ea typeface="Noto Sans SC"/>
                <a:cs typeface="Noto Sans SC"/>
                <a:sym typeface="Noto Sans SC"/>
              </a:rPr>
              <a:t>专业知识</a:t>
            </a:r>
            <a:br>
              <a:rPr lang="en-US" b="0" i="0" u="none" strike="noStrike" dirty="0">
                <a:latin typeface="Noto Sans SC"/>
                <a:ea typeface="Noto Sans SC"/>
                <a:cs typeface="Noto Sans SC"/>
                <a:sym typeface="Noto Sans SC"/>
              </a:rPr>
            </a:br>
            <a:r>
              <a:rPr lang="zh-CN" altLang="en-US" sz="1600" dirty="0">
                <a:latin typeface="Noto Sans SC"/>
                <a:ea typeface="Noto Sans SC"/>
                <a:cs typeface="Noto Sans SC"/>
                <a:sym typeface="Noto Sans SC"/>
              </a:rPr>
              <a:t>团队成员包含两名西南政法大学本科生，一名中国海洋大学本科生，一名海南大学本科生，专业排名前列，有开发、实习经验。</a:t>
            </a:r>
            <a:endParaRPr lang="en-US" altLang="zh-CN" b="0" i="0" u="none" strike="noStrike" dirty="0">
              <a:latin typeface="Noto Sans SC"/>
              <a:ea typeface="Noto Sans SC"/>
              <a:cs typeface="Noto Sans SC"/>
              <a:sym typeface="Noto Sans SC"/>
            </a:endParaRPr>
          </a:p>
          <a:p>
            <a:pPr marL="0" indent="0" algn="l">
              <a:lnSpc>
                <a:spcPct val="125000"/>
              </a:lnSpc>
              <a:defRPr/>
            </a:pPr>
            <a:r>
              <a:rPr lang="zh-CN" altLang="en-US" b="1" dirty="0">
                <a:latin typeface="Noto Sans SC"/>
                <a:ea typeface="Noto Sans SC"/>
                <a:cs typeface="Noto Sans SC"/>
                <a:sym typeface="Noto Sans SC"/>
              </a:rPr>
              <a:t>面向学生</a:t>
            </a:r>
            <a:br>
              <a:rPr lang="en-US" b="0" i="0" u="none" strike="noStrike" dirty="0">
                <a:latin typeface="Noto Sans SC"/>
                <a:ea typeface="Noto Sans SC"/>
                <a:cs typeface="Noto Sans SC"/>
                <a:sym typeface="Noto Sans SC"/>
              </a:rPr>
            </a:br>
            <a:r>
              <a:rPr lang="zh-CN" altLang="en-US" sz="1600" dirty="0">
                <a:latin typeface="Noto Sans SC"/>
                <a:ea typeface="Noto Sans SC"/>
                <a:cs typeface="Noto Sans SC"/>
                <a:sym typeface="Noto Sans SC"/>
              </a:rPr>
              <a:t>团队成员分布各地高校、企业，能够细致观察用户需求，产出优质产品。</a:t>
            </a:r>
            <a:endParaRPr lang="en-US" sz="1200" dirty="0"/>
          </a:p>
        </p:txBody>
      </p:sp>
      <p:pic>
        <p:nvPicPr>
          <p:cNvPr id="56" name="图片 55">
            <a:extLst>
              <a:ext uri="{FF2B5EF4-FFF2-40B4-BE49-F238E27FC236}">
                <a16:creationId xmlns:a16="http://schemas.microsoft.com/office/drawing/2014/main" id="{8A4A4458-08C1-B1E4-2722-224D9BFFAFBC}"/>
              </a:ext>
            </a:extLst>
          </p:cNvPr>
          <p:cNvPicPr>
            <a:picLocks noChangeAspect="1"/>
          </p:cNvPicPr>
          <p:nvPr/>
        </p:nvPicPr>
        <p:blipFill>
          <a:blip r:embed="rId2">
            <a:extLst>
              <a:ext uri="{28A0092B-C50C-407E-A947-70E740481C1C}">
                <a14:useLocalDpi xmlns:a14="http://schemas.microsoft.com/office/drawing/2010/main" val="0"/>
              </a:ext>
            </a:extLst>
          </a:blip>
          <a:srcRect l="6724" t="4896" r="54348" b="57397"/>
          <a:stretch>
            <a:fillRect/>
          </a:stretch>
        </p:blipFill>
        <p:spPr>
          <a:xfrm>
            <a:off x="8542960" y="1459688"/>
            <a:ext cx="2285143" cy="2213350"/>
          </a:xfrm>
          <a:prstGeom prst="rect">
            <a:avLst/>
          </a:prstGeom>
        </p:spPr>
      </p:pic>
      <p:pic>
        <p:nvPicPr>
          <p:cNvPr id="58" name="图片 57">
            <a:extLst>
              <a:ext uri="{FF2B5EF4-FFF2-40B4-BE49-F238E27FC236}">
                <a16:creationId xmlns:a16="http://schemas.microsoft.com/office/drawing/2014/main" id="{E5FE64B4-BD0C-5659-D6AA-A426F2924894}"/>
              </a:ext>
            </a:extLst>
          </p:cNvPr>
          <p:cNvPicPr>
            <a:picLocks noChangeAspect="1"/>
          </p:cNvPicPr>
          <p:nvPr/>
        </p:nvPicPr>
        <p:blipFill>
          <a:blip r:embed="rId3">
            <a:extLst>
              <a:ext uri="{28A0092B-C50C-407E-A947-70E740481C1C}">
                <a14:useLocalDpi xmlns:a14="http://schemas.microsoft.com/office/drawing/2010/main" val="0"/>
              </a:ext>
            </a:extLst>
          </a:blip>
          <a:srcRect l="8502" t="57195" r="23526" b="22300"/>
          <a:stretch>
            <a:fillRect/>
          </a:stretch>
        </p:blipFill>
        <p:spPr>
          <a:xfrm>
            <a:off x="8191070" y="3329673"/>
            <a:ext cx="2965844" cy="894706"/>
          </a:xfrm>
          <a:prstGeom prst="rect">
            <a:avLst/>
          </a:prstGeom>
        </p:spPr>
      </p:pic>
      <p:pic>
        <p:nvPicPr>
          <p:cNvPr id="62" name="图片 61">
            <a:extLst>
              <a:ext uri="{FF2B5EF4-FFF2-40B4-BE49-F238E27FC236}">
                <a16:creationId xmlns:a16="http://schemas.microsoft.com/office/drawing/2014/main" id="{16A68DFF-DFB5-BE50-DD7A-A072851392B1}"/>
              </a:ext>
            </a:extLst>
          </p:cNvPr>
          <p:cNvPicPr>
            <a:picLocks noChangeAspect="1"/>
          </p:cNvPicPr>
          <p:nvPr/>
        </p:nvPicPr>
        <p:blipFill>
          <a:blip r:embed="rId4"/>
          <a:stretch>
            <a:fillRect/>
          </a:stretch>
        </p:blipFill>
        <p:spPr>
          <a:xfrm flipH="1">
            <a:off x="4024519" y="5650647"/>
            <a:ext cx="6253648" cy="1350148"/>
          </a:xfrm>
          <a:prstGeom prst="rect">
            <a:avLst/>
          </a:prstGeom>
        </p:spPr>
      </p:pic>
      <p:pic>
        <p:nvPicPr>
          <p:cNvPr id="23" name="图片 22">
            <a:extLst>
              <a:ext uri="{FF2B5EF4-FFF2-40B4-BE49-F238E27FC236}">
                <a16:creationId xmlns:a16="http://schemas.microsoft.com/office/drawing/2014/main" id="{FB553270-32DB-A938-7DF2-32D7BCFCE3DD}"/>
              </a:ext>
            </a:extLst>
          </p:cNvPr>
          <p:cNvPicPr>
            <a:picLocks noChangeAspect="1"/>
          </p:cNvPicPr>
          <p:nvPr/>
        </p:nvPicPr>
        <p:blipFill>
          <a:blip r:embed="rId5"/>
          <a:stretch>
            <a:fillRect/>
          </a:stretch>
        </p:blipFill>
        <p:spPr>
          <a:xfrm>
            <a:off x="6477000" y="4652150"/>
            <a:ext cx="5819508" cy="2424616"/>
          </a:xfrm>
          <a:prstGeom prst="rect">
            <a:avLst/>
          </a:prstGeom>
        </p:spPr>
      </p:pic>
    </p:spTree>
    <p:extLst>
      <p:ext uri="{BB962C8B-B14F-4D97-AF65-F5344CB8AC3E}">
        <p14:creationId xmlns:p14="http://schemas.microsoft.com/office/powerpoint/2010/main" val="131156833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2A02BF2-B5FA-40E0-B0AE-07D2BBBB75E6}"/>
              </a:ext>
            </a:extLst>
          </p:cNvPr>
          <p:cNvSpPr/>
          <p:nvPr/>
        </p:nvSpPr>
        <p:spPr>
          <a:xfrm>
            <a:off x="0" y="0"/>
            <a:ext cx="12192000"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2BF98602-F2CA-458E-BD30-EAD46A261B44}"/>
              </a:ext>
            </a:extLst>
          </p:cNvPr>
          <p:cNvPicPr>
            <a:picLocks noChangeAspect="1"/>
          </p:cNvPicPr>
          <p:nvPr/>
        </p:nvPicPr>
        <p:blipFill>
          <a:blip r:embed="rId2"/>
          <a:stretch>
            <a:fillRect/>
          </a:stretch>
        </p:blipFill>
        <p:spPr>
          <a:xfrm>
            <a:off x="-3290" y="-1"/>
            <a:ext cx="5090196" cy="5992427"/>
          </a:xfrm>
          <a:prstGeom prst="rect">
            <a:avLst/>
          </a:prstGeom>
        </p:spPr>
      </p:pic>
      <p:pic>
        <p:nvPicPr>
          <p:cNvPr id="10" name="图片 9">
            <a:extLst>
              <a:ext uri="{FF2B5EF4-FFF2-40B4-BE49-F238E27FC236}">
                <a16:creationId xmlns:a16="http://schemas.microsoft.com/office/drawing/2014/main" id="{74CAF214-996F-4710-8AC1-C0081DBFBC72}"/>
              </a:ext>
            </a:extLst>
          </p:cNvPr>
          <p:cNvPicPr>
            <a:picLocks noChangeAspect="1"/>
          </p:cNvPicPr>
          <p:nvPr/>
        </p:nvPicPr>
        <p:blipFill>
          <a:blip r:embed="rId3"/>
          <a:stretch>
            <a:fillRect/>
          </a:stretch>
        </p:blipFill>
        <p:spPr>
          <a:xfrm>
            <a:off x="983229" y="3012637"/>
            <a:ext cx="2860802" cy="3845363"/>
          </a:xfrm>
          <a:prstGeom prst="rect">
            <a:avLst/>
          </a:prstGeom>
        </p:spPr>
      </p:pic>
      <p:pic>
        <p:nvPicPr>
          <p:cNvPr id="12" name="图片 11">
            <a:extLst>
              <a:ext uri="{FF2B5EF4-FFF2-40B4-BE49-F238E27FC236}">
                <a16:creationId xmlns:a16="http://schemas.microsoft.com/office/drawing/2014/main" id="{E875A63C-B805-4410-B53C-388D4060ED02}"/>
              </a:ext>
            </a:extLst>
          </p:cNvPr>
          <p:cNvPicPr>
            <a:picLocks noChangeAspect="1"/>
          </p:cNvPicPr>
          <p:nvPr/>
        </p:nvPicPr>
        <p:blipFill>
          <a:blip r:embed="rId4"/>
          <a:stretch>
            <a:fillRect/>
          </a:stretch>
        </p:blipFill>
        <p:spPr>
          <a:xfrm>
            <a:off x="3574697" y="8878"/>
            <a:ext cx="8643938" cy="6858000"/>
          </a:xfrm>
          <a:prstGeom prst="rect">
            <a:avLst/>
          </a:prstGeom>
        </p:spPr>
      </p:pic>
      <p:pic>
        <p:nvPicPr>
          <p:cNvPr id="14" name="图片 13">
            <a:extLst>
              <a:ext uri="{FF2B5EF4-FFF2-40B4-BE49-F238E27FC236}">
                <a16:creationId xmlns:a16="http://schemas.microsoft.com/office/drawing/2014/main" id="{E970FD8E-997F-4078-B496-AB5ED2040D74}"/>
              </a:ext>
            </a:extLst>
          </p:cNvPr>
          <p:cNvPicPr>
            <a:picLocks noChangeAspect="1"/>
          </p:cNvPicPr>
          <p:nvPr/>
        </p:nvPicPr>
        <p:blipFill>
          <a:blip r:embed="rId5"/>
          <a:stretch>
            <a:fillRect/>
          </a:stretch>
        </p:blipFill>
        <p:spPr>
          <a:xfrm>
            <a:off x="6312171" y="3977278"/>
            <a:ext cx="5879829" cy="2880722"/>
          </a:xfrm>
          <a:prstGeom prst="rect">
            <a:avLst/>
          </a:prstGeom>
        </p:spPr>
      </p:pic>
      <p:sp>
        <p:nvSpPr>
          <p:cNvPr id="21" name="文本框 20">
            <a:extLst>
              <a:ext uri="{FF2B5EF4-FFF2-40B4-BE49-F238E27FC236}">
                <a16:creationId xmlns:a16="http://schemas.microsoft.com/office/drawing/2014/main" id="{78B3B4A4-6790-4833-9084-D587C6DBA10D}"/>
              </a:ext>
            </a:extLst>
          </p:cNvPr>
          <p:cNvSpPr txBox="1"/>
          <p:nvPr/>
        </p:nvSpPr>
        <p:spPr>
          <a:xfrm>
            <a:off x="1114191" y="3963242"/>
            <a:ext cx="8259463" cy="732188"/>
          </a:xfrm>
          <a:prstGeom prst="rect">
            <a:avLst/>
          </a:prstGeom>
          <a:noFill/>
        </p:spPr>
        <p:txBody>
          <a:bodyPr wrap="square" rtlCol="0">
            <a:spAutoFit/>
          </a:bodyPr>
          <a:lstStyle/>
          <a:p>
            <a:pPr>
              <a:lnSpc>
                <a:spcPct val="125000"/>
              </a:lnSpc>
              <a:defRPr/>
            </a:pPr>
            <a:r>
              <a:rPr lang="en-US" altLang="zh-CN" sz="3600" b="1" dirty="0">
                <a:solidFill>
                  <a:srgbClr val="C00000"/>
                </a:solidFill>
                <a:latin typeface="Noto Sans SC"/>
                <a:ea typeface="Noto Sans SC"/>
                <a:cs typeface="Noto Sans SC"/>
                <a:sym typeface="Noto Sans SC"/>
              </a:rPr>
              <a:t>法元 · Faron</a:t>
            </a:r>
            <a:endParaRPr lang="en-US" altLang="zh-CN" sz="3600" dirty="0">
              <a:solidFill>
                <a:srgbClr val="C00000"/>
              </a:solidFill>
            </a:endParaRPr>
          </a:p>
        </p:txBody>
      </p:sp>
      <p:sp>
        <p:nvSpPr>
          <p:cNvPr id="22" name="文本框 21">
            <a:extLst>
              <a:ext uri="{FF2B5EF4-FFF2-40B4-BE49-F238E27FC236}">
                <a16:creationId xmlns:a16="http://schemas.microsoft.com/office/drawing/2014/main" id="{856856EB-7B41-4A66-9E07-26194938D153}"/>
              </a:ext>
            </a:extLst>
          </p:cNvPr>
          <p:cNvSpPr txBox="1"/>
          <p:nvPr/>
        </p:nvSpPr>
        <p:spPr>
          <a:xfrm>
            <a:off x="1114191" y="947410"/>
            <a:ext cx="9590252" cy="2741135"/>
          </a:xfrm>
          <a:prstGeom prst="rect">
            <a:avLst/>
          </a:prstGeom>
          <a:noFill/>
        </p:spPr>
        <p:txBody>
          <a:bodyPr wrap="square" rtlCol="0">
            <a:spAutoFit/>
          </a:bodyPr>
          <a:lstStyle/>
          <a:p>
            <a:pPr>
              <a:lnSpc>
                <a:spcPct val="108333"/>
              </a:lnSpc>
              <a:defRPr/>
            </a:pPr>
            <a:r>
              <a:rPr lang="en-US" altLang="zh-CN" sz="5400" b="1" dirty="0" err="1">
                <a:solidFill>
                  <a:srgbClr val="FFFFFF"/>
                </a:solidFill>
                <a:latin typeface="Noto Sans SC"/>
                <a:ea typeface="Noto Sans SC"/>
                <a:cs typeface="Noto Sans SC"/>
                <a:sym typeface="Noto Sans SC"/>
              </a:rPr>
              <a:t>让每一位法律工作者</a:t>
            </a:r>
            <a:r>
              <a:rPr lang="en-US" altLang="zh-CN" sz="5400" b="1" dirty="0">
                <a:solidFill>
                  <a:srgbClr val="FFFFFF"/>
                </a:solidFill>
                <a:latin typeface="Noto Sans SC"/>
                <a:ea typeface="Noto Sans SC"/>
                <a:cs typeface="Noto Sans SC"/>
                <a:sym typeface="Noto Sans SC"/>
              </a:rPr>
              <a:t>，</a:t>
            </a:r>
            <a:br>
              <a:rPr lang="en-US" altLang="zh-CN" sz="5400" b="1" dirty="0">
                <a:solidFill>
                  <a:srgbClr val="FFFFFF"/>
                </a:solidFill>
                <a:latin typeface="Noto Sans SC"/>
                <a:ea typeface="Noto Sans SC"/>
                <a:cs typeface="Noto Sans SC"/>
                <a:sym typeface="Noto Sans SC"/>
              </a:rPr>
            </a:br>
            <a:r>
              <a:rPr lang="en-US" altLang="zh-CN" sz="5400" b="1" dirty="0" err="1">
                <a:solidFill>
                  <a:srgbClr val="FFFFFF"/>
                </a:solidFill>
                <a:latin typeface="Noto Sans SC"/>
                <a:ea typeface="Noto Sans SC"/>
                <a:cs typeface="Noto Sans SC"/>
                <a:sym typeface="Noto Sans SC"/>
              </a:rPr>
              <a:t>都有一个可信、可溯源、数据不出本机的办案数字员工</a:t>
            </a:r>
            <a:r>
              <a:rPr lang="en-US" altLang="zh-CN" sz="5400" b="1" dirty="0">
                <a:solidFill>
                  <a:srgbClr val="FFFFFF"/>
                </a:solidFill>
                <a:latin typeface="Noto Sans SC"/>
                <a:ea typeface="Noto Sans SC"/>
                <a:cs typeface="Noto Sans SC"/>
                <a:sym typeface="Noto Sans SC"/>
              </a:rPr>
              <a:t>。</a:t>
            </a:r>
            <a:endParaRPr lang="en-US" altLang="zh-CN" sz="5400" b="1" dirty="0"/>
          </a:p>
        </p:txBody>
      </p:sp>
      <p:sp>
        <p:nvSpPr>
          <p:cNvPr id="23" name="文本框 22">
            <a:extLst>
              <a:ext uri="{FF2B5EF4-FFF2-40B4-BE49-F238E27FC236}">
                <a16:creationId xmlns:a16="http://schemas.microsoft.com/office/drawing/2014/main" id="{A3C1EA1B-A83A-484F-88AA-72CEB148B0B2}"/>
              </a:ext>
            </a:extLst>
          </p:cNvPr>
          <p:cNvSpPr txBox="1"/>
          <p:nvPr/>
        </p:nvSpPr>
        <p:spPr>
          <a:xfrm>
            <a:off x="1114191" y="5022930"/>
            <a:ext cx="6443172" cy="646331"/>
          </a:xfrm>
          <a:prstGeom prst="rect">
            <a:avLst/>
          </a:prstGeom>
          <a:noFill/>
        </p:spPr>
        <p:txBody>
          <a:bodyPr wrap="square" rtlCol="0">
            <a:spAutoFit/>
          </a:bodyPr>
          <a:lstStyle/>
          <a:p>
            <a:pPr algn="just"/>
            <a:r>
              <a:rPr lang="en-US" altLang="zh-CN" sz="3600" dirty="0">
                <a:solidFill>
                  <a:schemeClr val="bg1"/>
                </a:solidFill>
                <a:latin typeface="Source Han Sans CN Bold"/>
                <a:ea typeface="Source Han Sans CN Bold"/>
              </a:rPr>
              <a:t>THANK YOU FOR WATCHING</a:t>
            </a:r>
            <a:endParaRPr lang="zh-CN" altLang="en-US" sz="3600" dirty="0">
              <a:solidFill>
                <a:schemeClr val="bg1"/>
              </a:solidFill>
              <a:latin typeface="Source Han Sans CN Bold"/>
              <a:ea typeface="Source Han Sans CN Bold"/>
            </a:endParaRPr>
          </a:p>
        </p:txBody>
      </p:sp>
      <p:pic>
        <p:nvPicPr>
          <p:cNvPr id="3" name="图片 2">
            <a:extLst>
              <a:ext uri="{FF2B5EF4-FFF2-40B4-BE49-F238E27FC236}">
                <a16:creationId xmlns:a16="http://schemas.microsoft.com/office/drawing/2014/main" id="{0A64B6AA-BFAE-9928-EE6C-F987D022CA5A}"/>
              </a:ext>
            </a:extLst>
          </p:cNvPr>
          <p:cNvPicPr>
            <a:picLocks noChangeAspect="1"/>
          </p:cNvPicPr>
          <p:nvPr/>
        </p:nvPicPr>
        <p:blipFill>
          <a:blip r:embed="rId6">
            <a:extLst>
              <a:ext uri="{28A0092B-C50C-407E-A947-70E740481C1C}">
                <a14:useLocalDpi xmlns:a14="http://schemas.microsoft.com/office/drawing/2010/main" val="0"/>
              </a:ext>
            </a:extLst>
          </a:blip>
          <a:srcRect l="6724" t="4896" r="54348" b="57397"/>
          <a:stretch>
            <a:fillRect/>
          </a:stretch>
        </p:blipFill>
        <p:spPr>
          <a:xfrm>
            <a:off x="102451" y="138859"/>
            <a:ext cx="1123265" cy="1087975"/>
          </a:xfrm>
          <a:prstGeom prst="rect">
            <a:avLst/>
          </a:prstGeom>
        </p:spPr>
      </p:pic>
    </p:spTree>
    <p:extLst>
      <p:ext uri="{BB962C8B-B14F-4D97-AF65-F5344CB8AC3E}">
        <p14:creationId xmlns:p14="http://schemas.microsoft.com/office/powerpoint/2010/main" val="288165786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12"/>
  <p:tag name="AS_OS" val="Microsoft Windows NT 10.0.20348.0"/>
  <p:tag name="AS_RELEASE_DATE" val="2025.01.14"/>
  <p:tag name="AS_TITLE" val="Aspose.Slides for .NET6"/>
  <p:tag name="AS_VERSION" val="25.1"/>
  <p:tag name="OPCH-9A16C2F14C4E5E55EA6972A2D9E3F86814270B876CCBADE929327A68DE4C7416" val="[{&quot;GradientColorId&quot;:&quot;&quot;,&quot;IsFree&quot;:true,&quot;IsGradient&quot;:false,&quot;ImagePath&quot;:&quot;&quot;,&quot;GradientColor&quot;:null,&quot;SimpleColor&quot;:&quot;#C00000&quot;},{&quot;GradientColorId&quot;:&quot;&quot;,&quot;IsFree&quot;:true,&quot;IsGradient&quot;:false,&quot;ImagePath&quot;:&quot;&quot;,&quot;GradientColor&quot;:null,&quot;SimpleColor&quot;:&quot;#3B3838&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思源黑体 Light"/>
        <a:ea typeface="思源黑体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ngXian"/>
        <a:ea typeface="DengXian"/>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1650</TotalTime>
  <Words>2099</Words>
  <Application>Microsoft Office PowerPoint</Application>
  <PresentationFormat>宽屏</PresentationFormat>
  <Paragraphs>351</Paragraphs>
  <Slides>28</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28</vt:i4>
      </vt:variant>
    </vt:vector>
  </HeadingPairs>
  <TitlesOfParts>
    <vt:vector size="39" baseType="lpstr">
      <vt:lpstr>Arial</vt:lpstr>
      <vt:lpstr>思源黑体 CN ExtraLight</vt:lpstr>
      <vt:lpstr>等线</vt:lpstr>
      <vt:lpstr>思源黑体 CN Light</vt:lpstr>
      <vt:lpstr>华文细黑</vt:lpstr>
      <vt:lpstr>思源黑体 Light</vt:lpstr>
      <vt:lpstr>Noto Serif SC</vt:lpstr>
      <vt:lpstr>Noto Sans SC</vt:lpstr>
      <vt:lpstr>等线</vt:lpstr>
      <vt:lpstr>Source Han Sans CN 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15242159365 姜雪贞</dc:creator>
  <cp:lastModifiedBy>子航 林</cp:lastModifiedBy>
  <cp:revision>32</cp:revision>
  <dcterms:created xsi:type="dcterms:W3CDTF">2021-04-11T10:43:25Z</dcterms:created>
  <dcterms:modified xsi:type="dcterms:W3CDTF">2026-09-18T12:29:10Z</dcterms:modified>
</cp:coreProperties>
</file>